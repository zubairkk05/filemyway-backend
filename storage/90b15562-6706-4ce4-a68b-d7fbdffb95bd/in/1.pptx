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8" r:id="rId4"/>
    <p:sldId id="259" r:id="rId5"/>
    <p:sldId id="260" r:id="rId6"/>
    <p:sldId id="261" r:id="rId7"/>
    <p:sldId id="265" r:id="rId10"/>
    <p:sldId id="266" r:id="rId11"/>
    <p:sldId id="267" r:id="rId12"/>
    <p:sldId id="269" r:id="rId14"/>
    <p:sldId id="270" r:id="rId15"/>
    <p:sldId id="271" r:id="rId1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322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8" Type="http://schemas.openxmlformats.org/officeDocument/2006/relationships/presProps" Target="presProps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482B39-C2F4-4C07-89B7-1DB41F100615}" type="datetimeFigureOut">
              <a:rPr lang="en-US" smtClean="0"/>
              <a:t>03-Sep-26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F96982-0579-44E0-B6A4-BA1F33846F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342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96982-0579-44E0-B6A4-BA1F33846F4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217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123D33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1" i="0">
                <a:solidFill>
                  <a:srgbClr val="7B837D"/>
                </a:solidFill>
                <a:latin typeface="Roboto Bk"/>
                <a:cs typeface="Roboto Bk"/>
              </a:defRPr>
            </a:lvl1pPr>
          </a:lstStyle>
          <a:p>
            <a:pPr marL="12700">
              <a:lnSpc>
                <a:spcPts val="1789"/>
              </a:lnSpc>
            </a:pPr>
            <a:r>
              <a:rPr spc="-145" dirty="0"/>
              <a:t>FLUSAI</a:t>
            </a:r>
            <a:r>
              <a:rPr dirty="0"/>
              <a:t> </a:t>
            </a:r>
            <a:r>
              <a:rPr spc="-120" dirty="0"/>
              <a:t>·</a:t>
            </a:r>
            <a:r>
              <a:rPr spc="-5" dirty="0"/>
              <a:t> </a:t>
            </a:r>
            <a:r>
              <a:rPr spc="-120" dirty="0"/>
              <a:t>NIC</a:t>
            </a:r>
            <a:r>
              <a:rPr spc="-5" dirty="0"/>
              <a:t> </a:t>
            </a:r>
            <a:r>
              <a:rPr spc="-135" dirty="0"/>
              <a:t>KARACHI</a:t>
            </a:r>
            <a:r>
              <a:rPr spc="5" dirty="0"/>
              <a:t> </a:t>
            </a:r>
            <a:r>
              <a:rPr spc="-95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03-Sep-26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123D33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1" i="0">
                <a:solidFill>
                  <a:srgbClr val="7B837D"/>
                </a:solidFill>
                <a:latin typeface="Roboto Bk"/>
                <a:cs typeface="Roboto Bk"/>
              </a:defRPr>
            </a:lvl1pPr>
          </a:lstStyle>
          <a:p>
            <a:pPr marL="12700">
              <a:lnSpc>
                <a:spcPts val="1789"/>
              </a:lnSpc>
            </a:pPr>
            <a:r>
              <a:rPr spc="-145" dirty="0"/>
              <a:t>FLUSAI</a:t>
            </a:r>
            <a:r>
              <a:rPr dirty="0"/>
              <a:t> </a:t>
            </a:r>
            <a:r>
              <a:rPr spc="-120" dirty="0"/>
              <a:t>·</a:t>
            </a:r>
            <a:r>
              <a:rPr spc="-5" dirty="0"/>
              <a:t> </a:t>
            </a:r>
            <a:r>
              <a:rPr spc="-120" dirty="0"/>
              <a:t>NIC</a:t>
            </a:r>
            <a:r>
              <a:rPr spc="-5" dirty="0"/>
              <a:t> </a:t>
            </a:r>
            <a:r>
              <a:rPr spc="-135" dirty="0"/>
              <a:t>KARACHI</a:t>
            </a:r>
            <a:r>
              <a:rPr spc="5" dirty="0"/>
              <a:t> </a:t>
            </a:r>
            <a:r>
              <a:rPr spc="-95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03-Sep-26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123D33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1" i="0">
                <a:solidFill>
                  <a:srgbClr val="7B837D"/>
                </a:solidFill>
                <a:latin typeface="Roboto Bk"/>
                <a:cs typeface="Roboto Bk"/>
              </a:defRPr>
            </a:lvl1pPr>
          </a:lstStyle>
          <a:p>
            <a:pPr marL="12700">
              <a:lnSpc>
                <a:spcPts val="1789"/>
              </a:lnSpc>
            </a:pPr>
            <a:r>
              <a:rPr spc="-145" dirty="0"/>
              <a:t>FLUSAI</a:t>
            </a:r>
            <a:r>
              <a:rPr dirty="0"/>
              <a:t> </a:t>
            </a:r>
            <a:r>
              <a:rPr spc="-120" dirty="0"/>
              <a:t>·</a:t>
            </a:r>
            <a:r>
              <a:rPr spc="-5" dirty="0"/>
              <a:t> </a:t>
            </a:r>
            <a:r>
              <a:rPr spc="-120" dirty="0"/>
              <a:t>NIC</a:t>
            </a:r>
            <a:r>
              <a:rPr spc="-5" dirty="0"/>
              <a:t> </a:t>
            </a:r>
            <a:r>
              <a:rPr spc="-135" dirty="0"/>
              <a:t>KARACHI</a:t>
            </a:r>
            <a:r>
              <a:rPr spc="5" dirty="0"/>
              <a:t> </a:t>
            </a:r>
            <a:r>
              <a:rPr spc="-95" dirty="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03-Sep-26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9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10286999"/>
                </a:lnTo>
                <a:close/>
              </a:path>
            </a:pathLst>
          </a:custGeom>
          <a:solidFill>
            <a:srgbClr val="FC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4001750" y="0"/>
            <a:ext cx="4286250" cy="3905250"/>
          </a:xfrm>
          <a:custGeom>
            <a:avLst/>
            <a:gdLst/>
            <a:ahLst/>
            <a:cxnLst/>
            <a:rect l="l" t="t" r="r" b="b"/>
            <a:pathLst>
              <a:path w="4286250" h="3905250">
                <a:moveTo>
                  <a:pt x="3047999" y="3905249"/>
                </a:moveTo>
                <a:lnTo>
                  <a:pt x="2999530" y="3904872"/>
                </a:lnTo>
                <a:lnTo>
                  <a:pt x="2951243" y="3903743"/>
                </a:lnTo>
                <a:lnTo>
                  <a:pt x="2903144" y="3901868"/>
                </a:lnTo>
                <a:lnTo>
                  <a:pt x="2855239" y="3899253"/>
                </a:lnTo>
                <a:lnTo>
                  <a:pt x="2807533" y="3895903"/>
                </a:lnTo>
                <a:lnTo>
                  <a:pt x="2760031" y="3891824"/>
                </a:lnTo>
                <a:lnTo>
                  <a:pt x="2712740" y="3887022"/>
                </a:lnTo>
                <a:lnTo>
                  <a:pt x="2665665" y="3881501"/>
                </a:lnTo>
                <a:lnTo>
                  <a:pt x="2618811" y="3875268"/>
                </a:lnTo>
                <a:lnTo>
                  <a:pt x="2572184" y="3868329"/>
                </a:lnTo>
                <a:lnTo>
                  <a:pt x="2525790" y="3860688"/>
                </a:lnTo>
                <a:lnTo>
                  <a:pt x="2479634" y="3852351"/>
                </a:lnTo>
                <a:lnTo>
                  <a:pt x="2433721" y="3843325"/>
                </a:lnTo>
                <a:lnTo>
                  <a:pt x="2388058" y="3833614"/>
                </a:lnTo>
                <a:lnTo>
                  <a:pt x="2342650" y="3823224"/>
                </a:lnTo>
                <a:lnTo>
                  <a:pt x="2297502" y="3812161"/>
                </a:lnTo>
                <a:lnTo>
                  <a:pt x="2252621" y="3800430"/>
                </a:lnTo>
                <a:lnTo>
                  <a:pt x="2208011" y="3788037"/>
                </a:lnTo>
                <a:lnTo>
                  <a:pt x="2163678" y="3774987"/>
                </a:lnTo>
                <a:lnTo>
                  <a:pt x="2119628" y="3761286"/>
                </a:lnTo>
                <a:lnTo>
                  <a:pt x="2075867" y="3746940"/>
                </a:lnTo>
                <a:lnTo>
                  <a:pt x="2032399" y="3731954"/>
                </a:lnTo>
                <a:lnTo>
                  <a:pt x="1989231" y="3716333"/>
                </a:lnTo>
                <a:lnTo>
                  <a:pt x="1946368" y="3700084"/>
                </a:lnTo>
                <a:lnTo>
                  <a:pt x="1903816" y="3683212"/>
                </a:lnTo>
                <a:lnTo>
                  <a:pt x="1861580" y="3665723"/>
                </a:lnTo>
                <a:lnTo>
                  <a:pt x="1819666" y="3647621"/>
                </a:lnTo>
                <a:lnTo>
                  <a:pt x="1778080" y="3628913"/>
                </a:lnTo>
                <a:lnTo>
                  <a:pt x="1736826" y="3609604"/>
                </a:lnTo>
                <a:lnTo>
                  <a:pt x="1695911" y="3589700"/>
                </a:lnTo>
                <a:lnTo>
                  <a:pt x="1655340" y="3569206"/>
                </a:lnTo>
                <a:lnTo>
                  <a:pt x="1615119" y="3548128"/>
                </a:lnTo>
                <a:lnTo>
                  <a:pt x="1575254" y="3526472"/>
                </a:lnTo>
                <a:lnTo>
                  <a:pt x="1535749" y="3504243"/>
                </a:lnTo>
                <a:lnTo>
                  <a:pt x="1496610" y="3481447"/>
                </a:lnTo>
                <a:lnTo>
                  <a:pt x="1457844" y="3458088"/>
                </a:lnTo>
                <a:lnTo>
                  <a:pt x="1419456" y="3434174"/>
                </a:lnTo>
                <a:lnTo>
                  <a:pt x="1381450" y="3409709"/>
                </a:lnTo>
                <a:lnTo>
                  <a:pt x="1343834" y="3384699"/>
                </a:lnTo>
                <a:lnTo>
                  <a:pt x="1306611" y="3359149"/>
                </a:lnTo>
                <a:lnTo>
                  <a:pt x="1269789" y="3333066"/>
                </a:lnTo>
                <a:lnTo>
                  <a:pt x="1233373" y="3306455"/>
                </a:lnTo>
                <a:lnTo>
                  <a:pt x="1197367" y="3279320"/>
                </a:lnTo>
                <a:lnTo>
                  <a:pt x="1161778" y="3251669"/>
                </a:lnTo>
                <a:lnTo>
                  <a:pt x="1126612" y="3223506"/>
                </a:lnTo>
                <a:lnTo>
                  <a:pt x="1091873" y="3194837"/>
                </a:lnTo>
                <a:lnTo>
                  <a:pt x="1057568" y="3165668"/>
                </a:lnTo>
                <a:lnTo>
                  <a:pt x="1023701" y="3136004"/>
                </a:lnTo>
                <a:lnTo>
                  <a:pt x="990280" y="3105850"/>
                </a:lnTo>
                <a:lnTo>
                  <a:pt x="957308" y="3075213"/>
                </a:lnTo>
                <a:lnTo>
                  <a:pt x="924792" y="3044098"/>
                </a:lnTo>
                <a:lnTo>
                  <a:pt x="892738" y="3012511"/>
                </a:lnTo>
                <a:lnTo>
                  <a:pt x="861150" y="2980456"/>
                </a:lnTo>
                <a:lnTo>
                  <a:pt x="830035" y="2947941"/>
                </a:lnTo>
                <a:lnTo>
                  <a:pt x="799399" y="2914969"/>
                </a:lnTo>
                <a:lnTo>
                  <a:pt x="769245" y="2881548"/>
                </a:lnTo>
                <a:lnTo>
                  <a:pt x="739581" y="2847681"/>
                </a:lnTo>
                <a:lnTo>
                  <a:pt x="710412" y="2813376"/>
                </a:lnTo>
                <a:lnTo>
                  <a:pt x="681743" y="2778637"/>
                </a:lnTo>
                <a:lnTo>
                  <a:pt x="653580" y="2743471"/>
                </a:lnTo>
                <a:lnTo>
                  <a:pt x="625929" y="2707882"/>
                </a:lnTo>
                <a:lnTo>
                  <a:pt x="598794" y="2671876"/>
                </a:lnTo>
                <a:lnTo>
                  <a:pt x="572183" y="2635460"/>
                </a:lnTo>
                <a:lnTo>
                  <a:pt x="546099" y="2598637"/>
                </a:lnTo>
                <a:lnTo>
                  <a:pt x="520550" y="2561415"/>
                </a:lnTo>
                <a:lnTo>
                  <a:pt x="495540" y="2523799"/>
                </a:lnTo>
                <a:lnTo>
                  <a:pt x="471075" y="2485793"/>
                </a:lnTo>
                <a:lnTo>
                  <a:pt x="447161" y="2447405"/>
                </a:lnTo>
                <a:lnTo>
                  <a:pt x="423802" y="2408638"/>
                </a:lnTo>
                <a:lnTo>
                  <a:pt x="401006" y="2369500"/>
                </a:lnTo>
                <a:lnTo>
                  <a:pt x="378777" y="2329995"/>
                </a:lnTo>
                <a:lnTo>
                  <a:pt x="357120" y="2290130"/>
                </a:lnTo>
                <a:lnTo>
                  <a:pt x="336043" y="2249909"/>
                </a:lnTo>
                <a:lnTo>
                  <a:pt x="315549" y="2209338"/>
                </a:lnTo>
                <a:lnTo>
                  <a:pt x="295645" y="2168423"/>
                </a:lnTo>
                <a:lnTo>
                  <a:pt x="276336" y="2127169"/>
                </a:lnTo>
                <a:lnTo>
                  <a:pt x="257628" y="2085583"/>
                </a:lnTo>
                <a:lnTo>
                  <a:pt x="239526" y="2043669"/>
                </a:lnTo>
                <a:lnTo>
                  <a:pt x="222037" y="2001433"/>
                </a:lnTo>
                <a:lnTo>
                  <a:pt x="205165" y="1958881"/>
                </a:lnTo>
                <a:lnTo>
                  <a:pt x="188916" y="1916018"/>
                </a:lnTo>
                <a:lnTo>
                  <a:pt x="173295" y="1872850"/>
                </a:lnTo>
                <a:lnTo>
                  <a:pt x="158309" y="1829382"/>
                </a:lnTo>
                <a:lnTo>
                  <a:pt x="143963" y="1785621"/>
                </a:lnTo>
                <a:lnTo>
                  <a:pt x="130262" y="1741571"/>
                </a:lnTo>
                <a:lnTo>
                  <a:pt x="117212" y="1697238"/>
                </a:lnTo>
                <a:lnTo>
                  <a:pt x="104819" y="1652628"/>
                </a:lnTo>
                <a:lnTo>
                  <a:pt x="93088" y="1607747"/>
                </a:lnTo>
                <a:lnTo>
                  <a:pt x="82025" y="1562599"/>
                </a:lnTo>
                <a:lnTo>
                  <a:pt x="71635" y="1517191"/>
                </a:lnTo>
                <a:lnTo>
                  <a:pt x="61924" y="1471528"/>
                </a:lnTo>
                <a:lnTo>
                  <a:pt x="52897" y="1425615"/>
                </a:lnTo>
                <a:lnTo>
                  <a:pt x="44561" y="1379459"/>
                </a:lnTo>
                <a:lnTo>
                  <a:pt x="36920" y="1333065"/>
                </a:lnTo>
                <a:lnTo>
                  <a:pt x="29981" y="1286438"/>
                </a:lnTo>
                <a:lnTo>
                  <a:pt x="23748" y="1239584"/>
                </a:lnTo>
                <a:lnTo>
                  <a:pt x="18227" y="1192509"/>
                </a:lnTo>
                <a:lnTo>
                  <a:pt x="13425" y="1145218"/>
                </a:lnTo>
                <a:lnTo>
                  <a:pt x="9346" y="1097716"/>
                </a:lnTo>
                <a:lnTo>
                  <a:pt x="5996" y="1050010"/>
                </a:lnTo>
                <a:lnTo>
                  <a:pt x="3381" y="1002104"/>
                </a:lnTo>
                <a:lnTo>
                  <a:pt x="1506" y="954006"/>
                </a:lnTo>
                <a:lnTo>
                  <a:pt x="377" y="905719"/>
                </a:lnTo>
                <a:lnTo>
                  <a:pt x="0" y="857249"/>
                </a:lnTo>
                <a:lnTo>
                  <a:pt x="377" y="808780"/>
                </a:lnTo>
                <a:lnTo>
                  <a:pt x="1506" y="760493"/>
                </a:lnTo>
                <a:lnTo>
                  <a:pt x="3381" y="712395"/>
                </a:lnTo>
                <a:lnTo>
                  <a:pt x="5996" y="664489"/>
                </a:lnTo>
                <a:lnTo>
                  <a:pt x="9346" y="616783"/>
                </a:lnTo>
                <a:lnTo>
                  <a:pt x="13425" y="569281"/>
                </a:lnTo>
                <a:lnTo>
                  <a:pt x="18227" y="521990"/>
                </a:lnTo>
                <a:lnTo>
                  <a:pt x="23748" y="474915"/>
                </a:lnTo>
                <a:lnTo>
                  <a:pt x="29981" y="428061"/>
                </a:lnTo>
                <a:lnTo>
                  <a:pt x="36920" y="381434"/>
                </a:lnTo>
                <a:lnTo>
                  <a:pt x="44561" y="335040"/>
                </a:lnTo>
                <a:lnTo>
                  <a:pt x="52897" y="288884"/>
                </a:lnTo>
                <a:lnTo>
                  <a:pt x="61924" y="242971"/>
                </a:lnTo>
                <a:lnTo>
                  <a:pt x="71635" y="197308"/>
                </a:lnTo>
                <a:lnTo>
                  <a:pt x="82025" y="151900"/>
                </a:lnTo>
                <a:lnTo>
                  <a:pt x="93088" y="106752"/>
                </a:lnTo>
                <a:lnTo>
                  <a:pt x="104819" y="61871"/>
                </a:lnTo>
                <a:lnTo>
                  <a:pt x="117212" y="17261"/>
                </a:lnTo>
                <a:lnTo>
                  <a:pt x="122293" y="0"/>
                </a:lnTo>
                <a:lnTo>
                  <a:pt x="4286250" y="0"/>
                </a:lnTo>
                <a:lnTo>
                  <a:pt x="4286250" y="3643160"/>
                </a:lnTo>
                <a:lnTo>
                  <a:pt x="4276333" y="3647621"/>
                </a:lnTo>
                <a:lnTo>
                  <a:pt x="4234419" y="3665723"/>
                </a:lnTo>
                <a:lnTo>
                  <a:pt x="4192183" y="3683212"/>
                </a:lnTo>
                <a:lnTo>
                  <a:pt x="4149631" y="3700084"/>
                </a:lnTo>
                <a:lnTo>
                  <a:pt x="4106768" y="3716333"/>
                </a:lnTo>
                <a:lnTo>
                  <a:pt x="4063600" y="3731954"/>
                </a:lnTo>
                <a:lnTo>
                  <a:pt x="4020132" y="3746940"/>
                </a:lnTo>
                <a:lnTo>
                  <a:pt x="3976371" y="3761286"/>
                </a:lnTo>
                <a:lnTo>
                  <a:pt x="3932321" y="3774987"/>
                </a:lnTo>
                <a:lnTo>
                  <a:pt x="3887988" y="3788037"/>
                </a:lnTo>
                <a:lnTo>
                  <a:pt x="3843378" y="3800430"/>
                </a:lnTo>
                <a:lnTo>
                  <a:pt x="3798497" y="3812161"/>
                </a:lnTo>
                <a:lnTo>
                  <a:pt x="3753349" y="3823224"/>
                </a:lnTo>
                <a:lnTo>
                  <a:pt x="3707941" y="3833614"/>
                </a:lnTo>
                <a:lnTo>
                  <a:pt x="3662278" y="3843325"/>
                </a:lnTo>
                <a:lnTo>
                  <a:pt x="3616365" y="3852351"/>
                </a:lnTo>
                <a:lnTo>
                  <a:pt x="3570209" y="3860688"/>
                </a:lnTo>
                <a:lnTo>
                  <a:pt x="3523815" y="3868329"/>
                </a:lnTo>
                <a:lnTo>
                  <a:pt x="3477188" y="3875268"/>
                </a:lnTo>
                <a:lnTo>
                  <a:pt x="3430334" y="3881501"/>
                </a:lnTo>
                <a:lnTo>
                  <a:pt x="3383259" y="3887022"/>
                </a:lnTo>
                <a:lnTo>
                  <a:pt x="3335968" y="3891824"/>
                </a:lnTo>
                <a:lnTo>
                  <a:pt x="3288466" y="3895903"/>
                </a:lnTo>
                <a:lnTo>
                  <a:pt x="3240760" y="3899253"/>
                </a:lnTo>
                <a:lnTo>
                  <a:pt x="3192854" y="3901868"/>
                </a:lnTo>
                <a:lnTo>
                  <a:pt x="3144756" y="3903743"/>
                </a:lnTo>
                <a:lnTo>
                  <a:pt x="3096469" y="3904872"/>
                </a:lnTo>
                <a:lnTo>
                  <a:pt x="3047999" y="3905249"/>
                </a:lnTo>
                <a:close/>
              </a:path>
            </a:pathLst>
          </a:custGeom>
          <a:solidFill>
            <a:srgbClr val="188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5527883" y="8286750"/>
            <a:ext cx="2760345" cy="2000250"/>
          </a:xfrm>
          <a:custGeom>
            <a:avLst/>
            <a:gdLst/>
            <a:ahLst/>
            <a:cxnLst/>
            <a:rect l="l" t="t" r="r" b="b"/>
            <a:pathLst>
              <a:path w="2760344" h="2000250">
                <a:moveTo>
                  <a:pt x="2760116" y="2000250"/>
                </a:moveTo>
                <a:lnTo>
                  <a:pt x="0" y="2000250"/>
                </a:lnTo>
                <a:lnTo>
                  <a:pt x="22" y="1999579"/>
                </a:lnTo>
                <a:lnTo>
                  <a:pt x="2700" y="1952029"/>
                </a:lnTo>
                <a:lnTo>
                  <a:pt x="6429" y="1904766"/>
                </a:lnTo>
                <a:lnTo>
                  <a:pt x="11198" y="1857804"/>
                </a:lnTo>
                <a:lnTo>
                  <a:pt x="16995" y="1811153"/>
                </a:lnTo>
                <a:lnTo>
                  <a:pt x="23809" y="1764824"/>
                </a:lnTo>
                <a:lnTo>
                  <a:pt x="31627" y="1718831"/>
                </a:lnTo>
                <a:lnTo>
                  <a:pt x="40439" y="1673183"/>
                </a:lnTo>
                <a:lnTo>
                  <a:pt x="50233" y="1627893"/>
                </a:lnTo>
                <a:lnTo>
                  <a:pt x="60996" y="1582973"/>
                </a:lnTo>
                <a:lnTo>
                  <a:pt x="72719" y="1538433"/>
                </a:lnTo>
                <a:lnTo>
                  <a:pt x="85389" y="1494285"/>
                </a:lnTo>
                <a:lnTo>
                  <a:pt x="98994" y="1450541"/>
                </a:lnTo>
                <a:lnTo>
                  <a:pt x="113524" y="1407213"/>
                </a:lnTo>
                <a:lnTo>
                  <a:pt x="128966" y="1364312"/>
                </a:lnTo>
                <a:lnTo>
                  <a:pt x="145308" y="1321849"/>
                </a:lnTo>
                <a:lnTo>
                  <a:pt x="162541" y="1279836"/>
                </a:lnTo>
                <a:lnTo>
                  <a:pt x="180651" y="1238285"/>
                </a:lnTo>
                <a:lnTo>
                  <a:pt x="199627" y="1197208"/>
                </a:lnTo>
                <a:lnTo>
                  <a:pt x="219458" y="1156615"/>
                </a:lnTo>
                <a:lnTo>
                  <a:pt x="240132" y="1116518"/>
                </a:lnTo>
                <a:lnTo>
                  <a:pt x="261637" y="1076930"/>
                </a:lnTo>
                <a:lnTo>
                  <a:pt x="283963" y="1037861"/>
                </a:lnTo>
                <a:lnTo>
                  <a:pt x="307097" y="999322"/>
                </a:lnTo>
                <a:lnTo>
                  <a:pt x="331028" y="961327"/>
                </a:lnTo>
                <a:lnTo>
                  <a:pt x="355744" y="923886"/>
                </a:lnTo>
                <a:lnTo>
                  <a:pt x="381234" y="887010"/>
                </a:lnTo>
                <a:lnTo>
                  <a:pt x="407487" y="850712"/>
                </a:lnTo>
                <a:lnTo>
                  <a:pt x="434490" y="815002"/>
                </a:lnTo>
                <a:lnTo>
                  <a:pt x="462232" y="779893"/>
                </a:lnTo>
                <a:lnTo>
                  <a:pt x="490701" y="745396"/>
                </a:lnTo>
                <a:lnTo>
                  <a:pt x="519887" y="711522"/>
                </a:lnTo>
                <a:lnTo>
                  <a:pt x="549777" y="678283"/>
                </a:lnTo>
                <a:lnTo>
                  <a:pt x="580360" y="645691"/>
                </a:lnTo>
                <a:lnTo>
                  <a:pt x="611624" y="613757"/>
                </a:lnTo>
                <a:lnTo>
                  <a:pt x="643557" y="582493"/>
                </a:lnTo>
                <a:lnTo>
                  <a:pt x="676150" y="551910"/>
                </a:lnTo>
                <a:lnTo>
                  <a:pt x="709388" y="522020"/>
                </a:lnTo>
                <a:lnTo>
                  <a:pt x="743262" y="492835"/>
                </a:lnTo>
                <a:lnTo>
                  <a:pt x="777759" y="464365"/>
                </a:lnTo>
                <a:lnTo>
                  <a:pt x="812868" y="436623"/>
                </a:lnTo>
                <a:lnTo>
                  <a:pt x="848578" y="409620"/>
                </a:lnTo>
                <a:lnTo>
                  <a:pt x="884876" y="383368"/>
                </a:lnTo>
                <a:lnTo>
                  <a:pt x="921752" y="357878"/>
                </a:lnTo>
                <a:lnTo>
                  <a:pt x="959193" y="333162"/>
                </a:lnTo>
                <a:lnTo>
                  <a:pt x="997189" y="309231"/>
                </a:lnTo>
                <a:lnTo>
                  <a:pt x="1035727" y="286097"/>
                </a:lnTo>
                <a:lnTo>
                  <a:pt x="1074796" y="263771"/>
                </a:lnTo>
                <a:lnTo>
                  <a:pt x="1114385" y="242265"/>
                </a:lnTo>
                <a:lnTo>
                  <a:pt x="1154481" y="221591"/>
                </a:lnTo>
                <a:lnTo>
                  <a:pt x="1195074" y="201761"/>
                </a:lnTo>
                <a:lnTo>
                  <a:pt x="1236152" y="182784"/>
                </a:lnTo>
                <a:lnTo>
                  <a:pt x="1277703" y="164674"/>
                </a:lnTo>
                <a:lnTo>
                  <a:pt x="1319715" y="147442"/>
                </a:lnTo>
                <a:lnTo>
                  <a:pt x="1362178" y="131099"/>
                </a:lnTo>
                <a:lnTo>
                  <a:pt x="1405079" y="115657"/>
                </a:lnTo>
                <a:lnTo>
                  <a:pt x="1448408" y="101128"/>
                </a:lnTo>
                <a:lnTo>
                  <a:pt x="1492151" y="87523"/>
                </a:lnTo>
                <a:lnTo>
                  <a:pt x="1536299" y="74853"/>
                </a:lnTo>
                <a:lnTo>
                  <a:pt x="1580839" y="63130"/>
                </a:lnTo>
                <a:lnTo>
                  <a:pt x="1625760" y="52366"/>
                </a:lnTo>
                <a:lnTo>
                  <a:pt x="1671050" y="42573"/>
                </a:lnTo>
                <a:lnTo>
                  <a:pt x="1716697" y="33761"/>
                </a:lnTo>
                <a:lnTo>
                  <a:pt x="1762691" y="25942"/>
                </a:lnTo>
                <a:lnTo>
                  <a:pt x="1809019" y="19129"/>
                </a:lnTo>
                <a:lnTo>
                  <a:pt x="1855670" y="13332"/>
                </a:lnTo>
                <a:lnTo>
                  <a:pt x="1902633" y="8563"/>
                </a:lnTo>
                <a:lnTo>
                  <a:pt x="1949895" y="4834"/>
                </a:lnTo>
                <a:lnTo>
                  <a:pt x="1997446" y="2156"/>
                </a:lnTo>
                <a:lnTo>
                  <a:pt x="2045273" y="541"/>
                </a:lnTo>
                <a:lnTo>
                  <a:pt x="2093366" y="0"/>
                </a:lnTo>
                <a:lnTo>
                  <a:pt x="2138349" y="541"/>
                </a:lnTo>
                <a:lnTo>
                  <a:pt x="2141999" y="541"/>
                </a:lnTo>
                <a:lnTo>
                  <a:pt x="2194136" y="2421"/>
                </a:lnTo>
                <a:lnTo>
                  <a:pt x="2244285" y="5437"/>
                </a:lnTo>
                <a:lnTo>
                  <a:pt x="2294249" y="9644"/>
                </a:lnTo>
                <a:lnTo>
                  <a:pt x="2344009" y="15035"/>
                </a:lnTo>
                <a:lnTo>
                  <a:pt x="2393546" y="21603"/>
                </a:lnTo>
                <a:lnTo>
                  <a:pt x="2442840" y="29338"/>
                </a:lnTo>
                <a:lnTo>
                  <a:pt x="2491872" y="38232"/>
                </a:lnTo>
                <a:lnTo>
                  <a:pt x="2540622" y="48278"/>
                </a:lnTo>
                <a:lnTo>
                  <a:pt x="2589070" y="59468"/>
                </a:lnTo>
                <a:lnTo>
                  <a:pt x="2637197" y="71792"/>
                </a:lnTo>
                <a:lnTo>
                  <a:pt x="2684983" y="85244"/>
                </a:lnTo>
                <a:lnTo>
                  <a:pt x="2732409" y="99815"/>
                </a:lnTo>
                <a:lnTo>
                  <a:pt x="2760116" y="109051"/>
                </a:lnTo>
                <a:lnTo>
                  <a:pt x="2760116" y="2000250"/>
                </a:lnTo>
                <a:close/>
              </a:path>
            </a:pathLst>
          </a:custGeom>
          <a:solidFill>
            <a:srgbClr val="123D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706100" y="180975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199" y="914399"/>
                </a:moveTo>
                <a:lnTo>
                  <a:pt x="410453" y="912039"/>
                </a:lnTo>
                <a:lnTo>
                  <a:pt x="365058" y="905111"/>
                </a:lnTo>
                <a:lnTo>
                  <a:pt x="321242" y="893845"/>
                </a:lnTo>
                <a:lnTo>
                  <a:pt x="279236" y="878470"/>
                </a:lnTo>
                <a:lnTo>
                  <a:pt x="239271" y="859218"/>
                </a:lnTo>
                <a:lnTo>
                  <a:pt x="201574" y="836317"/>
                </a:lnTo>
                <a:lnTo>
                  <a:pt x="166378" y="809997"/>
                </a:lnTo>
                <a:lnTo>
                  <a:pt x="133910" y="780489"/>
                </a:lnTo>
                <a:lnTo>
                  <a:pt x="104402" y="748021"/>
                </a:lnTo>
                <a:lnTo>
                  <a:pt x="78082" y="712824"/>
                </a:lnTo>
                <a:lnTo>
                  <a:pt x="55181" y="675128"/>
                </a:lnTo>
                <a:lnTo>
                  <a:pt x="35928" y="635162"/>
                </a:lnTo>
                <a:lnTo>
                  <a:pt x="20554" y="593157"/>
                </a:lnTo>
                <a:lnTo>
                  <a:pt x="9288" y="549341"/>
                </a:lnTo>
                <a:lnTo>
                  <a:pt x="2360" y="503946"/>
                </a:lnTo>
                <a:lnTo>
                  <a:pt x="0" y="457199"/>
                </a:lnTo>
                <a:lnTo>
                  <a:pt x="2360" y="410453"/>
                </a:lnTo>
                <a:lnTo>
                  <a:pt x="9288" y="365058"/>
                </a:lnTo>
                <a:lnTo>
                  <a:pt x="20554" y="321242"/>
                </a:lnTo>
                <a:lnTo>
                  <a:pt x="35928" y="279237"/>
                </a:lnTo>
                <a:lnTo>
                  <a:pt x="55181" y="239271"/>
                </a:lnTo>
                <a:lnTo>
                  <a:pt x="78082" y="201575"/>
                </a:lnTo>
                <a:lnTo>
                  <a:pt x="104402" y="166378"/>
                </a:lnTo>
                <a:lnTo>
                  <a:pt x="133910" y="133910"/>
                </a:lnTo>
                <a:lnTo>
                  <a:pt x="166378" y="104402"/>
                </a:lnTo>
                <a:lnTo>
                  <a:pt x="201574" y="78082"/>
                </a:lnTo>
                <a:lnTo>
                  <a:pt x="239271" y="55181"/>
                </a:lnTo>
                <a:lnTo>
                  <a:pt x="279236" y="35929"/>
                </a:lnTo>
                <a:lnTo>
                  <a:pt x="321242" y="20554"/>
                </a:lnTo>
                <a:lnTo>
                  <a:pt x="365058" y="9288"/>
                </a:lnTo>
                <a:lnTo>
                  <a:pt x="410453" y="2360"/>
                </a:lnTo>
                <a:lnTo>
                  <a:pt x="457199" y="0"/>
                </a:lnTo>
                <a:lnTo>
                  <a:pt x="508788" y="2918"/>
                </a:lnTo>
                <a:lnTo>
                  <a:pt x="559321" y="11549"/>
                </a:lnTo>
                <a:lnTo>
                  <a:pt x="608351" y="25708"/>
                </a:lnTo>
                <a:lnTo>
                  <a:pt x="655430" y="45208"/>
                </a:lnTo>
                <a:lnTo>
                  <a:pt x="700111" y="69866"/>
                </a:lnTo>
                <a:lnTo>
                  <a:pt x="741946" y="99495"/>
                </a:lnTo>
                <a:lnTo>
                  <a:pt x="780488" y="133910"/>
                </a:lnTo>
                <a:lnTo>
                  <a:pt x="814904" y="172452"/>
                </a:lnTo>
                <a:lnTo>
                  <a:pt x="844533" y="214288"/>
                </a:lnTo>
                <a:lnTo>
                  <a:pt x="869190" y="258969"/>
                </a:lnTo>
                <a:lnTo>
                  <a:pt x="888691" y="306048"/>
                </a:lnTo>
                <a:lnTo>
                  <a:pt x="902850" y="355078"/>
                </a:lnTo>
                <a:lnTo>
                  <a:pt x="911481" y="405611"/>
                </a:lnTo>
                <a:lnTo>
                  <a:pt x="914399" y="457199"/>
                </a:lnTo>
                <a:lnTo>
                  <a:pt x="912039" y="503946"/>
                </a:lnTo>
                <a:lnTo>
                  <a:pt x="905111" y="549341"/>
                </a:lnTo>
                <a:lnTo>
                  <a:pt x="893845" y="593157"/>
                </a:lnTo>
                <a:lnTo>
                  <a:pt x="878471" y="635162"/>
                </a:lnTo>
                <a:lnTo>
                  <a:pt x="859218" y="675128"/>
                </a:lnTo>
                <a:lnTo>
                  <a:pt x="836317" y="712824"/>
                </a:lnTo>
                <a:lnTo>
                  <a:pt x="809997" y="748021"/>
                </a:lnTo>
                <a:lnTo>
                  <a:pt x="780489" y="780489"/>
                </a:lnTo>
                <a:lnTo>
                  <a:pt x="748021" y="809997"/>
                </a:lnTo>
                <a:lnTo>
                  <a:pt x="712825" y="836317"/>
                </a:lnTo>
                <a:lnTo>
                  <a:pt x="675128" y="859218"/>
                </a:lnTo>
                <a:lnTo>
                  <a:pt x="635163" y="878470"/>
                </a:lnTo>
                <a:lnTo>
                  <a:pt x="593157" y="893845"/>
                </a:lnTo>
                <a:lnTo>
                  <a:pt x="549341" y="905111"/>
                </a:lnTo>
                <a:lnTo>
                  <a:pt x="503946" y="912039"/>
                </a:lnTo>
                <a:lnTo>
                  <a:pt x="457199" y="914399"/>
                </a:lnTo>
                <a:close/>
              </a:path>
            </a:pathLst>
          </a:custGeom>
          <a:solidFill>
            <a:srgbClr val="10686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1333500"/>
            <a:ext cx="2914649" cy="3038474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1143000" y="4555852"/>
            <a:ext cx="876300" cy="85725"/>
          </a:xfrm>
          <a:custGeom>
            <a:avLst/>
            <a:gdLst/>
            <a:ahLst/>
            <a:cxnLst/>
            <a:rect l="l" t="t" r="r" b="b"/>
            <a:pathLst>
              <a:path w="876300" h="85725">
                <a:moveTo>
                  <a:pt x="876299" y="85724"/>
                </a:moveTo>
                <a:lnTo>
                  <a:pt x="0" y="85724"/>
                </a:lnTo>
                <a:lnTo>
                  <a:pt x="0" y="0"/>
                </a:lnTo>
                <a:lnTo>
                  <a:pt x="876299" y="0"/>
                </a:lnTo>
                <a:lnTo>
                  <a:pt x="876299" y="85724"/>
                </a:lnTo>
                <a:close/>
              </a:path>
            </a:pathLst>
          </a:custGeom>
          <a:solidFill>
            <a:srgbClr val="E1E3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123D33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1" i="0">
                <a:solidFill>
                  <a:srgbClr val="7B837D"/>
                </a:solidFill>
                <a:latin typeface="Roboto Bk"/>
                <a:cs typeface="Roboto Bk"/>
              </a:defRPr>
            </a:lvl1pPr>
          </a:lstStyle>
          <a:p>
            <a:pPr marL="12700">
              <a:lnSpc>
                <a:spcPts val="1789"/>
              </a:lnSpc>
            </a:pPr>
            <a:r>
              <a:rPr spc="-145" dirty="0"/>
              <a:t>FLUSAI</a:t>
            </a:r>
            <a:r>
              <a:rPr dirty="0"/>
              <a:t> </a:t>
            </a:r>
            <a:r>
              <a:rPr spc="-120" dirty="0"/>
              <a:t>·</a:t>
            </a:r>
            <a:r>
              <a:rPr spc="-5" dirty="0"/>
              <a:t> </a:t>
            </a:r>
            <a:r>
              <a:rPr spc="-120" dirty="0"/>
              <a:t>NIC</a:t>
            </a:r>
            <a:r>
              <a:rPr spc="-5" dirty="0"/>
              <a:t> </a:t>
            </a:r>
            <a:r>
              <a:rPr spc="-135" dirty="0"/>
              <a:t>KARACHI</a:t>
            </a:r>
            <a:r>
              <a:rPr spc="5" dirty="0"/>
              <a:t> </a:t>
            </a:r>
            <a:r>
              <a:rPr spc="-95" dirty="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03-Sep-26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1" i="0">
                <a:solidFill>
                  <a:srgbClr val="7B837D"/>
                </a:solidFill>
                <a:latin typeface="Roboto Bk"/>
                <a:cs typeface="Roboto Bk"/>
              </a:defRPr>
            </a:lvl1pPr>
          </a:lstStyle>
          <a:p>
            <a:pPr marL="12700">
              <a:lnSpc>
                <a:spcPts val="1789"/>
              </a:lnSpc>
            </a:pPr>
            <a:r>
              <a:rPr spc="-145" dirty="0"/>
              <a:t>FLUSAI</a:t>
            </a:r>
            <a:r>
              <a:rPr dirty="0"/>
              <a:t> </a:t>
            </a:r>
            <a:r>
              <a:rPr spc="-120" dirty="0"/>
              <a:t>·</a:t>
            </a:r>
            <a:r>
              <a:rPr spc="-5" dirty="0"/>
              <a:t> </a:t>
            </a:r>
            <a:r>
              <a:rPr spc="-120" dirty="0"/>
              <a:t>NIC</a:t>
            </a:r>
            <a:r>
              <a:rPr spc="-5" dirty="0"/>
              <a:t> </a:t>
            </a:r>
            <a:r>
              <a:rPr spc="-135" dirty="0"/>
              <a:t>KARACHI</a:t>
            </a:r>
            <a:r>
              <a:rPr spc="5" dirty="0"/>
              <a:t> </a:t>
            </a:r>
            <a:r>
              <a:rPr spc="-95" dirty="0"/>
              <a:t>2026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03-Sep-26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49350" y="925809"/>
            <a:ext cx="14265910" cy="1336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123D33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04900" y="3600022"/>
            <a:ext cx="16078200" cy="49745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149350" y="9580360"/>
            <a:ext cx="2132329" cy="248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rgbClr val="7B837D"/>
                </a:solidFill>
                <a:latin typeface="Roboto Bk"/>
                <a:cs typeface="Roboto Bk"/>
              </a:defRPr>
            </a:lvl1pPr>
          </a:lstStyle>
          <a:p>
            <a:pPr marL="12700">
              <a:lnSpc>
                <a:spcPts val="1789"/>
              </a:lnSpc>
            </a:pPr>
            <a:r>
              <a:rPr spc="-145" dirty="0"/>
              <a:t>FLUSAI</a:t>
            </a:r>
            <a:r>
              <a:rPr dirty="0"/>
              <a:t> </a:t>
            </a:r>
            <a:r>
              <a:rPr spc="-120" dirty="0"/>
              <a:t>·</a:t>
            </a:r>
            <a:r>
              <a:rPr spc="-5" dirty="0"/>
              <a:t> </a:t>
            </a:r>
            <a:r>
              <a:rPr spc="-120" dirty="0"/>
              <a:t>NIC</a:t>
            </a:r>
            <a:r>
              <a:rPr spc="-5" dirty="0"/>
              <a:t> </a:t>
            </a:r>
            <a:r>
              <a:rPr spc="-135" dirty="0"/>
              <a:t>KARACHI</a:t>
            </a:r>
            <a:r>
              <a:rPr spc="5" dirty="0"/>
              <a:t> </a:t>
            </a:r>
            <a:r>
              <a:rPr spc="-95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03-Sep-26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g"/><Relationship Id="rId5" Type="http://schemas.openxmlformats.org/officeDocument/2006/relationships/image" Target="../media/image22.jpg"/><Relationship Id="rId4" Type="http://schemas.openxmlformats.org/officeDocument/2006/relationships/image" Target="../media/image21.jpg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49350" y="4921294"/>
            <a:ext cx="8620125" cy="1036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2800"/>
              </a:lnSpc>
              <a:spcBef>
                <a:spcPts val="100"/>
              </a:spcBef>
            </a:pPr>
            <a:r>
              <a:rPr sz="2700" spc="-210" dirty="0">
                <a:solidFill>
                  <a:srgbClr val="106861"/>
                </a:solidFill>
                <a:latin typeface="Roboto Bk"/>
                <a:cs typeface="Roboto Bk"/>
              </a:rPr>
              <a:t>Every</a:t>
            </a:r>
            <a:r>
              <a:rPr sz="2700" spc="-35" dirty="0">
                <a:solidFill>
                  <a:srgbClr val="106861"/>
                </a:solidFill>
                <a:latin typeface="Roboto Bk"/>
                <a:cs typeface="Roboto Bk"/>
              </a:rPr>
              <a:t> </a:t>
            </a:r>
            <a:r>
              <a:rPr sz="2700" spc="-165" dirty="0">
                <a:solidFill>
                  <a:srgbClr val="106861"/>
                </a:solidFill>
                <a:latin typeface="Roboto Bk"/>
                <a:cs typeface="Roboto Bk"/>
              </a:rPr>
              <a:t>card</a:t>
            </a:r>
            <a:r>
              <a:rPr sz="2700" spc="-25" dirty="0">
                <a:solidFill>
                  <a:srgbClr val="106861"/>
                </a:solidFill>
                <a:latin typeface="Roboto Bk"/>
                <a:cs typeface="Roboto Bk"/>
              </a:rPr>
              <a:t> </a:t>
            </a:r>
            <a:r>
              <a:rPr sz="2700" spc="-180" dirty="0">
                <a:solidFill>
                  <a:srgbClr val="106861"/>
                </a:solidFill>
                <a:latin typeface="Roboto Bk"/>
                <a:cs typeface="Roboto Bk"/>
              </a:rPr>
              <a:t>in</a:t>
            </a:r>
            <a:r>
              <a:rPr sz="2700" spc="-30" dirty="0">
                <a:solidFill>
                  <a:srgbClr val="106861"/>
                </a:solidFill>
                <a:latin typeface="Roboto Bk"/>
                <a:cs typeface="Roboto Bk"/>
              </a:rPr>
              <a:t> </a:t>
            </a:r>
            <a:r>
              <a:rPr sz="2700" spc="-210" dirty="0">
                <a:solidFill>
                  <a:srgbClr val="106861"/>
                </a:solidFill>
                <a:latin typeface="Roboto Bk"/>
                <a:cs typeface="Roboto Bk"/>
              </a:rPr>
              <a:t>your</a:t>
            </a:r>
            <a:r>
              <a:rPr sz="2700" spc="-30" dirty="0">
                <a:solidFill>
                  <a:srgbClr val="106861"/>
                </a:solidFill>
                <a:latin typeface="Roboto Bk"/>
                <a:cs typeface="Roboto Bk"/>
              </a:rPr>
              <a:t> </a:t>
            </a:r>
            <a:r>
              <a:rPr sz="2700" spc="-185" dirty="0">
                <a:solidFill>
                  <a:srgbClr val="106861"/>
                </a:solidFill>
                <a:latin typeface="Roboto Bk"/>
                <a:cs typeface="Roboto Bk"/>
              </a:rPr>
              <a:t>wallet,</a:t>
            </a:r>
            <a:r>
              <a:rPr sz="2700" spc="-30" dirty="0">
                <a:solidFill>
                  <a:srgbClr val="106861"/>
                </a:solidFill>
                <a:latin typeface="Roboto Bk"/>
                <a:cs typeface="Roboto Bk"/>
              </a:rPr>
              <a:t> </a:t>
            </a:r>
            <a:r>
              <a:rPr sz="2700" spc="-200" dirty="0">
                <a:solidFill>
                  <a:srgbClr val="106861"/>
                </a:solidFill>
                <a:latin typeface="Roboto Bk"/>
                <a:cs typeface="Roboto Bk"/>
              </a:rPr>
              <a:t>every</a:t>
            </a:r>
            <a:r>
              <a:rPr sz="2700" spc="-30" dirty="0">
                <a:solidFill>
                  <a:srgbClr val="106861"/>
                </a:solidFill>
                <a:latin typeface="Roboto Bk"/>
                <a:cs typeface="Roboto Bk"/>
              </a:rPr>
              <a:t> </a:t>
            </a:r>
            <a:r>
              <a:rPr sz="2700" spc="-150" dirty="0">
                <a:solidFill>
                  <a:srgbClr val="106861"/>
                </a:solidFill>
                <a:latin typeface="Roboto Bk"/>
                <a:cs typeface="Roboto Bk"/>
              </a:rPr>
              <a:t>offer</a:t>
            </a:r>
            <a:r>
              <a:rPr sz="2700" spc="-35" dirty="0">
                <a:solidFill>
                  <a:srgbClr val="106861"/>
                </a:solidFill>
                <a:latin typeface="Roboto Bk"/>
                <a:cs typeface="Roboto Bk"/>
              </a:rPr>
              <a:t> </a:t>
            </a:r>
            <a:r>
              <a:rPr sz="2700" spc="-170" dirty="0">
                <a:solidFill>
                  <a:srgbClr val="106861"/>
                </a:solidFill>
                <a:latin typeface="Roboto Bk"/>
                <a:cs typeface="Roboto Bk"/>
              </a:rPr>
              <a:t>near</a:t>
            </a:r>
            <a:r>
              <a:rPr sz="2700" spc="-30" dirty="0">
                <a:solidFill>
                  <a:srgbClr val="106861"/>
                </a:solidFill>
                <a:latin typeface="Roboto Bk"/>
                <a:cs typeface="Roboto Bk"/>
              </a:rPr>
              <a:t> </a:t>
            </a:r>
            <a:r>
              <a:rPr sz="2700" spc="-235" dirty="0">
                <a:solidFill>
                  <a:srgbClr val="106861"/>
                </a:solidFill>
                <a:latin typeface="Roboto Bk"/>
                <a:cs typeface="Roboto Bk"/>
              </a:rPr>
              <a:t>you</a:t>
            </a:r>
            <a:r>
              <a:rPr sz="2700" spc="-30" dirty="0">
                <a:solidFill>
                  <a:srgbClr val="106861"/>
                </a:solidFill>
                <a:latin typeface="Roboto Bk"/>
                <a:cs typeface="Roboto Bk"/>
              </a:rPr>
              <a:t> </a:t>
            </a:r>
            <a:r>
              <a:rPr sz="2700" spc="-400" dirty="0">
                <a:solidFill>
                  <a:srgbClr val="106861"/>
                </a:solidFill>
                <a:latin typeface="Roboto Bk"/>
                <a:cs typeface="Roboto Bk"/>
              </a:rPr>
              <a:t>—</a:t>
            </a:r>
            <a:r>
              <a:rPr sz="2700" spc="-25" dirty="0">
                <a:solidFill>
                  <a:srgbClr val="106861"/>
                </a:solidFill>
                <a:latin typeface="Roboto Bk"/>
                <a:cs typeface="Roboto Bk"/>
              </a:rPr>
              <a:t> </a:t>
            </a:r>
            <a:r>
              <a:rPr sz="2700" spc="-190" dirty="0">
                <a:solidFill>
                  <a:srgbClr val="106861"/>
                </a:solidFill>
                <a:latin typeface="Roboto Bk"/>
                <a:cs typeface="Roboto Bk"/>
              </a:rPr>
              <a:t>matched</a:t>
            </a:r>
            <a:r>
              <a:rPr sz="2700" spc="-25" dirty="0">
                <a:solidFill>
                  <a:srgbClr val="106861"/>
                </a:solidFill>
                <a:latin typeface="Roboto Bk"/>
                <a:cs typeface="Roboto Bk"/>
              </a:rPr>
              <a:t> </a:t>
            </a:r>
            <a:r>
              <a:rPr sz="2700" spc="-100" dirty="0">
                <a:solidFill>
                  <a:srgbClr val="106861"/>
                </a:solidFill>
                <a:latin typeface="Roboto Bk"/>
                <a:cs typeface="Roboto Bk"/>
              </a:rPr>
              <a:t>before </a:t>
            </a:r>
            <a:r>
              <a:rPr sz="2700" spc="-235" dirty="0">
                <a:solidFill>
                  <a:srgbClr val="106861"/>
                </a:solidFill>
                <a:latin typeface="Roboto Bk"/>
                <a:cs typeface="Roboto Bk"/>
              </a:rPr>
              <a:t>you</a:t>
            </a:r>
            <a:r>
              <a:rPr sz="2700" spc="-45" dirty="0">
                <a:solidFill>
                  <a:srgbClr val="106861"/>
                </a:solidFill>
                <a:latin typeface="Roboto Bk"/>
                <a:cs typeface="Roboto Bk"/>
              </a:rPr>
              <a:t> </a:t>
            </a:r>
            <a:r>
              <a:rPr sz="2700" spc="-20" dirty="0">
                <a:solidFill>
                  <a:srgbClr val="106861"/>
                </a:solidFill>
                <a:latin typeface="Roboto Bk"/>
                <a:cs typeface="Roboto Bk"/>
              </a:rPr>
              <a:t>pay.</a:t>
            </a:r>
            <a:endParaRPr sz="2700">
              <a:latin typeface="Roboto Bk"/>
              <a:cs typeface="Roboto Bk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7181850"/>
            <a:ext cx="1428749" cy="1428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12700" marR="5080">
              <a:lnSpc>
                <a:spcPts val="4920"/>
              </a:lnSpc>
              <a:spcBef>
                <a:spcPts val="665"/>
              </a:spcBef>
            </a:pPr>
            <a:r>
              <a:rPr spc="-10" dirty="0"/>
              <a:t>At</a:t>
            </a:r>
            <a:r>
              <a:rPr spc="-320" dirty="0"/>
              <a:t> </a:t>
            </a:r>
            <a:r>
              <a:rPr spc="-20" dirty="0"/>
              <a:t>the</a:t>
            </a:r>
            <a:r>
              <a:rPr spc="-250" dirty="0"/>
              <a:t> </a:t>
            </a:r>
            <a:r>
              <a:rPr spc="-80" dirty="0"/>
              <a:t>counter,</a:t>
            </a:r>
            <a:r>
              <a:rPr spc="-190" dirty="0"/>
              <a:t> </a:t>
            </a:r>
            <a:r>
              <a:rPr dirty="0"/>
              <a:t>nobody</a:t>
            </a:r>
            <a:r>
              <a:rPr spc="-190" dirty="0"/>
              <a:t> </a:t>
            </a:r>
            <a:r>
              <a:rPr spc="-195" dirty="0"/>
              <a:t>knows</a:t>
            </a:r>
            <a:r>
              <a:rPr spc="-130" dirty="0"/>
              <a:t> </a:t>
            </a:r>
            <a:r>
              <a:rPr spc="-300" dirty="0"/>
              <a:t>which</a:t>
            </a:r>
            <a:r>
              <a:rPr spc="-60" dirty="0"/>
              <a:t> </a:t>
            </a:r>
            <a:r>
              <a:rPr dirty="0"/>
              <a:t>card</a:t>
            </a:r>
            <a:r>
              <a:rPr spc="-190" dirty="0"/>
              <a:t> </a:t>
            </a:r>
            <a:r>
              <a:rPr spc="-10" dirty="0"/>
              <a:t>saves money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19150" y="2579340"/>
            <a:ext cx="5702300" cy="7364730"/>
            <a:chOff x="819150" y="2579340"/>
            <a:chExt cx="5702300" cy="7364730"/>
          </a:xfrm>
        </p:grpSpPr>
        <p:sp>
          <p:nvSpPr>
            <p:cNvPr id="4" name="object 4"/>
            <p:cNvSpPr/>
            <p:nvPr/>
          </p:nvSpPr>
          <p:spPr>
            <a:xfrm>
              <a:off x="1142999" y="2579340"/>
              <a:ext cx="876300" cy="85725"/>
            </a:xfrm>
            <a:custGeom>
              <a:avLst/>
              <a:gdLst/>
              <a:ahLst/>
              <a:cxnLst/>
              <a:rect l="l" t="t" r="r" b="b"/>
              <a:pathLst>
                <a:path w="876300" h="85725">
                  <a:moveTo>
                    <a:pt x="876299" y="85724"/>
                  </a:moveTo>
                  <a:lnTo>
                    <a:pt x="0" y="85724"/>
                  </a:lnTo>
                  <a:lnTo>
                    <a:pt x="0" y="0"/>
                  </a:lnTo>
                  <a:lnTo>
                    <a:pt x="876299" y="0"/>
                  </a:lnTo>
                  <a:lnTo>
                    <a:pt x="876299" y="85724"/>
                  </a:lnTo>
                  <a:close/>
                </a:path>
              </a:pathLst>
            </a:custGeom>
            <a:solidFill>
              <a:srgbClr val="E1E3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150" y="5066184"/>
              <a:ext cx="5702275" cy="487747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42999" y="5256683"/>
              <a:ext cx="5054600" cy="4230370"/>
            </a:xfrm>
            <a:custGeom>
              <a:avLst/>
              <a:gdLst/>
              <a:ahLst/>
              <a:cxnLst/>
              <a:rect l="l" t="t" r="r" b="b"/>
              <a:pathLst>
                <a:path w="5054600" h="4230370">
                  <a:moveTo>
                    <a:pt x="4825955" y="4229769"/>
                  </a:moveTo>
                  <a:lnTo>
                    <a:pt x="228618" y="4229769"/>
                  </a:lnTo>
                  <a:lnTo>
                    <a:pt x="182544" y="4225125"/>
                  </a:lnTo>
                  <a:lnTo>
                    <a:pt x="139630" y="4211803"/>
                  </a:lnTo>
                  <a:lnTo>
                    <a:pt x="100795" y="4190725"/>
                  </a:lnTo>
                  <a:lnTo>
                    <a:pt x="66960" y="4162808"/>
                  </a:lnTo>
                  <a:lnTo>
                    <a:pt x="39044" y="4128973"/>
                  </a:lnTo>
                  <a:lnTo>
                    <a:pt x="17966" y="4090139"/>
                  </a:lnTo>
                  <a:lnTo>
                    <a:pt x="4644" y="4047225"/>
                  </a:lnTo>
                  <a:lnTo>
                    <a:pt x="0" y="4001150"/>
                  </a:lnTo>
                  <a:lnTo>
                    <a:pt x="0" y="228618"/>
                  </a:lnTo>
                  <a:lnTo>
                    <a:pt x="4644" y="182544"/>
                  </a:lnTo>
                  <a:lnTo>
                    <a:pt x="17966" y="139630"/>
                  </a:lnTo>
                  <a:lnTo>
                    <a:pt x="39044" y="100795"/>
                  </a:lnTo>
                  <a:lnTo>
                    <a:pt x="66960" y="66960"/>
                  </a:lnTo>
                  <a:lnTo>
                    <a:pt x="100795" y="39044"/>
                  </a:lnTo>
                  <a:lnTo>
                    <a:pt x="139630" y="17966"/>
                  </a:lnTo>
                  <a:lnTo>
                    <a:pt x="182544" y="4644"/>
                  </a:lnTo>
                  <a:lnTo>
                    <a:pt x="228618" y="0"/>
                  </a:lnTo>
                  <a:lnTo>
                    <a:pt x="4825955" y="0"/>
                  </a:lnTo>
                  <a:lnTo>
                    <a:pt x="4870765" y="4433"/>
                  </a:lnTo>
                  <a:lnTo>
                    <a:pt x="4913444" y="17402"/>
                  </a:lnTo>
                  <a:lnTo>
                    <a:pt x="4952793" y="38410"/>
                  </a:lnTo>
                  <a:lnTo>
                    <a:pt x="4987613" y="66960"/>
                  </a:lnTo>
                  <a:lnTo>
                    <a:pt x="5016164" y="101781"/>
                  </a:lnTo>
                  <a:lnTo>
                    <a:pt x="5037172" y="141130"/>
                  </a:lnTo>
                  <a:lnTo>
                    <a:pt x="5050141" y="183809"/>
                  </a:lnTo>
                  <a:lnTo>
                    <a:pt x="5054574" y="228618"/>
                  </a:lnTo>
                  <a:lnTo>
                    <a:pt x="5054574" y="4001150"/>
                  </a:lnTo>
                  <a:lnTo>
                    <a:pt x="5049930" y="4047225"/>
                  </a:lnTo>
                  <a:lnTo>
                    <a:pt x="5036608" y="4090139"/>
                  </a:lnTo>
                  <a:lnTo>
                    <a:pt x="5015530" y="4128973"/>
                  </a:lnTo>
                  <a:lnTo>
                    <a:pt x="4987613" y="4162808"/>
                  </a:lnTo>
                  <a:lnTo>
                    <a:pt x="4953778" y="4190725"/>
                  </a:lnTo>
                  <a:lnTo>
                    <a:pt x="4914944" y="4211803"/>
                  </a:lnTo>
                  <a:lnTo>
                    <a:pt x="4872030" y="4225125"/>
                  </a:lnTo>
                  <a:lnTo>
                    <a:pt x="4825955" y="42297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49350" y="3087524"/>
            <a:ext cx="14787880" cy="1561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1800"/>
              </a:lnSpc>
              <a:spcBef>
                <a:spcPts val="95"/>
              </a:spcBef>
            </a:pPr>
            <a:r>
              <a:rPr sz="2550" b="1" spc="-200" dirty="0">
                <a:solidFill>
                  <a:srgbClr val="343431"/>
                </a:solidFill>
                <a:latin typeface="Roboto Bk"/>
                <a:cs typeface="Roboto Bk"/>
              </a:rPr>
              <a:t>Every</a:t>
            </a:r>
            <a:r>
              <a:rPr sz="2550" b="1" spc="-3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210" dirty="0">
                <a:solidFill>
                  <a:srgbClr val="343431"/>
                </a:solidFill>
                <a:latin typeface="Roboto Bk"/>
                <a:cs typeface="Roboto Bk"/>
              </a:rPr>
              <a:t>bank</a:t>
            </a:r>
            <a:r>
              <a:rPr sz="2550" b="1" spc="-2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185" dirty="0">
                <a:solidFill>
                  <a:srgbClr val="343431"/>
                </a:solidFill>
                <a:latin typeface="Roboto Bk"/>
                <a:cs typeface="Roboto Bk"/>
              </a:rPr>
              <a:t>shows</a:t>
            </a:r>
            <a:r>
              <a:rPr sz="2550" b="1" spc="-3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195" dirty="0">
                <a:solidFill>
                  <a:srgbClr val="343431"/>
                </a:solidFill>
                <a:latin typeface="Roboto Bk"/>
                <a:cs typeface="Roboto Bk"/>
              </a:rPr>
              <a:t>only</a:t>
            </a:r>
            <a:r>
              <a:rPr sz="2550" b="1" spc="-3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145" dirty="0">
                <a:solidFill>
                  <a:srgbClr val="343431"/>
                </a:solidFill>
                <a:latin typeface="Roboto Bk"/>
                <a:cs typeface="Roboto Bk"/>
              </a:rPr>
              <a:t>its</a:t>
            </a:r>
            <a:r>
              <a:rPr sz="2550" b="1" spc="-3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200" dirty="0">
                <a:solidFill>
                  <a:srgbClr val="343431"/>
                </a:solidFill>
                <a:latin typeface="Roboto Bk"/>
                <a:cs typeface="Roboto Bk"/>
              </a:rPr>
              <a:t>own</a:t>
            </a:r>
            <a:r>
              <a:rPr sz="2550" b="1" spc="-2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165" dirty="0">
                <a:solidFill>
                  <a:srgbClr val="343431"/>
                </a:solidFill>
                <a:latin typeface="Roboto Bk"/>
                <a:cs typeface="Roboto Bk"/>
              </a:rPr>
              <a:t>offers,</a:t>
            </a:r>
            <a:r>
              <a:rPr sz="2550" b="1" spc="-3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160" dirty="0">
                <a:solidFill>
                  <a:srgbClr val="343431"/>
                </a:solidFill>
                <a:latin typeface="Roboto Bk"/>
                <a:cs typeface="Roboto Bk"/>
              </a:rPr>
              <a:t>inside</a:t>
            </a:r>
            <a:r>
              <a:rPr sz="2550" b="1" spc="-3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145" dirty="0">
                <a:solidFill>
                  <a:srgbClr val="343431"/>
                </a:solidFill>
                <a:latin typeface="Roboto Bk"/>
                <a:cs typeface="Roboto Bk"/>
              </a:rPr>
              <a:t>its</a:t>
            </a:r>
            <a:r>
              <a:rPr sz="2550" b="1" spc="-2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200" dirty="0">
                <a:solidFill>
                  <a:srgbClr val="343431"/>
                </a:solidFill>
                <a:latin typeface="Roboto Bk"/>
                <a:cs typeface="Roboto Bk"/>
              </a:rPr>
              <a:t>own</a:t>
            </a:r>
            <a:r>
              <a:rPr sz="2550" b="1" spc="-3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160" dirty="0">
                <a:solidFill>
                  <a:srgbClr val="343431"/>
                </a:solidFill>
                <a:latin typeface="Roboto Bk"/>
                <a:cs typeface="Roboto Bk"/>
              </a:rPr>
              <a:t>app.</a:t>
            </a:r>
            <a:r>
              <a:rPr sz="2550" b="1" spc="-3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210" dirty="0">
                <a:solidFill>
                  <a:srgbClr val="343431"/>
                </a:solidFill>
                <a:latin typeface="Roboto Bk"/>
                <a:cs typeface="Roboto Bk"/>
              </a:rPr>
              <a:t>Someone</a:t>
            </a:r>
            <a:r>
              <a:rPr sz="2550" b="1" spc="-2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185" dirty="0">
                <a:solidFill>
                  <a:srgbClr val="343431"/>
                </a:solidFill>
                <a:latin typeface="Roboto Bk"/>
                <a:cs typeface="Roboto Bk"/>
              </a:rPr>
              <a:t>holding</a:t>
            </a:r>
            <a:r>
              <a:rPr sz="2550" b="1" spc="-3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175" dirty="0">
                <a:solidFill>
                  <a:srgbClr val="343431"/>
                </a:solidFill>
                <a:latin typeface="Roboto Bk"/>
                <a:cs typeface="Roboto Bk"/>
              </a:rPr>
              <a:t>an</a:t>
            </a:r>
            <a:r>
              <a:rPr sz="2550" b="1" spc="-3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235" dirty="0">
                <a:solidFill>
                  <a:srgbClr val="343431"/>
                </a:solidFill>
                <a:latin typeface="Roboto Bk"/>
                <a:cs typeface="Roboto Bk"/>
              </a:rPr>
              <a:t>HBL</a:t>
            </a:r>
            <a:r>
              <a:rPr sz="2550" b="1" spc="-3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175" dirty="0">
                <a:solidFill>
                  <a:srgbClr val="343431"/>
                </a:solidFill>
                <a:latin typeface="Roboto Bk"/>
                <a:cs typeface="Roboto Bk"/>
              </a:rPr>
              <a:t>card,</a:t>
            </a:r>
            <a:r>
              <a:rPr sz="2550" b="1" spc="-2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135" dirty="0">
                <a:solidFill>
                  <a:srgbClr val="343431"/>
                </a:solidFill>
                <a:latin typeface="Roboto Bk"/>
                <a:cs typeface="Roboto Bk"/>
              </a:rPr>
              <a:t>a</a:t>
            </a:r>
            <a:r>
              <a:rPr sz="2550" b="1" spc="-3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280" dirty="0">
                <a:solidFill>
                  <a:srgbClr val="343431"/>
                </a:solidFill>
                <a:latin typeface="Roboto Bk"/>
                <a:cs typeface="Roboto Bk"/>
              </a:rPr>
              <a:t>UBL</a:t>
            </a:r>
            <a:r>
              <a:rPr sz="2550" b="1" spc="-3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155" dirty="0">
                <a:solidFill>
                  <a:srgbClr val="343431"/>
                </a:solidFill>
                <a:latin typeface="Roboto Bk"/>
                <a:cs typeface="Roboto Bk"/>
              </a:rPr>
              <a:t>card</a:t>
            </a:r>
            <a:r>
              <a:rPr sz="2550" b="1" spc="-2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180" dirty="0">
                <a:solidFill>
                  <a:srgbClr val="343431"/>
                </a:solidFill>
                <a:latin typeface="Roboto Bk"/>
                <a:cs typeface="Roboto Bk"/>
              </a:rPr>
              <a:t>and</a:t>
            </a:r>
            <a:r>
              <a:rPr sz="2550" b="1" spc="-3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135" dirty="0">
                <a:solidFill>
                  <a:srgbClr val="343431"/>
                </a:solidFill>
                <a:latin typeface="Roboto Bk"/>
                <a:cs typeface="Roboto Bk"/>
              </a:rPr>
              <a:t>a</a:t>
            </a:r>
            <a:r>
              <a:rPr sz="2550" b="1" spc="-3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10" dirty="0">
                <a:solidFill>
                  <a:srgbClr val="343431"/>
                </a:solidFill>
                <a:latin typeface="Roboto Bk"/>
                <a:cs typeface="Roboto Bk"/>
              </a:rPr>
              <a:t>Meezan </a:t>
            </a:r>
            <a:r>
              <a:rPr sz="2550" b="1" spc="-155" dirty="0">
                <a:solidFill>
                  <a:srgbClr val="343431"/>
                </a:solidFill>
                <a:latin typeface="Roboto Bk"/>
                <a:cs typeface="Roboto Bk"/>
              </a:rPr>
              <a:t>card</a:t>
            </a:r>
            <a:r>
              <a:rPr sz="2550" b="1" spc="-2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175" dirty="0">
                <a:solidFill>
                  <a:srgbClr val="343431"/>
                </a:solidFill>
                <a:latin typeface="Roboto Bk"/>
                <a:cs typeface="Roboto Bk"/>
              </a:rPr>
              <a:t>has</a:t>
            </a:r>
            <a:r>
              <a:rPr sz="2550" b="1" spc="-2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170" dirty="0">
                <a:solidFill>
                  <a:srgbClr val="343431"/>
                </a:solidFill>
                <a:latin typeface="Roboto Bk"/>
                <a:cs typeface="Roboto Bk"/>
              </a:rPr>
              <a:t>three</a:t>
            </a:r>
            <a:r>
              <a:rPr sz="2550" b="1" spc="-2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160" dirty="0">
                <a:solidFill>
                  <a:srgbClr val="343431"/>
                </a:solidFill>
                <a:latin typeface="Roboto Bk"/>
                <a:cs typeface="Roboto Bk"/>
              </a:rPr>
              <a:t>places</a:t>
            </a:r>
            <a:r>
              <a:rPr sz="2550" b="1" spc="-2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180" dirty="0">
                <a:solidFill>
                  <a:srgbClr val="343431"/>
                </a:solidFill>
                <a:latin typeface="Roboto Bk"/>
                <a:cs typeface="Roboto Bk"/>
              </a:rPr>
              <a:t>to</a:t>
            </a:r>
            <a:r>
              <a:rPr sz="2550" b="1" spc="-2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200" dirty="0">
                <a:solidFill>
                  <a:srgbClr val="343431"/>
                </a:solidFill>
                <a:latin typeface="Roboto Bk"/>
                <a:cs typeface="Roboto Bk"/>
              </a:rPr>
              <a:t>check,</a:t>
            </a:r>
            <a:r>
              <a:rPr sz="2550" b="1" spc="-2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180" dirty="0">
                <a:solidFill>
                  <a:srgbClr val="343431"/>
                </a:solidFill>
                <a:latin typeface="Roboto Bk"/>
                <a:cs typeface="Roboto Bk"/>
              </a:rPr>
              <a:t>and</a:t>
            </a:r>
            <a:r>
              <a:rPr sz="2550" b="1" spc="-2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195" dirty="0">
                <a:solidFill>
                  <a:srgbClr val="343431"/>
                </a:solidFill>
                <a:latin typeface="Roboto Bk"/>
                <a:cs typeface="Roboto Bk"/>
              </a:rPr>
              <a:t>none</a:t>
            </a:r>
            <a:r>
              <a:rPr sz="2550" b="1" spc="-2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145" dirty="0">
                <a:solidFill>
                  <a:srgbClr val="343431"/>
                </a:solidFill>
                <a:latin typeface="Roboto Bk"/>
                <a:cs typeface="Roboto Bk"/>
              </a:rPr>
              <a:t>of</a:t>
            </a:r>
            <a:r>
              <a:rPr sz="2550" b="1" spc="-2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215" dirty="0">
                <a:solidFill>
                  <a:srgbClr val="343431"/>
                </a:solidFill>
                <a:latin typeface="Roboto Bk"/>
                <a:cs typeface="Roboto Bk"/>
              </a:rPr>
              <a:t>them</a:t>
            </a:r>
            <a:r>
              <a:rPr sz="2550" b="1" spc="-2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185" dirty="0">
                <a:solidFill>
                  <a:srgbClr val="343431"/>
                </a:solidFill>
                <a:latin typeface="Roboto Bk"/>
                <a:cs typeface="Roboto Bk"/>
              </a:rPr>
              <a:t>says</a:t>
            </a:r>
            <a:r>
              <a:rPr sz="2550" b="1" spc="-2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190" dirty="0">
                <a:solidFill>
                  <a:srgbClr val="343431"/>
                </a:solidFill>
                <a:latin typeface="Roboto Bk"/>
                <a:cs typeface="Roboto Bk"/>
              </a:rPr>
              <a:t>what</a:t>
            </a:r>
            <a:r>
              <a:rPr sz="2550" b="1" spc="-2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180" dirty="0">
                <a:solidFill>
                  <a:srgbClr val="343431"/>
                </a:solidFill>
                <a:latin typeface="Roboto Bk"/>
                <a:cs typeface="Roboto Bk"/>
              </a:rPr>
              <a:t>the</a:t>
            </a:r>
            <a:r>
              <a:rPr sz="2550" b="1" spc="-2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170" dirty="0">
                <a:solidFill>
                  <a:srgbClr val="343431"/>
                </a:solidFill>
                <a:latin typeface="Roboto Bk"/>
                <a:cs typeface="Roboto Bk"/>
              </a:rPr>
              <a:t>other</a:t>
            </a:r>
            <a:r>
              <a:rPr sz="2550" b="1" spc="-2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180" dirty="0">
                <a:solidFill>
                  <a:srgbClr val="343431"/>
                </a:solidFill>
                <a:latin typeface="Roboto Bk"/>
                <a:cs typeface="Roboto Bk"/>
              </a:rPr>
              <a:t>two</a:t>
            </a:r>
            <a:r>
              <a:rPr sz="2550" b="1" spc="-2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155" dirty="0">
                <a:solidFill>
                  <a:srgbClr val="343431"/>
                </a:solidFill>
                <a:latin typeface="Roboto Bk"/>
                <a:cs typeface="Roboto Bk"/>
              </a:rPr>
              <a:t>are</a:t>
            </a:r>
            <a:r>
              <a:rPr sz="2550" b="1" spc="-2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180" dirty="0">
                <a:solidFill>
                  <a:srgbClr val="343431"/>
                </a:solidFill>
                <a:latin typeface="Roboto Bk"/>
                <a:cs typeface="Roboto Bk"/>
              </a:rPr>
              <a:t>running.</a:t>
            </a:r>
            <a:r>
              <a:rPr sz="2550" b="1" spc="-2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175" dirty="0">
                <a:solidFill>
                  <a:srgbClr val="343431"/>
                </a:solidFill>
                <a:latin typeface="Roboto Bk"/>
                <a:cs typeface="Roboto Bk"/>
              </a:rPr>
              <a:t>Claiming</a:t>
            </a:r>
            <a:r>
              <a:rPr sz="2550" b="1" spc="-2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135" dirty="0">
                <a:solidFill>
                  <a:srgbClr val="343431"/>
                </a:solidFill>
                <a:latin typeface="Roboto Bk"/>
                <a:cs typeface="Roboto Bk"/>
              </a:rPr>
              <a:t>a</a:t>
            </a:r>
            <a:r>
              <a:rPr sz="2550" b="1" spc="-2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175" dirty="0">
                <a:solidFill>
                  <a:srgbClr val="343431"/>
                </a:solidFill>
                <a:latin typeface="Roboto Bk"/>
                <a:cs typeface="Roboto Bk"/>
              </a:rPr>
              <a:t>discount</a:t>
            </a:r>
            <a:r>
              <a:rPr sz="2550" b="1" spc="-2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185" dirty="0">
                <a:solidFill>
                  <a:srgbClr val="343431"/>
                </a:solidFill>
                <a:latin typeface="Roboto Bk"/>
                <a:cs typeface="Roboto Bk"/>
              </a:rPr>
              <a:t>takes</a:t>
            </a:r>
            <a:r>
              <a:rPr sz="2550" b="1" spc="-25" dirty="0">
                <a:solidFill>
                  <a:srgbClr val="343431"/>
                </a:solidFill>
                <a:latin typeface="Roboto Bk"/>
                <a:cs typeface="Roboto Bk"/>
              </a:rPr>
              <a:t> six </a:t>
            </a:r>
            <a:r>
              <a:rPr sz="2550" b="1" spc="-160" dirty="0">
                <a:solidFill>
                  <a:srgbClr val="343431"/>
                </a:solidFill>
                <a:latin typeface="Roboto Bk"/>
                <a:cs typeface="Roboto Bk"/>
              </a:rPr>
              <a:t>steps</a:t>
            </a:r>
            <a:r>
              <a:rPr sz="2550" b="1" spc="-2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380" dirty="0">
                <a:solidFill>
                  <a:srgbClr val="343431"/>
                </a:solidFill>
                <a:latin typeface="Roboto Bk"/>
                <a:cs typeface="Roboto Bk"/>
              </a:rPr>
              <a:t>—</a:t>
            </a:r>
            <a:r>
              <a:rPr sz="2550" b="1" spc="-2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180" dirty="0">
                <a:solidFill>
                  <a:srgbClr val="343431"/>
                </a:solidFill>
                <a:latin typeface="Roboto Bk"/>
                <a:cs typeface="Roboto Bk"/>
              </a:rPr>
              <a:t>and</a:t>
            </a:r>
            <a:r>
              <a:rPr sz="2550" b="1" spc="-2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185" dirty="0">
                <a:solidFill>
                  <a:srgbClr val="343431"/>
                </a:solidFill>
                <a:latin typeface="Roboto Bk"/>
                <a:cs typeface="Roboto Bk"/>
              </a:rPr>
              <a:t>almost</a:t>
            </a:r>
            <a:r>
              <a:rPr sz="2550" b="1" spc="-2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210" dirty="0">
                <a:solidFill>
                  <a:srgbClr val="343431"/>
                </a:solidFill>
                <a:latin typeface="Roboto Bk"/>
                <a:cs typeface="Roboto Bk"/>
              </a:rPr>
              <a:t>nobody</a:t>
            </a:r>
            <a:r>
              <a:rPr sz="2550" b="1" spc="-2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170" dirty="0">
                <a:solidFill>
                  <a:srgbClr val="343431"/>
                </a:solidFill>
                <a:latin typeface="Roboto Bk"/>
                <a:cs typeface="Roboto Bk"/>
              </a:rPr>
              <a:t>completes</a:t>
            </a:r>
            <a:r>
              <a:rPr sz="2550" b="1" spc="-2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135" dirty="0">
                <a:solidFill>
                  <a:srgbClr val="343431"/>
                </a:solidFill>
                <a:latin typeface="Roboto Bk"/>
                <a:cs typeface="Roboto Bk"/>
              </a:rPr>
              <a:t>all</a:t>
            </a:r>
            <a:r>
              <a:rPr sz="2550" b="1" spc="-2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155" dirty="0">
                <a:solidFill>
                  <a:srgbClr val="343431"/>
                </a:solidFill>
                <a:latin typeface="Roboto Bk"/>
                <a:cs typeface="Roboto Bk"/>
              </a:rPr>
              <a:t>six.</a:t>
            </a:r>
            <a:r>
              <a:rPr sz="2550" b="1" spc="-2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220" dirty="0">
                <a:solidFill>
                  <a:srgbClr val="343431"/>
                </a:solidFill>
                <a:latin typeface="Roboto Bk"/>
                <a:cs typeface="Roboto Bk"/>
              </a:rPr>
              <a:t>So</a:t>
            </a:r>
            <a:r>
              <a:rPr sz="2550" b="1" spc="-2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210" dirty="0">
                <a:solidFill>
                  <a:srgbClr val="343431"/>
                </a:solidFill>
                <a:latin typeface="Roboto Bk"/>
                <a:cs typeface="Roboto Bk"/>
              </a:rPr>
              <a:t>they</a:t>
            </a:r>
            <a:r>
              <a:rPr sz="2550" b="1" spc="-2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550" b="1" spc="-10" dirty="0">
                <a:solidFill>
                  <a:srgbClr val="343431"/>
                </a:solidFill>
                <a:latin typeface="Roboto Bk"/>
                <a:cs typeface="Roboto Bk"/>
              </a:rPr>
              <a:t>guess.</a:t>
            </a:r>
            <a:endParaRPr sz="2550">
              <a:latin typeface="Roboto Bk"/>
              <a:cs typeface="Roboto B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30350" y="5376859"/>
            <a:ext cx="3972560" cy="1118870"/>
          </a:xfrm>
          <a:prstGeom prst="rect">
            <a:avLst/>
          </a:prstGeom>
        </p:spPr>
        <p:txBody>
          <a:bodyPr vert="horz" wrap="square" lIns="0" tIns="2374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sz="2850" b="1" spc="-220" dirty="0">
                <a:solidFill>
                  <a:srgbClr val="123D33"/>
                </a:solidFill>
                <a:latin typeface="Tahoma"/>
                <a:cs typeface="Tahoma"/>
              </a:rPr>
              <a:t>68.25M</a:t>
            </a:r>
            <a:r>
              <a:rPr sz="2850" b="1" spc="-40" dirty="0">
                <a:solidFill>
                  <a:srgbClr val="123D33"/>
                </a:solidFill>
                <a:latin typeface="Tahoma"/>
                <a:cs typeface="Tahoma"/>
              </a:rPr>
              <a:t> </a:t>
            </a:r>
            <a:r>
              <a:rPr sz="2850" b="1" dirty="0">
                <a:solidFill>
                  <a:srgbClr val="123D33"/>
                </a:solidFill>
                <a:latin typeface="Tahoma"/>
                <a:cs typeface="Tahoma"/>
              </a:rPr>
              <a:t>payment</a:t>
            </a:r>
            <a:r>
              <a:rPr sz="2850" b="1" spc="-135" dirty="0">
                <a:solidFill>
                  <a:srgbClr val="123D33"/>
                </a:solidFill>
                <a:latin typeface="Tahoma"/>
                <a:cs typeface="Tahoma"/>
              </a:rPr>
              <a:t> </a:t>
            </a:r>
            <a:r>
              <a:rPr sz="2850" b="1" spc="-10" dirty="0">
                <a:solidFill>
                  <a:srgbClr val="123D33"/>
                </a:solidFill>
                <a:latin typeface="Tahoma"/>
                <a:cs typeface="Tahoma"/>
              </a:rPr>
              <a:t>cards</a:t>
            </a:r>
            <a:endParaRPr sz="28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850" b="1" spc="-114" dirty="0">
                <a:solidFill>
                  <a:srgbClr val="7B837D"/>
                </a:solidFill>
                <a:latin typeface="Roboto Bk"/>
                <a:cs typeface="Roboto Bk"/>
              </a:rPr>
              <a:t>in</a:t>
            </a:r>
            <a:r>
              <a:rPr sz="1850" b="1" spc="-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850" b="1" spc="-110" dirty="0">
                <a:solidFill>
                  <a:srgbClr val="7B837D"/>
                </a:solidFill>
                <a:latin typeface="Roboto Bk"/>
                <a:cs typeface="Roboto Bk"/>
              </a:rPr>
              <a:t>circulation</a:t>
            </a:r>
            <a:r>
              <a:rPr sz="1850" b="1" spc="-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850" b="1" spc="-114" dirty="0">
                <a:solidFill>
                  <a:srgbClr val="7B837D"/>
                </a:solidFill>
                <a:latin typeface="Roboto Bk"/>
                <a:cs typeface="Roboto Bk"/>
              </a:rPr>
              <a:t>in</a:t>
            </a:r>
            <a:r>
              <a:rPr sz="1850" b="1" spc="-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850" b="1" spc="-125" dirty="0">
                <a:solidFill>
                  <a:srgbClr val="7B837D"/>
                </a:solidFill>
                <a:latin typeface="Roboto Bk"/>
                <a:cs typeface="Roboto Bk"/>
              </a:rPr>
              <a:t>Pakistan,</a:t>
            </a:r>
            <a:r>
              <a:rPr sz="1850" b="1" spc="-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850" b="1" spc="-130" dirty="0">
                <a:solidFill>
                  <a:srgbClr val="7B837D"/>
                </a:solidFill>
                <a:latin typeface="Roboto Bk"/>
                <a:cs typeface="Roboto Bk"/>
              </a:rPr>
              <a:t>March</a:t>
            </a:r>
            <a:r>
              <a:rPr sz="1850" b="1" spc="-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850" b="1" spc="-20" dirty="0">
                <a:solidFill>
                  <a:srgbClr val="7B837D"/>
                </a:solidFill>
                <a:latin typeface="Roboto Bk"/>
                <a:cs typeface="Roboto Bk"/>
              </a:rPr>
              <a:t>2026</a:t>
            </a:r>
            <a:endParaRPr sz="1850">
              <a:latin typeface="Roboto Bk"/>
              <a:cs typeface="Roboto Bk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524000" y="5066184"/>
            <a:ext cx="10471150" cy="4878070"/>
            <a:chOff x="1524000" y="5066184"/>
            <a:chExt cx="10471150" cy="487807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4000" y="7201719"/>
              <a:ext cx="4292574" cy="194183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92825" y="5066184"/>
              <a:ext cx="5702275" cy="487747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616674" y="5256683"/>
              <a:ext cx="5054600" cy="4230370"/>
            </a:xfrm>
            <a:custGeom>
              <a:avLst/>
              <a:gdLst/>
              <a:ahLst/>
              <a:cxnLst/>
              <a:rect l="l" t="t" r="r" b="b"/>
              <a:pathLst>
                <a:path w="5054600" h="4230370">
                  <a:moveTo>
                    <a:pt x="4825956" y="4229769"/>
                  </a:moveTo>
                  <a:lnTo>
                    <a:pt x="228618" y="4229769"/>
                  </a:lnTo>
                  <a:lnTo>
                    <a:pt x="182544" y="4225125"/>
                  </a:lnTo>
                  <a:lnTo>
                    <a:pt x="139630" y="4211803"/>
                  </a:lnTo>
                  <a:lnTo>
                    <a:pt x="100795" y="4190725"/>
                  </a:lnTo>
                  <a:lnTo>
                    <a:pt x="66960" y="4162808"/>
                  </a:lnTo>
                  <a:lnTo>
                    <a:pt x="39044" y="4128973"/>
                  </a:lnTo>
                  <a:lnTo>
                    <a:pt x="17966" y="4090139"/>
                  </a:lnTo>
                  <a:lnTo>
                    <a:pt x="4644" y="4047225"/>
                  </a:lnTo>
                  <a:lnTo>
                    <a:pt x="0" y="4001150"/>
                  </a:lnTo>
                  <a:lnTo>
                    <a:pt x="0" y="228618"/>
                  </a:lnTo>
                  <a:lnTo>
                    <a:pt x="4644" y="182544"/>
                  </a:lnTo>
                  <a:lnTo>
                    <a:pt x="17966" y="139630"/>
                  </a:lnTo>
                  <a:lnTo>
                    <a:pt x="39044" y="100795"/>
                  </a:lnTo>
                  <a:lnTo>
                    <a:pt x="66960" y="66960"/>
                  </a:lnTo>
                  <a:lnTo>
                    <a:pt x="100795" y="39044"/>
                  </a:lnTo>
                  <a:lnTo>
                    <a:pt x="139630" y="17966"/>
                  </a:lnTo>
                  <a:lnTo>
                    <a:pt x="182544" y="4644"/>
                  </a:lnTo>
                  <a:lnTo>
                    <a:pt x="228618" y="0"/>
                  </a:lnTo>
                  <a:lnTo>
                    <a:pt x="4825956" y="0"/>
                  </a:lnTo>
                  <a:lnTo>
                    <a:pt x="4870765" y="4433"/>
                  </a:lnTo>
                  <a:lnTo>
                    <a:pt x="4913445" y="17402"/>
                  </a:lnTo>
                  <a:lnTo>
                    <a:pt x="4952794" y="38410"/>
                  </a:lnTo>
                  <a:lnTo>
                    <a:pt x="4987613" y="66960"/>
                  </a:lnTo>
                  <a:lnTo>
                    <a:pt x="5016164" y="101781"/>
                  </a:lnTo>
                  <a:lnTo>
                    <a:pt x="5037172" y="141130"/>
                  </a:lnTo>
                  <a:lnTo>
                    <a:pt x="5050141" y="183809"/>
                  </a:lnTo>
                  <a:lnTo>
                    <a:pt x="5054574" y="228618"/>
                  </a:lnTo>
                  <a:lnTo>
                    <a:pt x="5054574" y="4001150"/>
                  </a:lnTo>
                  <a:lnTo>
                    <a:pt x="5049930" y="4047225"/>
                  </a:lnTo>
                  <a:lnTo>
                    <a:pt x="5036608" y="4090139"/>
                  </a:lnTo>
                  <a:lnTo>
                    <a:pt x="5015530" y="4128973"/>
                  </a:lnTo>
                  <a:lnTo>
                    <a:pt x="4987614" y="4162808"/>
                  </a:lnTo>
                  <a:lnTo>
                    <a:pt x="4953779" y="4190725"/>
                  </a:lnTo>
                  <a:lnTo>
                    <a:pt x="4914944" y="4211803"/>
                  </a:lnTo>
                  <a:lnTo>
                    <a:pt x="4872030" y="4225125"/>
                  </a:lnTo>
                  <a:lnTo>
                    <a:pt x="4825956" y="42297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004025" y="5376859"/>
            <a:ext cx="4352290" cy="1475740"/>
          </a:xfrm>
          <a:prstGeom prst="rect">
            <a:avLst/>
          </a:prstGeom>
        </p:spPr>
        <p:txBody>
          <a:bodyPr vert="horz" wrap="square" lIns="0" tIns="2374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sz="2850" b="1" spc="-390" dirty="0">
                <a:solidFill>
                  <a:srgbClr val="123D33"/>
                </a:solidFill>
                <a:latin typeface="Tahoma"/>
                <a:cs typeface="Tahoma"/>
              </a:rPr>
              <a:t>22.4%</a:t>
            </a:r>
            <a:r>
              <a:rPr sz="2850" b="1" spc="-40" dirty="0">
                <a:solidFill>
                  <a:srgbClr val="123D33"/>
                </a:solidFill>
                <a:latin typeface="Tahoma"/>
                <a:cs typeface="Tahoma"/>
              </a:rPr>
              <a:t> </a:t>
            </a:r>
            <a:r>
              <a:rPr sz="2850" b="1" dirty="0">
                <a:solidFill>
                  <a:srgbClr val="123D33"/>
                </a:solidFill>
                <a:latin typeface="Tahoma"/>
                <a:cs typeface="Tahoma"/>
              </a:rPr>
              <a:t>average</a:t>
            </a:r>
            <a:r>
              <a:rPr sz="2850" b="1" spc="-65" dirty="0">
                <a:solidFill>
                  <a:srgbClr val="123D33"/>
                </a:solidFill>
                <a:latin typeface="Tahoma"/>
                <a:cs typeface="Tahoma"/>
              </a:rPr>
              <a:t> </a:t>
            </a:r>
            <a:r>
              <a:rPr sz="2850" b="1" spc="-10" dirty="0">
                <a:solidFill>
                  <a:srgbClr val="123D33"/>
                </a:solidFill>
                <a:latin typeface="Tahoma"/>
                <a:cs typeface="Tahoma"/>
              </a:rPr>
              <a:t>discount</a:t>
            </a:r>
            <a:endParaRPr sz="2850">
              <a:latin typeface="Tahoma"/>
              <a:cs typeface="Tahoma"/>
            </a:endParaRPr>
          </a:p>
          <a:p>
            <a:pPr marL="12700" marR="5080">
              <a:lnSpc>
                <a:spcPct val="126699"/>
              </a:lnSpc>
              <a:spcBef>
                <a:spcPts val="595"/>
              </a:spcBef>
            </a:pPr>
            <a:r>
              <a:rPr sz="1850" b="1" spc="-105" dirty="0">
                <a:solidFill>
                  <a:srgbClr val="7B837D"/>
                </a:solidFill>
                <a:latin typeface="Roboto Bk"/>
                <a:cs typeface="Roboto Bk"/>
              </a:rPr>
              <a:t>across</a:t>
            </a:r>
            <a:r>
              <a:rPr sz="1850" b="1" spc="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850" b="1" spc="-165" dirty="0">
                <a:solidFill>
                  <a:srgbClr val="7B837D"/>
                </a:solidFill>
                <a:latin typeface="Roboto Bk"/>
                <a:cs typeface="Roboto Bk"/>
              </a:rPr>
              <a:t>1,094</a:t>
            </a:r>
            <a:r>
              <a:rPr sz="1850" b="1" spc="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850" b="1" spc="-125" dirty="0">
                <a:solidFill>
                  <a:srgbClr val="7B837D"/>
                </a:solidFill>
                <a:latin typeface="Roboto Bk"/>
                <a:cs typeface="Roboto Bk"/>
              </a:rPr>
              <a:t>dining</a:t>
            </a:r>
            <a:r>
              <a:rPr sz="1850" b="1" spc="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850" b="1" spc="-110" dirty="0">
                <a:solidFill>
                  <a:srgbClr val="7B837D"/>
                </a:solidFill>
                <a:latin typeface="Roboto Bk"/>
                <a:cs typeface="Roboto Bk"/>
              </a:rPr>
              <a:t>outlets</a:t>
            </a:r>
            <a:r>
              <a:rPr sz="1850" b="1" spc="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850" b="1" spc="-110" dirty="0">
                <a:solidFill>
                  <a:srgbClr val="7B837D"/>
                </a:solidFill>
                <a:latin typeface="Roboto Bk"/>
                <a:cs typeface="Roboto Bk"/>
              </a:rPr>
              <a:t>carrying</a:t>
            </a:r>
            <a:r>
              <a:rPr sz="1850" b="1" spc="20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850" b="1" spc="-160" dirty="0">
                <a:solidFill>
                  <a:srgbClr val="7B837D"/>
                </a:solidFill>
                <a:latin typeface="Roboto Bk"/>
                <a:cs typeface="Roboto Bk"/>
              </a:rPr>
              <a:t>bank-</a:t>
            </a:r>
            <a:r>
              <a:rPr sz="1850" b="1" spc="-70" dirty="0">
                <a:solidFill>
                  <a:srgbClr val="7B837D"/>
                </a:solidFill>
                <a:latin typeface="Roboto Bk"/>
                <a:cs typeface="Roboto Bk"/>
              </a:rPr>
              <a:t>card </a:t>
            </a:r>
            <a:r>
              <a:rPr sz="1850" b="1" spc="-10" dirty="0">
                <a:solidFill>
                  <a:srgbClr val="7B837D"/>
                </a:solidFill>
                <a:latin typeface="Roboto Bk"/>
                <a:cs typeface="Roboto Bk"/>
              </a:rPr>
              <a:t>offers</a:t>
            </a:r>
            <a:endParaRPr sz="1850">
              <a:latin typeface="Roboto Bk"/>
              <a:cs typeface="Roboto Bk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997675" y="5066184"/>
            <a:ext cx="10471785" cy="4878070"/>
            <a:chOff x="6997675" y="5066184"/>
            <a:chExt cx="10471785" cy="4878070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97675" y="7201719"/>
              <a:ext cx="4292574" cy="194183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766500" y="5066184"/>
              <a:ext cx="5702350" cy="487747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2090350" y="5256683"/>
              <a:ext cx="5055235" cy="4230370"/>
            </a:xfrm>
            <a:custGeom>
              <a:avLst/>
              <a:gdLst/>
              <a:ahLst/>
              <a:cxnLst/>
              <a:rect l="l" t="t" r="r" b="b"/>
              <a:pathLst>
                <a:path w="5055234" h="4230370">
                  <a:moveTo>
                    <a:pt x="4826031" y="4229769"/>
                  </a:moveTo>
                  <a:lnTo>
                    <a:pt x="228618" y="4229769"/>
                  </a:lnTo>
                  <a:lnTo>
                    <a:pt x="182544" y="4225125"/>
                  </a:lnTo>
                  <a:lnTo>
                    <a:pt x="139630" y="4211803"/>
                  </a:lnTo>
                  <a:lnTo>
                    <a:pt x="100795" y="4190725"/>
                  </a:lnTo>
                  <a:lnTo>
                    <a:pt x="66960" y="4162808"/>
                  </a:lnTo>
                  <a:lnTo>
                    <a:pt x="39044" y="4128973"/>
                  </a:lnTo>
                  <a:lnTo>
                    <a:pt x="17966" y="4090139"/>
                  </a:lnTo>
                  <a:lnTo>
                    <a:pt x="4644" y="4047225"/>
                  </a:lnTo>
                  <a:lnTo>
                    <a:pt x="0" y="4001150"/>
                  </a:lnTo>
                  <a:lnTo>
                    <a:pt x="0" y="228618"/>
                  </a:lnTo>
                  <a:lnTo>
                    <a:pt x="4644" y="182544"/>
                  </a:lnTo>
                  <a:lnTo>
                    <a:pt x="17966" y="139630"/>
                  </a:lnTo>
                  <a:lnTo>
                    <a:pt x="39044" y="100795"/>
                  </a:lnTo>
                  <a:lnTo>
                    <a:pt x="66960" y="66960"/>
                  </a:lnTo>
                  <a:lnTo>
                    <a:pt x="100795" y="39044"/>
                  </a:lnTo>
                  <a:lnTo>
                    <a:pt x="139630" y="17966"/>
                  </a:lnTo>
                  <a:lnTo>
                    <a:pt x="182544" y="4644"/>
                  </a:lnTo>
                  <a:lnTo>
                    <a:pt x="228618" y="0"/>
                  </a:lnTo>
                  <a:lnTo>
                    <a:pt x="4826031" y="0"/>
                  </a:lnTo>
                  <a:lnTo>
                    <a:pt x="4870840" y="4433"/>
                  </a:lnTo>
                  <a:lnTo>
                    <a:pt x="4913519" y="17402"/>
                  </a:lnTo>
                  <a:lnTo>
                    <a:pt x="4952868" y="38410"/>
                  </a:lnTo>
                  <a:lnTo>
                    <a:pt x="4987688" y="66960"/>
                  </a:lnTo>
                  <a:lnTo>
                    <a:pt x="5016239" y="101781"/>
                  </a:lnTo>
                  <a:lnTo>
                    <a:pt x="5037247" y="141130"/>
                  </a:lnTo>
                  <a:lnTo>
                    <a:pt x="5050216" y="183809"/>
                  </a:lnTo>
                  <a:lnTo>
                    <a:pt x="5054649" y="228618"/>
                  </a:lnTo>
                  <a:lnTo>
                    <a:pt x="5054649" y="4001150"/>
                  </a:lnTo>
                  <a:lnTo>
                    <a:pt x="5050005" y="4047225"/>
                  </a:lnTo>
                  <a:lnTo>
                    <a:pt x="5036683" y="4090139"/>
                  </a:lnTo>
                  <a:lnTo>
                    <a:pt x="5015605" y="4128973"/>
                  </a:lnTo>
                  <a:lnTo>
                    <a:pt x="4987689" y="4162808"/>
                  </a:lnTo>
                  <a:lnTo>
                    <a:pt x="4953854" y="4190725"/>
                  </a:lnTo>
                  <a:lnTo>
                    <a:pt x="4915019" y="4211803"/>
                  </a:lnTo>
                  <a:lnTo>
                    <a:pt x="4872105" y="4225125"/>
                  </a:lnTo>
                  <a:lnTo>
                    <a:pt x="4826031" y="42297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2477700" y="5376859"/>
            <a:ext cx="4119879" cy="1475740"/>
          </a:xfrm>
          <a:prstGeom prst="rect">
            <a:avLst/>
          </a:prstGeom>
        </p:spPr>
        <p:txBody>
          <a:bodyPr vert="horz" wrap="square" lIns="0" tIns="2374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sz="2850" b="1" spc="-710" dirty="0">
                <a:solidFill>
                  <a:srgbClr val="123D33"/>
                </a:solidFill>
                <a:latin typeface="Tahoma"/>
                <a:cs typeface="Tahoma"/>
              </a:rPr>
              <a:t>&lt;5%</a:t>
            </a:r>
            <a:r>
              <a:rPr sz="2850" b="1" spc="-40" dirty="0">
                <a:solidFill>
                  <a:srgbClr val="123D33"/>
                </a:solidFill>
                <a:latin typeface="Tahoma"/>
                <a:cs typeface="Tahoma"/>
              </a:rPr>
              <a:t> </a:t>
            </a:r>
            <a:r>
              <a:rPr sz="2850" b="1" dirty="0">
                <a:solidFill>
                  <a:srgbClr val="123D33"/>
                </a:solidFill>
                <a:latin typeface="Tahoma"/>
                <a:cs typeface="Tahoma"/>
              </a:rPr>
              <a:t>ever</a:t>
            </a:r>
            <a:r>
              <a:rPr sz="2850" b="1" spc="-155" dirty="0">
                <a:solidFill>
                  <a:srgbClr val="123D33"/>
                </a:solidFill>
                <a:latin typeface="Tahoma"/>
                <a:cs typeface="Tahoma"/>
              </a:rPr>
              <a:t> </a:t>
            </a:r>
            <a:r>
              <a:rPr sz="2850" b="1" spc="-10" dirty="0">
                <a:solidFill>
                  <a:srgbClr val="123D33"/>
                </a:solidFill>
                <a:latin typeface="Tahoma"/>
                <a:cs typeface="Tahoma"/>
              </a:rPr>
              <a:t>redeemed</a:t>
            </a:r>
            <a:endParaRPr sz="2850">
              <a:latin typeface="Tahoma"/>
              <a:cs typeface="Tahoma"/>
            </a:endParaRPr>
          </a:p>
          <a:p>
            <a:pPr marL="12700" marR="5080">
              <a:lnSpc>
                <a:spcPct val="126699"/>
              </a:lnSpc>
              <a:spcBef>
                <a:spcPts val="595"/>
              </a:spcBef>
            </a:pPr>
            <a:r>
              <a:rPr sz="1850" b="1" spc="-95" dirty="0">
                <a:solidFill>
                  <a:srgbClr val="7B837D"/>
                </a:solidFill>
                <a:latin typeface="Roboto Bk"/>
                <a:cs typeface="Roboto Bk"/>
              </a:rPr>
              <a:t>of</a:t>
            </a:r>
            <a:r>
              <a:rPr sz="1850" b="1" spc="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850" b="1" spc="-114" dirty="0">
                <a:solidFill>
                  <a:srgbClr val="7B837D"/>
                </a:solidFill>
                <a:latin typeface="Roboto Bk"/>
                <a:cs typeface="Roboto Bk"/>
              </a:rPr>
              <a:t>the</a:t>
            </a:r>
            <a:r>
              <a:rPr sz="1850" b="1" spc="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850" b="1" spc="-110" dirty="0">
                <a:solidFill>
                  <a:srgbClr val="7B837D"/>
                </a:solidFill>
                <a:latin typeface="Roboto Bk"/>
                <a:cs typeface="Roboto Bk"/>
              </a:rPr>
              <a:t>card</a:t>
            </a:r>
            <a:r>
              <a:rPr sz="1850" b="1" spc="10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850" b="1" spc="-120" dirty="0">
                <a:solidFill>
                  <a:srgbClr val="7B837D"/>
                </a:solidFill>
                <a:latin typeface="Roboto Bk"/>
                <a:cs typeface="Roboto Bk"/>
              </a:rPr>
              <a:t>discounts</a:t>
            </a:r>
            <a:r>
              <a:rPr sz="1850" b="1" spc="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850" b="1" spc="-114" dirty="0">
                <a:solidFill>
                  <a:srgbClr val="7B837D"/>
                </a:solidFill>
                <a:latin typeface="Roboto Bk"/>
                <a:cs typeface="Roboto Bk"/>
              </a:rPr>
              <a:t>people</a:t>
            </a:r>
            <a:r>
              <a:rPr sz="1850" b="1" spc="10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850" b="1" spc="-120" dirty="0">
                <a:solidFill>
                  <a:srgbClr val="7B837D"/>
                </a:solidFill>
                <a:latin typeface="Roboto Bk"/>
                <a:cs typeface="Roboto Bk"/>
              </a:rPr>
              <a:t>already</a:t>
            </a:r>
            <a:r>
              <a:rPr sz="1850" b="1" spc="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850" b="1" spc="-75" dirty="0">
                <a:solidFill>
                  <a:srgbClr val="7B837D"/>
                </a:solidFill>
                <a:latin typeface="Roboto Bk"/>
                <a:cs typeface="Roboto Bk"/>
              </a:rPr>
              <a:t>qualify </a:t>
            </a:r>
            <a:r>
              <a:rPr sz="1850" b="1" spc="-25" dirty="0">
                <a:solidFill>
                  <a:srgbClr val="7B837D"/>
                </a:solidFill>
                <a:latin typeface="Roboto Bk"/>
                <a:cs typeface="Roboto Bk"/>
              </a:rPr>
              <a:t>for</a:t>
            </a:r>
            <a:endParaRPr sz="1850">
              <a:latin typeface="Roboto Bk"/>
              <a:cs typeface="Roboto Bk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2471350" y="7201644"/>
            <a:ext cx="5215890" cy="2628265"/>
            <a:chOff x="12471350" y="7201644"/>
            <a:chExt cx="5215890" cy="2628265"/>
          </a:xfrm>
        </p:grpSpPr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471350" y="7201644"/>
              <a:ext cx="4292649" cy="194190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810925" y="8953499"/>
              <a:ext cx="876299" cy="876299"/>
            </a:xfrm>
            <a:prstGeom prst="rect">
              <a:avLst/>
            </a:prstGeom>
          </p:spPr>
        </p:pic>
      </p:grp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89"/>
              </a:lnSpc>
            </a:pPr>
            <a:r>
              <a:rPr spc="-145" dirty="0"/>
              <a:t>FLUSAI</a:t>
            </a:r>
            <a:r>
              <a:rPr dirty="0"/>
              <a:t> </a:t>
            </a:r>
            <a:r>
              <a:rPr spc="-120" dirty="0"/>
              <a:t>·</a:t>
            </a:r>
            <a:r>
              <a:rPr spc="-5" dirty="0"/>
              <a:t> </a:t>
            </a:r>
            <a:r>
              <a:rPr spc="-120" dirty="0"/>
              <a:t>NIC</a:t>
            </a:r>
            <a:r>
              <a:rPr spc="-5" dirty="0"/>
              <a:t> </a:t>
            </a:r>
            <a:r>
              <a:rPr spc="-135" dirty="0"/>
              <a:t>KARACHI</a:t>
            </a:r>
            <a:r>
              <a:rPr spc="5" dirty="0"/>
              <a:t> </a:t>
            </a:r>
            <a:r>
              <a:rPr spc="-95" dirty="0"/>
              <a:t>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12700" marR="5080">
              <a:lnSpc>
                <a:spcPts val="4920"/>
              </a:lnSpc>
              <a:spcBef>
                <a:spcPts val="665"/>
              </a:spcBef>
            </a:pPr>
            <a:r>
              <a:rPr spc="-155" dirty="0"/>
              <a:t>An</a:t>
            </a:r>
            <a:r>
              <a:rPr spc="-175" dirty="0"/>
              <a:t> </a:t>
            </a:r>
            <a:r>
              <a:rPr dirty="0"/>
              <a:t>app</a:t>
            </a:r>
            <a:r>
              <a:rPr spc="-240" dirty="0"/>
              <a:t> </a:t>
            </a:r>
            <a:r>
              <a:rPr dirty="0"/>
              <a:t>that</a:t>
            </a:r>
            <a:r>
              <a:rPr spc="-160" dirty="0"/>
              <a:t> </a:t>
            </a:r>
            <a:r>
              <a:rPr spc="-105" dirty="0"/>
              <a:t>holds</a:t>
            </a:r>
            <a:r>
              <a:rPr spc="-160" dirty="0"/>
              <a:t> </a:t>
            </a:r>
            <a:r>
              <a:rPr dirty="0"/>
              <a:t>every</a:t>
            </a:r>
            <a:r>
              <a:rPr spc="-160" dirty="0"/>
              <a:t> </a:t>
            </a:r>
            <a:r>
              <a:rPr dirty="0"/>
              <a:t>card</a:t>
            </a:r>
            <a:r>
              <a:rPr spc="-160" dirty="0"/>
              <a:t> </a:t>
            </a:r>
            <a:r>
              <a:rPr dirty="0"/>
              <a:t>you</a:t>
            </a:r>
            <a:r>
              <a:rPr spc="-165" dirty="0"/>
              <a:t> </a:t>
            </a:r>
            <a:r>
              <a:rPr spc="-260" dirty="0"/>
              <a:t>own</a:t>
            </a:r>
            <a:r>
              <a:rPr spc="-65" dirty="0"/>
              <a:t> </a:t>
            </a:r>
            <a:r>
              <a:rPr dirty="0"/>
              <a:t>and</a:t>
            </a:r>
            <a:r>
              <a:rPr spc="-160" dirty="0"/>
              <a:t> </a:t>
            </a:r>
            <a:r>
              <a:rPr spc="-70" dirty="0"/>
              <a:t>tells</a:t>
            </a:r>
            <a:r>
              <a:rPr spc="-160" dirty="0"/>
              <a:t> </a:t>
            </a:r>
            <a:r>
              <a:rPr spc="-25" dirty="0"/>
              <a:t>you </a:t>
            </a:r>
            <a:r>
              <a:rPr spc="-300" dirty="0"/>
              <a:t>which</a:t>
            </a:r>
            <a:r>
              <a:rPr spc="-60" dirty="0"/>
              <a:t> </a:t>
            </a:r>
            <a:r>
              <a:rPr dirty="0"/>
              <a:t>one</a:t>
            </a:r>
            <a:r>
              <a:rPr spc="-240" dirty="0"/>
              <a:t> </a:t>
            </a:r>
            <a:r>
              <a:rPr dirty="0"/>
              <a:t>to</a:t>
            </a:r>
            <a:r>
              <a:rPr spc="-145" dirty="0"/>
              <a:t> </a:t>
            </a:r>
            <a:r>
              <a:rPr spc="-25" dirty="0"/>
              <a:t>tap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19150" y="2579340"/>
            <a:ext cx="5575300" cy="6882765"/>
            <a:chOff x="819150" y="2579340"/>
            <a:chExt cx="5575300" cy="6882765"/>
          </a:xfrm>
        </p:grpSpPr>
        <p:sp>
          <p:nvSpPr>
            <p:cNvPr id="4" name="object 4"/>
            <p:cNvSpPr/>
            <p:nvPr/>
          </p:nvSpPr>
          <p:spPr>
            <a:xfrm>
              <a:off x="1142999" y="2579340"/>
              <a:ext cx="876300" cy="85725"/>
            </a:xfrm>
            <a:custGeom>
              <a:avLst/>
              <a:gdLst/>
              <a:ahLst/>
              <a:cxnLst/>
              <a:rect l="l" t="t" r="r" b="b"/>
              <a:pathLst>
                <a:path w="876300" h="85725">
                  <a:moveTo>
                    <a:pt x="876299" y="85724"/>
                  </a:moveTo>
                  <a:lnTo>
                    <a:pt x="0" y="85724"/>
                  </a:lnTo>
                  <a:lnTo>
                    <a:pt x="0" y="0"/>
                  </a:lnTo>
                  <a:lnTo>
                    <a:pt x="876299" y="0"/>
                  </a:lnTo>
                  <a:lnTo>
                    <a:pt x="876299" y="85724"/>
                  </a:lnTo>
                  <a:close/>
                </a:path>
              </a:pathLst>
            </a:custGeom>
            <a:solidFill>
              <a:srgbClr val="E1E3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150" y="3160365"/>
              <a:ext cx="5575250" cy="630153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42999" y="3350865"/>
              <a:ext cx="4927600" cy="5654040"/>
            </a:xfrm>
            <a:custGeom>
              <a:avLst/>
              <a:gdLst/>
              <a:ahLst/>
              <a:cxnLst/>
              <a:rect l="l" t="t" r="r" b="b"/>
              <a:pathLst>
                <a:path w="4927600" h="5654040">
                  <a:moveTo>
                    <a:pt x="4679891" y="5653831"/>
                  </a:moveTo>
                  <a:lnTo>
                    <a:pt x="247658" y="5653831"/>
                  </a:lnTo>
                  <a:lnTo>
                    <a:pt x="197746" y="5648800"/>
                  </a:lnTo>
                  <a:lnTo>
                    <a:pt x="151258" y="5634369"/>
                  </a:lnTo>
                  <a:lnTo>
                    <a:pt x="109190" y="5611535"/>
                  </a:lnTo>
                  <a:lnTo>
                    <a:pt x="72537" y="5581294"/>
                  </a:lnTo>
                  <a:lnTo>
                    <a:pt x="42296" y="5544641"/>
                  </a:lnTo>
                  <a:lnTo>
                    <a:pt x="19462" y="5502573"/>
                  </a:lnTo>
                  <a:lnTo>
                    <a:pt x="5031" y="5456085"/>
                  </a:lnTo>
                  <a:lnTo>
                    <a:pt x="0" y="5406173"/>
                  </a:lnTo>
                  <a:lnTo>
                    <a:pt x="0" y="247658"/>
                  </a:lnTo>
                  <a:lnTo>
                    <a:pt x="5031" y="197746"/>
                  </a:lnTo>
                  <a:lnTo>
                    <a:pt x="19462" y="151258"/>
                  </a:lnTo>
                  <a:lnTo>
                    <a:pt x="42296" y="109190"/>
                  </a:lnTo>
                  <a:lnTo>
                    <a:pt x="72537" y="72537"/>
                  </a:lnTo>
                  <a:lnTo>
                    <a:pt x="109190" y="42296"/>
                  </a:lnTo>
                  <a:lnTo>
                    <a:pt x="151258" y="19462"/>
                  </a:lnTo>
                  <a:lnTo>
                    <a:pt x="197746" y="5031"/>
                  </a:lnTo>
                  <a:lnTo>
                    <a:pt x="247658" y="0"/>
                  </a:lnTo>
                  <a:lnTo>
                    <a:pt x="4679891" y="0"/>
                  </a:lnTo>
                  <a:lnTo>
                    <a:pt x="4728432" y="4802"/>
                  </a:lnTo>
                  <a:lnTo>
                    <a:pt x="4774666" y="18851"/>
                  </a:lnTo>
                  <a:lnTo>
                    <a:pt x="4817292" y="41609"/>
                  </a:lnTo>
                  <a:lnTo>
                    <a:pt x="4855012" y="72537"/>
                  </a:lnTo>
                  <a:lnTo>
                    <a:pt x="4885940" y="110257"/>
                  </a:lnTo>
                  <a:lnTo>
                    <a:pt x="4908698" y="152883"/>
                  </a:lnTo>
                  <a:lnTo>
                    <a:pt x="4922747" y="199117"/>
                  </a:lnTo>
                  <a:lnTo>
                    <a:pt x="4927549" y="247658"/>
                  </a:lnTo>
                  <a:lnTo>
                    <a:pt x="4927549" y="5406173"/>
                  </a:lnTo>
                  <a:lnTo>
                    <a:pt x="4922518" y="5456085"/>
                  </a:lnTo>
                  <a:lnTo>
                    <a:pt x="4908087" y="5502573"/>
                  </a:lnTo>
                  <a:lnTo>
                    <a:pt x="4885253" y="5544641"/>
                  </a:lnTo>
                  <a:lnTo>
                    <a:pt x="4855012" y="5581294"/>
                  </a:lnTo>
                  <a:lnTo>
                    <a:pt x="4818359" y="5611535"/>
                  </a:lnTo>
                  <a:lnTo>
                    <a:pt x="4776291" y="5634369"/>
                  </a:lnTo>
                  <a:lnTo>
                    <a:pt x="4729803" y="5648800"/>
                  </a:lnTo>
                  <a:lnTo>
                    <a:pt x="4679891" y="56538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62099" y="3789015"/>
              <a:ext cx="704850" cy="704850"/>
            </a:xfrm>
            <a:custGeom>
              <a:avLst/>
              <a:gdLst/>
              <a:ahLst/>
              <a:cxnLst/>
              <a:rect l="l" t="t" r="r" b="b"/>
              <a:pathLst>
                <a:path w="704850" h="704850">
                  <a:moveTo>
                    <a:pt x="352424" y="704849"/>
                  </a:moveTo>
                  <a:lnTo>
                    <a:pt x="304603" y="701632"/>
                  </a:lnTo>
                  <a:lnTo>
                    <a:pt x="258736" y="692261"/>
                  </a:lnTo>
                  <a:lnTo>
                    <a:pt x="215245" y="677154"/>
                  </a:lnTo>
                  <a:lnTo>
                    <a:pt x="174549" y="656733"/>
                  </a:lnTo>
                  <a:lnTo>
                    <a:pt x="137068" y="631417"/>
                  </a:lnTo>
                  <a:lnTo>
                    <a:pt x="103222" y="601627"/>
                  </a:lnTo>
                  <a:lnTo>
                    <a:pt x="73432" y="567781"/>
                  </a:lnTo>
                  <a:lnTo>
                    <a:pt x="48116" y="530300"/>
                  </a:lnTo>
                  <a:lnTo>
                    <a:pt x="27695" y="489604"/>
                  </a:lnTo>
                  <a:lnTo>
                    <a:pt x="12588" y="446113"/>
                  </a:lnTo>
                  <a:lnTo>
                    <a:pt x="3217" y="400246"/>
                  </a:lnTo>
                  <a:lnTo>
                    <a:pt x="0" y="352424"/>
                  </a:lnTo>
                  <a:lnTo>
                    <a:pt x="3217" y="304603"/>
                  </a:lnTo>
                  <a:lnTo>
                    <a:pt x="12588" y="258736"/>
                  </a:lnTo>
                  <a:lnTo>
                    <a:pt x="27695" y="215245"/>
                  </a:lnTo>
                  <a:lnTo>
                    <a:pt x="48116" y="174549"/>
                  </a:lnTo>
                  <a:lnTo>
                    <a:pt x="73432" y="137068"/>
                  </a:lnTo>
                  <a:lnTo>
                    <a:pt x="103222" y="103222"/>
                  </a:lnTo>
                  <a:lnTo>
                    <a:pt x="137068" y="73432"/>
                  </a:lnTo>
                  <a:lnTo>
                    <a:pt x="174549" y="48116"/>
                  </a:lnTo>
                  <a:lnTo>
                    <a:pt x="215245" y="27695"/>
                  </a:lnTo>
                  <a:lnTo>
                    <a:pt x="258736" y="12588"/>
                  </a:lnTo>
                  <a:lnTo>
                    <a:pt x="304603" y="3217"/>
                  </a:lnTo>
                  <a:lnTo>
                    <a:pt x="352424" y="0"/>
                  </a:lnTo>
                  <a:lnTo>
                    <a:pt x="398749" y="3056"/>
                  </a:lnTo>
                  <a:lnTo>
                    <a:pt x="443887" y="12074"/>
                  </a:lnTo>
                  <a:lnTo>
                    <a:pt x="487292" y="26826"/>
                  </a:lnTo>
                  <a:lnTo>
                    <a:pt x="528415" y="47086"/>
                  </a:lnTo>
                  <a:lnTo>
                    <a:pt x="566709" y="72627"/>
                  </a:lnTo>
                  <a:lnTo>
                    <a:pt x="601627" y="103222"/>
                  </a:lnTo>
                  <a:lnTo>
                    <a:pt x="632222" y="138140"/>
                  </a:lnTo>
                  <a:lnTo>
                    <a:pt x="657763" y="176434"/>
                  </a:lnTo>
                  <a:lnTo>
                    <a:pt x="678023" y="217557"/>
                  </a:lnTo>
                  <a:lnTo>
                    <a:pt x="692775" y="260962"/>
                  </a:lnTo>
                  <a:lnTo>
                    <a:pt x="701793" y="306100"/>
                  </a:lnTo>
                  <a:lnTo>
                    <a:pt x="704849" y="352424"/>
                  </a:lnTo>
                  <a:lnTo>
                    <a:pt x="701632" y="400246"/>
                  </a:lnTo>
                  <a:lnTo>
                    <a:pt x="692261" y="446113"/>
                  </a:lnTo>
                  <a:lnTo>
                    <a:pt x="677154" y="489604"/>
                  </a:lnTo>
                  <a:lnTo>
                    <a:pt x="656733" y="530300"/>
                  </a:lnTo>
                  <a:lnTo>
                    <a:pt x="631417" y="567781"/>
                  </a:lnTo>
                  <a:lnTo>
                    <a:pt x="601627" y="601627"/>
                  </a:lnTo>
                  <a:lnTo>
                    <a:pt x="567781" y="631417"/>
                  </a:lnTo>
                  <a:lnTo>
                    <a:pt x="530300" y="656733"/>
                  </a:lnTo>
                  <a:lnTo>
                    <a:pt x="489604" y="677154"/>
                  </a:lnTo>
                  <a:lnTo>
                    <a:pt x="446113" y="692261"/>
                  </a:lnTo>
                  <a:lnTo>
                    <a:pt x="400246" y="701632"/>
                  </a:lnTo>
                  <a:lnTo>
                    <a:pt x="352424" y="704849"/>
                  </a:lnTo>
                  <a:close/>
                </a:path>
              </a:pathLst>
            </a:custGeom>
            <a:solidFill>
              <a:srgbClr val="188C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838836" y="3940526"/>
            <a:ext cx="151765" cy="414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b="1" spc="-685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25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68450" y="4778131"/>
            <a:ext cx="4186554" cy="175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-20" dirty="0">
                <a:solidFill>
                  <a:srgbClr val="123D33"/>
                </a:solidFill>
                <a:latin typeface="Tahoma"/>
                <a:cs typeface="Tahoma"/>
              </a:rPr>
              <a:t>Scan</a:t>
            </a:r>
            <a:r>
              <a:rPr sz="2700" b="1" spc="-155" dirty="0">
                <a:solidFill>
                  <a:srgbClr val="123D33"/>
                </a:solidFill>
                <a:latin typeface="Tahoma"/>
                <a:cs typeface="Tahoma"/>
              </a:rPr>
              <a:t> </a:t>
            </a:r>
            <a:r>
              <a:rPr sz="2700" b="1" dirty="0">
                <a:solidFill>
                  <a:srgbClr val="123D33"/>
                </a:solidFill>
                <a:latin typeface="Tahoma"/>
                <a:cs typeface="Tahoma"/>
              </a:rPr>
              <a:t>your</a:t>
            </a:r>
            <a:r>
              <a:rPr sz="2700" b="1" spc="-150" dirty="0">
                <a:solidFill>
                  <a:srgbClr val="123D33"/>
                </a:solidFill>
                <a:latin typeface="Tahoma"/>
                <a:cs typeface="Tahoma"/>
              </a:rPr>
              <a:t> </a:t>
            </a:r>
            <a:r>
              <a:rPr sz="2700" b="1" dirty="0">
                <a:solidFill>
                  <a:srgbClr val="123D33"/>
                </a:solidFill>
                <a:latin typeface="Tahoma"/>
                <a:cs typeface="Tahoma"/>
              </a:rPr>
              <a:t>cards</a:t>
            </a:r>
            <a:r>
              <a:rPr sz="2700" b="1" spc="-150" dirty="0">
                <a:solidFill>
                  <a:srgbClr val="123D33"/>
                </a:solidFill>
                <a:latin typeface="Tahoma"/>
                <a:cs typeface="Tahoma"/>
              </a:rPr>
              <a:t> </a:t>
            </a:r>
            <a:r>
              <a:rPr sz="2700" b="1" spc="-25" dirty="0">
                <a:solidFill>
                  <a:srgbClr val="123D33"/>
                </a:solidFill>
                <a:latin typeface="Tahoma"/>
                <a:cs typeface="Tahoma"/>
              </a:rPr>
              <a:t>in</a:t>
            </a:r>
            <a:endParaRPr sz="2700">
              <a:latin typeface="Tahoma"/>
              <a:cs typeface="Tahoma"/>
            </a:endParaRPr>
          </a:p>
          <a:p>
            <a:pPr marL="12700" marR="5080">
              <a:lnSpc>
                <a:spcPct val="134500"/>
              </a:lnSpc>
              <a:spcBef>
                <a:spcPts val="675"/>
              </a:spcBef>
            </a:pPr>
            <a:r>
              <a:rPr sz="2000" b="1" spc="-160" dirty="0">
                <a:solidFill>
                  <a:srgbClr val="343431"/>
                </a:solidFill>
                <a:latin typeface="Roboto Bk"/>
                <a:cs typeface="Roboto Bk"/>
              </a:rPr>
              <a:t>Any</a:t>
            </a:r>
            <a:r>
              <a:rPr sz="2000" b="1" spc="-2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000" b="1" spc="-160" dirty="0">
                <a:solidFill>
                  <a:srgbClr val="343431"/>
                </a:solidFill>
                <a:latin typeface="Roboto Bk"/>
                <a:cs typeface="Roboto Bk"/>
              </a:rPr>
              <a:t>bank,</a:t>
            </a:r>
            <a:r>
              <a:rPr sz="2000" b="1" spc="-1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000" b="1" spc="-160" dirty="0">
                <a:solidFill>
                  <a:srgbClr val="343431"/>
                </a:solidFill>
                <a:latin typeface="Roboto Bk"/>
                <a:cs typeface="Roboto Bk"/>
              </a:rPr>
              <a:t>any</a:t>
            </a:r>
            <a:r>
              <a:rPr sz="2000" b="1" spc="-1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000" b="1" spc="-150" dirty="0">
                <a:solidFill>
                  <a:srgbClr val="343431"/>
                </a:solidFill>
                <a:latin typeface="Roboto Bk"/>
                <a:cs typeface="Roboto Bk"/>
              </a:rPr>
              <a:t>number</a:t>
            </a:r>
            <a:r>
              <a:rPr sz="2000" b="1" spc="-1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000" b="1" spc="-95" dirty="0">
                <a:solidFill>
                  <a:srgbClr val="343431"/>
                </a:solidFill>
                <a:latin typeface="Roboto Bk"/>
                <a:cs typeface="Roboto Bk"/>
              </a:rPr>
              <a:t>of</a:t>
            </a:r>
            <a:r>
              <a:rPr sz="2000" b="1" spc="-1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000" b="1" spc="-165" dirty="0">
                <a:solidFill>
                  <a:srgbClr val="343431"/>
                </a:solidFill>
                <a:latin typeface="Roboto Bk"/>
                <a:cs typeface="Roboto Bk"/>
              </a:rPr>
              <a:t>them,</a:t>
            </a:r>
            <a:r>
              <a:rPr sz="2000" b="1" spc="-1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000" b="1" spc="-120" dirty="0">
                <a:solidFill>
                  <a:srgbClr val="343431"/>
                </a:solidFill>
                <a:latin typeface="Roboto Bk"/>
                <a:cs typeface="Roboto Bk"/>
              </a:rPr>
              <a:t>once.</a:t>
            </a:r>
            <a:r>
              <a:rPr sz="2000" b="1" spc="-4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000" b="1" spc="-35" dirty="0">
                <a:solidFill>
                  <a:srgbClr val="343431"/>
                </a:solidFill>
                <a:latin typeface="Roboto Bk"/>
                <a:cs typeface="Roboto Bk"/>
              </a:rPr>
              <a:t>The </a:t>
            </a:r>
            <a:r>
              <a:rPr sz="2000" b="1" spc="-125" dirty="0">
                <a:solidFill>
                  <a:srgbClr val="343431"/>
                </a:solidFill>
                <a:latin typeface="Roboto Bk"/>
                <a:cs typeface="Roboto Bk"/>
              </a:rPr>
              <a:t>scanner</a:t>
            </a:r>
            <a:r>
              <a:rPr sz="2000" b="1" spc="-1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000" b="1" spc="-105" dirty="0">
                <a:solidFill>
                  <a:srgbClr val="343431"/>
                </a:solidFill>
                <a:latin typeface="Roboto Bk"/>
                <a:cs typeface="Roboto Bk"/>
              </a:rPr>
              <a:t>is</a:t>
            </a:r>
            <a:r>
              <a:rPr sz="2000" b="1" spc="-1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000" b="1" spc="-125" dirty="0">
                <a:solidFill>
                  <a:srgbClr val="343431"/>
                </a:solidFill>
                <a:latin typeface="Roboto Bk"/>
                <a:cs typeface="Roboto Bk"/>
              </a:rPr>
              <a:t>built</a:t>
            </a:r>
            <a:r>
              <a:rPr sz="2000" b="1" spc="-1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000" b="1" spc="-155" dirty="0">
                <a:solidFill>
                  <a:srgbClr val="343431"/>
                </a:solidFill>
                <a:latin typeface="Roboto Bk"/>
                <a:cs typeface="Roboto Bk"/>
              </a:rPr>
              <a:t>in,</a:t>
            </a:r>
            <a:r>
              <a:rPr sz="2000" b="1" spc="-1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000" b="1" spc="-110" dirty="0">
                <a:solidFill>
                  <a:srgbClr val="343431"/>
                </a:solidFill>
                <a:latin typeface="Roboto Bk"/>
                <a:cs typeface="Roboto Bk"/>
              </a:rPr>
              <a:t>so</a:t>
            </a:r>
            <a:r>
              <a:rPr sz="2000" b="1" spc="-1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000" b="1" spc="-135" dirty="0">
                <a:solidFill>
                  <a:srgbClr val="343431"/>
                </a:solidFill>
                <a:latin typeface="Roboto Bk"/>
                <a:cs typeface="Roboto Bk"/>
              </a:rPr>
              <a:t>we</a:t>
            </a:r>
            <a:r>
              <a:rPr sz="2000" b="1" spc="-1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000" b="1" spc="-130" dirty="0">
                <a:solidFill>
                  <a:srgbClr val="343431"/>
                </a:solidFill>
                <a:latin typeface="Roboto Bk"/>
                <a:cs typeface="Roboto Bk"/>
              </a:rPr>
              <a:t>need</a:t>
            </a:r>
            <a:r>
              <a:rPr sz="2000" b="1" spc="-1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000" b="1" spc="-145" dirty="0">
                <a:solidFill>
                  <a:srgbClr val="343431"/>
                </a:solidFill>
                <a:latin typeface="Roboto Bk"/>
                <a:cs typeface="Roboto Bk"/>
              </a:rPr>
              <a:t>no</a:t>
            </a:r>
            <a:r>
              <a:rPr sz="2000" b="1" spc="-1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000" b="1" spc="-20" dirty="0">
                <a:solidFill>
                  <a:srgbClr val="343431"/>
                </a:solidFill>
                <a:latin typeface="Roboto Bk"/>
                <a:cs typeface="Roboto Bk"/>
              </a:rPr>
              <a:t>bank </a:t>
            </a:r>
            <a:r>
              <a:rPr sz="2000" b="1" spc="-120" dirty="0">
                <a:solidFill>
                  <a:srgbClr val="343431"/>
                </a:solidFill>
                <a:latin typeface="Roboto Bk"/>
                <a:cs typeface="Roboto Bk"/>
              </a:rPr>
              <a:t>integration</a:t>
            </a:r>
            <a:r>
              <a:rPr sz="2000" b="1" spc="-4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000" b="1" spc="-120" dirty="0">
                <a:solidFill>
                  <a:srgbClr val="343431"/>
                </a:solidFill>
                <a:latin typeface="Roboto Bk"/>
                <a:cs typeface="Roboto Bk"/>
              </a:rPr>
              <a:t>to</a:t>
            </a:r>
            <a:r>
              <a:rPr sz="2000" b="1" spc="-3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000" b="1" spc="-20" dirty="0">
                <a:solidFill>
                  <a:srgbClr val="343431"/>
                </a:solidFill>
                <a:latin typeface="Roboto Bk"/>
                <a:cs typeface="Roboto Bk"/>
              </a:rPr>
              <a:t>work.</a:t>
            </a:r>
            <a:endParaRPr sz="2000">
              <a:latin typeface="Roboto Bk"/>
              <a:cs typeface="Roboto Bk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562100" y="3160365"/>
            <a:ext cx="10369550" cy="6301740"/>
            <a:chOff x="1562100" y="3160365"/>
            <a:chExt cx="10369550" cy="630174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2100" y="7331571"/>
              <a:ext cx="4089349" cy="125402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84850" y="5987280"/>
              <a:ext cx="380999" cy="3809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56300" y="3160365"/>
              <a:ext cx="5575325" cy="630153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680150" y="3350864"/>
              <a:ext cx="4928235" cy="5654040"/>
            </a:xfrm>
            <a:custGeom>
              <a:avLst/>
              <a:gdLst/>
              <a:ahLst/>
              <a:cxnLst/>
              <a:rect l="l" t="t" r="r" b="b"/>
              <a:pathLst>
                <a:path w="4928234" h="5654040">
                  <a:moveTo>
                    <a:pt x="4679962" y="5653831"/>
                  </a:moveTo>
                  <a:lnTo>
                    <a:pt x="247662" y="5653831"/>
                  </a:lnTo>
                  <a:lnTo>
                    <a:pt x="197749" y="5648800"/>
                  </a:lnTo>
                  <a:lnTo>
                    <a:pt x="151260" y="5634369"/>
                  </a:lnTo>
                  <a:lnTo>
                    <a:pt x="109191" y="5611535"/>
                  </a:lnTo>
                  <a:lnTo>
                    <a:pt x="72538" y="5581293"/>
                  </a:lnTo>
                  <a:lnTo>
                    <a:pt x="42296" y="5544640"/>
                  </a:lnTo>
                  <a:lnTo>
                    <a:pt x="19462" y="5502571"/>
                  </a:lnTo>
                  <a:lnTo>
                    <a:pt x="5031" y="5456082"/>
                  </a:lnTo>
                  <a:lnTo>
                    <a:pt x="0" y="5406169"/>
                  </a:lnTo>
                  <a:lnTo>
                    <a:pt x="0" y="247662"/>
                  </a:lnTo>
                  <a:lnTo>
                    <a:pt x="5031" y="197749"/>
                  </a:lnTo>
                  <a:lnTo>
                    <a:pt x="19462" y="151261"/>
                  </a:lnTo>
                  <a:lnTo>
                    <a:pt x="42296" y="109192"/>
                  </a:lnTo>
                  <a:lnTo>
                    <a:pt x="72538" y="72538"/>
                  </a:lnTo>
                  <a:lnTo>
                    <a:pt x="109191" y="42296"/>
                  </a:lnTo>
                  <a:lnTo>
                    <a:pt x="151260" y="19462"/>
                  </a:lnTo>
                  <a:lnTo>
                    <a:pt x="197749" y="5031"/>
                  </a:lnTo>
                  <a:lnTo>
                    <a:pt x="247662" y="0"/>
                  </a:lnTo>
                  <a:lnTo>
                    <a:pt x="4679962" y="0"/>
                  </a:lnTo>
                  <a:lnTo>
                    <a:pt x="4728504" y="4802"/>
                  </a:lnTo>
                  <a:lnTo>
                    <a:pt x="4774738" y="18852"/>
                  </a:lnTo>
                  <a:lnTo>
                    <a:pt x="4817365" y="41610"/>
                  </a:lnTo>
                  <a:lnTo>
                    <a:pt x="4855086" y="72538"/>
                  </a:lnTo>
                  <a:lnTo>
                    <a:pt x="4886014" y="110259"/>
                  </a:lnTo>
                  <a:lnTo>
                    <a:pt x="4908772" y="152886"/>
                  </a:lnTo>
                  <a:lnTo>
                    <a:pt x="4922822" y="199120"/>
                  </a:lnTo>
                  <a:lnTo>
                    <a:pt x="4927624" y="247662"/>
                  </a:lnTo>
                  <a:lnTo>
                    <a:pt x="4927624" y="5406169"/>
                  </a:lnTo>
                  <a:lnTo>
                    <a:pt x="4922593" y="5456082"/>
                  </a:lnTo>
                  <a:lnTo>
                    <a:pt x="4908162" y="5502571"/>
                  </a:lnTo>
                  <a:lnTo>
                    <a:pt x="4885328" y="5544640"/>
                  </a:lnTo>
                  <a:lnTo>
                    <a:pt x="4855086" y="5581293"/>
                  </a:lnTo>
                  <a:lnTo>
                    <a:pt x="4818433" y="5611535"/>
                  </a:lnTo>
                  <a:lnTo>
                    <a:pt x="4776364" y="5634369"/>
                  </a:lnTo>
                  <a:lnTo>
                    <a:pt x="4729875" y="5648800"/>
                  </a:lnTo>
                  <a:lnTo>
                    <a:pt x="4679962" y="56538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099250" y="3789014"/>
              <a:ext cx="704850" cy="704850"/>
            </a:xfrm>
            <a:custGeom>
              <a:avLst/>
              <a:gdLst/>
              <a:ahLst/>
              <a:cxnLst/>
              <a:rect l="l" t="t" r="r" b="b"/>
              <a:pathLst>
                <a:path w="704850" h="704850">
                  <a:moveTo>
                    <a:pt x="352424" y="704849"/>
                  </a:moveTo>
                  <a:lnTo>
                    <a:pt x="304603" y="701632"/>
                  </a:lnTo>
                  <a:lnTo>
                    <a:pt x="258736" y="692261"/>
                  </a:lnTo>
                  <a:lnTo>
                    <a:pt x="215245" y="677154"/>
                  </a:lnTo>
                  <a:lnTo>
                    <a:pt x="174549" y="656733"/>
                  </a:lnTo>
                  <a:lnTo>
                    <a:pt x="137068" y="631417"/>
                  </a:lnTo>
                  <a:lnTo>
                    <a:pt x="103222" y="601627"/>
                  </a:lnTo>
                  <a:lnTo>
                    <a:pt x="73432" y="567781"/>
                  </a:lnTo>
                  <a:lnTo>
                    <a:pt x="48116" y="530300"/>
                  </a:lnTo>
                  <a:lnTo>
                    <a:pt x="27695" y="489604"/>
                  </a:lnTo>
                  <a:lnTo>
                    <a:pt x="12588" y="446113"/>
                  </a:lnTo>
                  <a:lnTo>
                    <a:pt x="3217" y="400246"/>
                  </a:lnTo>
                  <a:lnTo>
                    <a:pt x="0" y="352424"/>
                  </a:lnTo>
                  <a:lnTo>
                    <a:pt x="3217" y="304603"/>
                  </a:lnTo>
                  <a:lnTo>
                    <a:pt x="12588" y="258736"/>
                  </a:lnTo>
                  <a:lnTo>
                    <a:pt x="27695" y="215245"/>
                  </a:lnTo>
                  <a:lnTo>
                    <a:pt x="48116" y="174549"/>
                  </a:lnTo>
                  <a:lnTo>
                    <a:pt x="73432" y="137068"/>
                  </a:lnTo>
                  <a:lnTo>
                    <a:pt x="103222" y="103222"/>
                  </a:lnTo>
                  <a:lnTo>
                    <a:pt x="137068" y="73432"/>
                  </a:lnTo>
                  <a:lnTo>
                    <a:pt x="174549" y="48116"/>
                  </a:lnTo>
                  <a:lnTo>
                    <a:pt x="215245" y="27695"/>
                  </a:lnTo>
                  <a:lnTo>
                    <a:pt x="258736" y="12588"/>
                  </a:lnTo>
                  <a:lnTo>
                    <a:pt x="304603" y="3217"/>
                  </a:lnTo>
                  <a:lnTo>
                    <a:pt x="352424" y="0"/>
                  </a:lnTo>
                  <a:lnTo>
                    <a:pt x="398749" y="3056"/>
                  </a:lnTo>
                  <a:lnTo>
                    <a:pt x="443887" y="12074"/>
                  </a:lnTo>
                  <a:lnTo>
                    <a:pt x="487292" y="26826"/>
                  </a:lnTo>
                  <a:lnTo>
                    <a:pt x="528415" y="47086"/>
                  </a:lnTo>
                  <a:lnTo>
                    <a:pt x="566709" y="72627"/>
                  </a:lnTo>
                  <a:lnTo>
                    <a:pt x="601627" y="103222"/>
                  </a:lnTo>
                  <a:lnTo>
                    <a:pt x="632222" y="138140"/>
                  </a:lnTo>
                  <a:lnTo>
                    <a:pt x="657763" y="176434"/>
                  </a:lnTo>
                  <a:lnTo>
                    <a:pt x="678023" y="217557"/>
                  </a:lnTo>
                  <a:lnTo>
                    <a:pt x="692775" y="260962"/>
                  </a:lnTo>
                  <a:lnTo>
                    <a:pt x="701793" y="306100"/>
                  </a:lnTo>
                  <a:lnTo>
                    <a:pt x="704849" y="352424"/>
                  </a:lnTo>
                  <a:lnTo>
                    <a:pt x="701632" y="400246"/>
                  </a:lnTo>
                  <a:lnTo>
                    <a:pt x="692261" y="446113"/>
                  </a:lnTo>
                  <a:lnTo>
                    <a:pt x="677154" y="489604"/>
                  </a:lnTo>
                  <a:lnTo>
                    <a:pt x="656733" y="530300"/>
                  </a:lnTo>
                  <a:lnTo>
                    <a:pt x="631417" y="567781"/>
                  </a:lnTo>
                  <a:lnTo>
                    <a:pt x="601627" y="601627"/>
                  </a:lnTo>
                  <a:lnTo>
                    <a:pt x="567781" y="631417"/>
                  </a:lnTo>
                  <a:lnTo>
                    <a:pt x="530300" y="656733"/>
                  </a:lnTo>
                  <a:lnTo>
                    <a:pt x="489604" y="677154"/>
                  </a:lnTo>
                  <a:lnTo>
                    <a:pt x="446113" y="692261"/>
                  </a:lnTo>
                  <a:lnTo>
                    <a:pt x="400246" y="701632"/>
                  </a:lnTo>
                  <a:lnTo>
                    <a:pt x="352424" y="704849"/>
                  </a:lnTo>
                  <a:close/>
                </a:path>
              </a:pathLst>
            </a:custGeom>
            <a:solidFill>
              <a:srgbClr val="188C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346839" y="3940526"/>
            <a:ext cx="210185" cy="414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b="1" spc="-12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255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05599" y="4778131"/>
            <a:ext cx="3825875" cy="175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123D33"/>
                </a:solidFill>
                <a:latin typeface="Tahoma"/>
                <a:cs typeface="Tahoma"/>
              </a:rPr>
              <a:t>See</a:t>
            </a:r>
            <a:r>
              <a:rPr sz="2700" b="1" spc="-140" dirty="0">
                <a:solidFill>
                  <a:srgbClr val="123D33"/>
                </a:solidFill>
                <a:latin typeface="Tahoma"/>
                <a:cs typeface="Tahoma"/>
              </a:rPr>
              <a:t> </a:t>
            </a:r>
            <a:r>
              <a:rPr sz="2700" b="1" spc="-80" dirty="0">
                <a:solidFill>
                  <a:srgbClr val="123D33"/>
                </a:solidFill>
                <a:latin typeface="Tahoma"/>
                <a:cs typeface="Tahoma"/>
              </a:rPr>
              <a:t>what’s</a:t>
            </a:r>
            <a:r>
              <a:rPr sz="2700" b="1" spc="-120" dirty="0">
                <a:solidFill>
                  <a:srgbClr val="123D33"/>
                </a:solidFill>
                <a:latin typeface="Tahoma"/>
                <a:cs typeface="Tahoma"/>
              </a:rPr>
              <a:t> </a:t>
            </a:r>
            <a:r>
              <a:rPr sz="2700" b="1" dirty="0">
                <a:solidFill>
                  <a:srgbClr val="123D33"/>
                </a:solidFill>
                <a:latin typeface="Tahoma"/>
                <a:cs typeface="Tahoma"/>
              </a:rPr>
              <a:t>near</a:t>
            </a:r>
            <a:r>
              <a:rPr sz="2700" b="1" spc="-125" dirty="0">
                <a:solidFill>
                  <a:srgbClr val="123D33"/>
                </a:solidFill>
                <a:latin typeface="Tahoma"/>
                <a:cs typeface="Tahoma"/>
              </a:rPr>
              <a:t> </a:t>
            </a:r>
            <a:r>
              <a:rPr sz="2700" b="1" spc="-25" dirty="0">
                <a:solidFill>
                  <a:srgbClr val="123D33"/>
                </a:solidFill>
                <a:latin typeface="Tahoma"/>
                <a:cs typeface="Tahoma"/>
              </a:rPr>
              <a:t>you</a:t>
            </a:r>
            <a:endParaRPr sz="2700">
              <a:latin typeface="Tahoma"/>
              <a:cs typeface="Tahoma"/>
            </a:endParaRPr>
          </a:p>
          <a:p>
            <a:pPr marL="12700" marR="5080">
              <a:lnSpc>
                <a:spcPct val="134500"/>
              </a:lnSpc>
              <a:spcBef>
                <a:spcPts val="675"/>
              </a:spcBef>
            </a:pPr>
            <a:r>
              <a:rPr sz="2000" b="1" spc="-120" dirty="0">
                <a:solidFill>
                  <a:srgbClr val="343431"/>
                </a:solidFill>
                <a:latin typeface="Roboto Bk"/>
                <a:cs typeface="Roboto Bk"/>
              </a:rPr>
              <a:t>Offers</a:t>
            </a:r>
            <a:r>
              <a:rPr sz="2000" b="1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000" b="1" spc="-135" dirty="0">
                <a:solidFill>
                  <a:srgbClr val="343431"/>
                </a:solidFill>
                <a:latin typeface="Roboto Bk"/>
                <a:cs typeface="Roboto Bk"/>
              </a:rPr>
              <a:t>around</a:t>
            </a:r>
            <a:r>
              <a:rPr sz="2000" b="1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000" b="1" spc="-175" dirty="0">
                <a:solidFill>
                  <a:srgbClr val="343431"/>
                </a:solidFill>
                <a:latin typeface="Roboto Bk"/>
                <a:cs typeface="Roboto Bk"/>
              </a:rPr>
              <a:t>you,</a:t>
            </a:r>
            <a:r>
              <a:rPr sz="200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000" b="1" spc="-135" dirty="0">
                <a:solidFill>
                  <a:srgbClr val="343431"/>
                </a:solidFill>
                <a:latin typeface="Roboto Bk"/>
                <a:cs typeface="Roboto Bk"/>
              </a:rPr>
              <a:t>matched</a:t>
            </a:r>
            <a:r>
              <a:rPr sz="2000" b="1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000" b="1" spc="-120" dirty="0">
                <a:solidFill>
                  <a:srgbClr val="343431"/>
                </a:solidFill>
                <a:latin typeface="Roboto Bk"/>
                <a:cs typeface="Roboto Bk"/>
              </a:rPr>
              <a:t>to</a:t>
            </a:r>
            <a:r>
              <a:rPr sz="200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000" b="1" spc="-20" dirty="0">
                <a:solidFill>
                  <a:srgbClr val="343431"/>
                </a:solidFill>
                <a:latin typeface="Roboto Bk"/>
                <a:cs typeface="Roboto Bk"/>
              </a:rPr>
              <a:t>your </a:t>
            </a:r>
            <a:r>
              <a:rPr sz="2000" b="1" spc="-120" dirty="0">
                <a:solidFill>
                  <a:srgbClr val="343431"/>
                </a:solidFill>
                <a:latin typeface="Roboto Bk"/>
                <a:cs typeface="Roboto Bk"/>
              </a:rPr>
              <a:t>wallet</a:t>
            </a:r>
            <a:r>
              <a:rPr sz="2000" b="1" spc="-1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000" b="1" spc="-280" dirty="0">
                <a:solidFill>
                  <a:srgbClr val="343431"/>
                </a:solidFill>
                <a:latin typeface="Roboto Bk"/>
                <a:cs typeface="Roboto Bk"/>
              </a:rPr>
              <a:t>—</a:t>
            </a:r>
            <a:r>
              <a:rPr sz="200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000" b="1" spc="-135" dirty="0">
                <a:solidFill>
                  <a:srgbClr val="343431"/>
                </a:solidFill>
                <a:latin typeface="Roboto Bk"/>
                <a:cs typeface="Roboto Bk"/>
              </a:rPr>
              <a:t>we</a:t>
            </a:r>
            <a:r>
              <a:rPr sz="2000" b="1" spc="-1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000" b="1" spc="-150" dirty="0">
                <a:solidFill>
                  <a:srgbClr val="343431"/>
                </a:solidFill>
                <a:latin typeface="Roboto Bk"/>
                <a:cs typeface="Roboto Bk"/>
              </a:rPr>
              <a:t>name</a:t>
            </a:r>
            <a:r>
              <a:rPr sz="200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000" b="1" spc="-135" dirty="0">
                <a:solidFill>
                  <a:srgbClr val="343431"/>
                </a:solidFill>
                <a:latin typeface="Roboto Bk"/>
                <a:cs typeface="Roboto Bk"/>
              </a:rPr>
              <a:t>the</a:t>
            </a:r>
            <a:r>
              <a:rPr sz="2000" b="1" spc="-1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000" b="1" spc="-145" dirty="0">
                <a:solidFill>
                  <a:srgbClr val="343431"/>
                </a:solidFill>
                <a:latin typeface="Roboto Bk"/>
                <a:cs typeface="Roboto Bk"/>
              </a:rPr>
              <a:t>speciﬁc</a:t>
            </a:r>
            <a:r>
              <a:rPr sz="2000" b="1" spc="-1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000" b="1" spc="-114" dirty="0">
                <a:solidFill>
                  <a:srgbClr val="343431"/>
                </a:solidFill>
                <a:latin typeface="Roboto Bk"/>
                <a:cs typeface="Roboto Bk"/>
              </a:rPr>
              <a:t>card</a:t>
            </a:r>
            <a:r>
              <a:rPr sz="2000" b="1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000" b="1" spc="-25" dirty="0">
                <a:solidFill>
                  <a:srgbClr val="343431"/>
                </a:solidFill>
                <a:latin typeface="Roboto Bk"/>
                <a:cs typeface="Roboto Bk"/>
              </a:rPr>
              <a:t>of </a:t>
            </a:r>
            <a:r>
              <a:rPr sz="2000" b="1" spc="-145" dirty="0">
                <a:solidFill>
                  <a:srgbClr val="343431"/>
                </a:solidFill>
                <a:latin typeface="Roboto Bk"/>
                <a:cs typeface="Roboto Bk"/>
              </a:rPr>
              <a:t>yours</a:t>
            </a:r>
            <a:r>
              <a:rPr sz="2000" b="1" spc="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000" b="1" spc="-130" dirty="0">
                <a:solidFill>
                  <a:srgbClr val="343431"/>
                </a:solidFill>
                <a:latin typeface="Roboto Bk"/>
                <a:cs typeface="Roboto Bk"/>
              </a:rPr>
              <a:t>that</a:t>
            </a:r>
            <a:r>
              <a:rPr sz="200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000" b="1" spc="-150" dirty="0">
                <a:solidFill>
                  <a:srgbClr val="343431"/>
                </a:solidFill>
                <a:latin typeface="Roboto Bk"/>
                <a:cs typeface="Roboto Bk"/>
              </a:rPr>
              <a:t>qualiﬁes,</a:t>
            </a:r>
            <a:r>
              <a:rPr sz="2000" b="1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000" b="1" spc="-120" dirty="0">
                <a:solidFill>
                  <a:srgbClr val="343431"/>
                </a:solidFill>
                <a:latin typeface="Roboto Bk"/>
                <a:cs typeface="Roboto Bk"/>
              </a:rPr>
              <a:t>before</a:t>
            </a:r>
            <a:r>
              <a:rPr sz="2000" b="1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000" b="1" spc="-165" dirty="0">
                <a:solidFill>
                  <a:srgbClr val="343431"/>
                </a:solidFill>
                <a:latin typeface="Roboto Bk"/>
                <a:cs typeface="Roboto Bk"/>
              </a:rPr>
              <a:t>you</a:t>
            </a:r>
            <a:r>
              <a:rPr sz="2000" b="1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000" b="1" spc="-20" dirty="0">
                <a:solidFill>
                  <a:srgbClr val="343431"/>
                </a:solidFill>
                <a:latin typeface="Roboto Bk"/>
                <a:cs typeface="Roboto Bk"/>
              </a:rPr>
              <a:t>pay.</a:t>
            </a:r>
            <a:endParaRPr sz="2000">
              <a:latin typeface="Roboto Bk"/>
              <a:cs typeface="Roboto Bk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099250" y="3160365"/>
            <a:ext cx="10369550" cy="6301740"/>
            <a:chOff x="7099250" y="3160365"/>
            <a:chExt cx="10369550" cy="6301740"/>
          </a:xfrm>
        </p:grpSpPr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99250" y="7331571"/>
              <a:ext cx="4089424" cy="125402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22075" y="5987280"/>
              <a:ext cx="380999" cy="38099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893525" y="3160365"/>
              <a:ext cx="5575250" cy="630153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2217375" y="3350864"/>
              <a:ext cx="4927600" cy="5654040"/>
            </a:xfrm>
            <a:custGeom>
              <a:avLst/>
              <a:gdLst/>
              <a:ahLst/>
              <a:cxnLst/>
              <a:rect l="l" t="t" r="r" b="b"/>
              <a:pathLst>
                <a:path w="4927600" h="5654040">
                  <a:moveTo>
                    <a:pt x="4679889" y="5653831"/>
                  </a:moveTo>
                  <a:lnTo>
                    <a:pt x="247658" y="5653831"/>
                  </a:lnTo>
                  <a:lnTo>
                    <a:pt x="197746" y="5648800"/>
                  </a:lnTo>
                  <a:lnTo>
                    <a:pt x="151258" y="5634369"/>
                  </a:lnTo>
                  <a:lnTo>
                    <a:pt x="109190" y="5611535"/>
                  </a:lnTo>
                  <a:lnTo>
                    <a:pt x="72537" y="5581294"/>
                  </a:lnTo>
                  <a:lnTo>
                    <a:pt x="42296" y="5544641"/>
                  </a:lnTo>
                  <a:lnTo>
                    <a:pt x="19462" y="5502573"/>
                  </a:lnTo>
                  <a:lnTo>
                    <a:pt x="5031" y="5456085"/>
                  </a:lnTo>
                  <a:lnTo>
                    <a:pt x="0" y="5406173"/>
                  </a:lnTo>
                  <a:lnTo>
                    <a:pt x="0" y="247658"/>
                  </a:lnTo>
                  <a:lnTo>
                    <a:pt x="5031" y="197746"/>
                  </a:lnTo>
                  <a:lnTo>
                    <a:pt x="19462" y="151258"/>
                  </a:lnTo>
                  <a:lnTo>
                    <a:pt x="42296" y="109190"/>
                  </a:lnTo>
                  <a:lnTo>
                    <a:pt x="72537" y="72537"/>
                  </a:lnTo>
                  <a:lnTo>
                    <a:pt x="109190" y="42296"/>
                  </a:lnTo>
                  <a:lnTo>
                    <a:pt x="151258" y="19462"/>
                  </a:lnTo>
                  <a:lnTo>
                    <a:pt x="197746" y="5031"/>
                  </a:lnTo>
                  <a:lnTo>
                    <a:pt x="247658" y="0"/>
                  </a:lnTo>
                  <a:lnTo>
                    <a:pt x="4679889" y="0"/>
                  </a:lnTo>
                  <a:lnTo>
                    <a:pt x="4728432" y="4802"/>
                  </a:lnTo>
                  <a:lnTo>
                    <a:pt x="4774666" y="18851"/>
                  </a:lnTo>
                  <a:lnTo>
                    <a:pt x="4817292" y="41609"/>
                  </a:lnTo>
                  <a:lnTo>
                    <a:pt x="4855012" y="72537"/>
                  </a:lnTo>
                  <a:lnTo>
                    <a:pt x="4885940" y="110257"/>
                  </a:lnTo>
                  <a:lnTo>
                    <a:pt x="4908698" y="152883"/>
                  </a:lnTo>
                  <a:lnTo>
                    <a:pt x="4922747" y="199117"/>
                  </a:lnTo>
                  <a:lnTo>
                    <a:pt x="4927549" y="247658"/>
                  </a:lnTo>
                  <a:lnTo>
                    <a:pt x="4927549" y="5406173"/>
                  </a:lnTo>
                  <a:lnTo>
                    <a:pt x="4922518" y="5456085"/>
                  </a:lnTo>
                  <a:lnTo>
                    <a:pt x="4908087" y="5502573"/>
                  </a:lnTo>
                  <a:lnTo>
                    <a:pt x="4885253" y="5544641"/>
                  </a:lnTo>
                  <a:lnTo>
                    <a:pt x="4855012" y="5581294"/>
                  </a:lnTo>
                  <a:lnTo>
                    <a:pt x="4818359" y="5611535"/>
                  </a:lnTo>
                  <a:lnTo>
                    <a:pt x="4776290" y="5634369"/>
                  </a:lnTo>
                  <a:lnTo>
                    <a:pt x="4729802" y="5648800"/>
                  </a:lnTo>
                  <a:lnTo>
                    <a:pt x="4679889" y="56538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2636475" y="3789014"/>
              <a:ext cx="704850" cy="704850"/>
            </a:xfrm>
            <a:custGeom>
              <a:avLst/>
              <a:gdLst/>
              <a:ahLst/>
              <a:cxnLst/>
              <a:rect l="l" t="t" r="r" b="b"/>
              <a:pathLst>
                <a:path w="704850" h="704850">
                  <a:moveTo>
                    <a:pt x="352424" y="704849"/>
                  </a:moveTo>
                  <a:lnTo>
                    <a:pt x="304603" y="701632"/>
                  </a:lnTo>
                  <a:lnTo>
                    <a:pt x="258736" y="692261"/>
                  </a:lnTo>
                  <a:lnTo>
                    <a:pt x="215245" y="677154"/>
                  </a:lnTo>
                  <a:lnTo>
                    <a:pt x="174549" y="656733"/>
                  </a:lnTo>
                  <a:lnTo>
                    <a:pt x="137068" y="631417"/>
                  </a:lnTo>
                  <a:lnTo>
                    <a:pt x="103222" y="601627"/>
                  </a:lnTo>
                  <a:lnTo>
                    <a:pt x="73432" y="567781"/>
                  </a:lnTo>
                  <a:lnTo>
                    <a:pt x="48116" y="530300"/>
                  </a:lnTo>
                  <a:lnTo>
                    <a:pt x="27695" y="489604"/>
                  </a:lnTo>
                  <a:lnTo>
                    <a:pt x="12588" y="446113"/>
                  </a:lnTo>
                  <a:lnTo>
                    <a:pt x="3217" y="400246"/>
                  </a:lnTo>
                  <a:lnTo>
                    <a:pt x="0" y="352424"/>
                  </a:lnTo>
                  <a:lnTo>
                    <a:pt x="3217" y="304603"/>
                  </a:lnTo>
                  <a:lnTo>
                    <a:pt x="12588" y="258736"/>
                  </a:lnTo>
                  <a:lnTo>
                    <a:pt x="27695" y="215245"/>
                  </a:lnTo>
                  <a:lnTo>
                    <a:pt x="48116" y="174549"/>
                  </a:lnTo>
                  <a:lnTo>
                    <a:pt x="73432" y="137068"/>
                  </a:lnTo>
                  <a:lnTo>
                    <a:pt x="103222" y="103222"/>
                  </a:lnTo>
                  <a:lnTo>
                    <a:pt x="137068" y="73432"/>
                  </a:lnTo>
                  <a:lnTo>
                    <a:pt x="174549" y="48116"/>
                  </a:lnTo>
                  <a:lnTo>
                    <a:pt x="215245" y="27695"/>
                  </a:lnTo>
                  <a:lnTo>
                    <a:pt x="258736" y="12588"/>
                  </a:lnTo>
                  <a:lnTo>
                    <a:pt x="304603" y="3217"/>
                  </a:lnTo>
                  <a:lnTo>
                    <a:pt x="352424" y="0"/>
                  </a:lnTo>
                  <a:lnTo>
                    <a:pt x="398749" y="3056"/>
                  </a:lnTo>
                  <a:lnTo>
                    <a:pt x="443887" y="12074"/>
                  </a:lnTo>
                  <a:lnTo>
                    <a:pt x="487292" y="26826"/>
                  </a:lnTo>
                  <a:lnTo>
                    <a:pt x="528415" y="47086"/>
                  </a:lnTo>
                  <a:lnTo>
                    <a:pt x="566709" y="72627"/>
                  </a:lnTo>
                  <a:lnTo>
                    <a:pt x="601626" y="103222"/>
                  </a:lnTo>
                  <a:lnTo>
                    <a:pt x="632221" y="138140"/>
                  </a:lnTo>
                  <a:lnTo>
                    <a:pt x="657763" y="176434"/>
                  </a:lnTo>
                  <a:lnTo>
                    <a:pt x="678023" y="217557"/>
                  </a:lnTo>
                  <a:lnTo>
                    <a:pt x="692775" y="260962"/>
                  </a:lnTo>
                  <a:lnTo>
                    <a:pt x="701793" y="306100"/>
                  </a:lnTo>
                  <a:lnTo>
                    <a:pt x="704849" y="352424"/>
                  </a:lnTo>
                  <a:lnTo>
                    <a:pt x="701632" y="400246"/>
                  </a:lnTo>
                  <a:lnTo>
                    <a:pt x="692261" y="446113"/>
                  </a:lnTo>
                  <a:lnTo>
                    <a:pt x="677154" y="489604"/>
                  </a:lnTo>
                  <a:lnTo>
                    <a:pt x="656733" y="530300"/>
                  </a:lnTo>
                  <a:lnTo>
                    <a:pt x="631417" y="567781"/>
                  </a:lnTo>
                  <a:lnTo>
                    <a:pt x="601627" y="601627"/>
                  </a:lnTo>
                  <a:lnTo>
                    <a:pt x="567781" y="631417"/>
                  </a:lnTo>
                  <a:lnTo>
                    <a:pt x="530300" y="656733"/>
                  </a:lnTo>
                  <a:lnTo>
                    <a:pt x="489604" y="677154"/>
                  </a:lnTo>
                  <a:lnTo>
                    <a:pt x="446113" y="692261"/>
                  </a:lnTo>
                  <a:lnTo>
                    <a:pt x="400246" y="701632"/>
                  </a:lnTo>
                  <a:lnTo>
                    <a:pt x="352424" y="704849"/>
                  </a:lnTo>
                  <a:close/>
                </a:path>
              </a:pathLst>
            </a:custGeom>
            <a:solidFill>
              <a:srgbClr val="188C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2889247" y="3940526"/>
            <a:ext cx="199390" cy="414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b="1" spc="-31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255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642825" y="4778131"/>
            <a:ext cx="4152265" cy="216535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203200">
              <a:lnSpc>
                <a:spcPts val="3110"/>
              </a:lnSpc>
              <a:spcBef>
                <a:spcPts val="310"/>
              </a:spcBef>
            </a:pPr>
            <a:r>
              <a:rPr sz="2700" b="1" spc="-25" dirty="0">
                <a:solidFill>
                  <a:srgbClr val="123D33"/>
                </a:solidFill>
                <a:latin typeface="Tahoma"/>
                <a:cs typeface="Tahoma"/>
              </a:rPr>
              <a:t>Save,</a:t>
            </a:r>
            <a:r>
              <a:rPr sz="2700" b="1" spc="-155" dirty="0">
                <a:solidFill>
                  <a:srgbClr val="123D33"/>
                </a:solidFill>
                <a:latin typeface="Tahoma"/>
                <a:cs typeface="Tahoma"/>
              </a:rPr>
              <a:t> </a:t>
            </a:r>
            <a:r>
              <a:rPr sz="2700" b="1" dirty="0">
                <a:solidFill>
                  <a:srgbClr val="123D33"/>
                </a:solidFill>
                <a:latin typeface="Tahoma"/>
                <a:cs typeface="Tahoma"/>
              </a:rPr>
              <a:t>and</a:t>
            </a:r>
            <a:r>
              <a:rPr sz="2700" b="1" spc="-130" dirty="0">
                <a:solidFill>
                  <a:srgbClr val="123D33"/>
                </a:solidFill>
                <a:latin typeface="Tahoma"/>
                <a:cs typeface="Tahoma"/>
              </a:rPr>
              <a:t> </a:t>
            </a:r>
            <a:r>
              <a:rPr sz="2700" b="1" dirty="0">
                <a:solidFill>
                  <a:srgbClr val="123D33"/>
                </a:solidFill>
                <a:latin typeface="Tahoma"/>
                <a:cs typeface="Tahoma"/>
              </a:rPr>
              <a:t>see</a:t>
            </a:r>
            <a:r>
              <a:rPr sz="2700" b="1" spc="-135" dirty="0">
                <a:solidFill>
                  <a:srgbClr val="123D33"/>
                </a:solidFill>
                <a:latin typeface="Tahoma"/>
                <a:cs typeface="Tahoma"/>
              </a:rPr>
              <a:t> </a:t>
            </a:r>
            <a:r>
              <a:rPr sz="2700" b="1" spc="-85" dirty="0">
                <a:solidFill>
                  <a:srgbClr val="123D33"/>
                </a:solidFill>
                <a:latin typeface="Tahoma"/>
                <a:cs typeface="Tahoma"/>
              </a:rPr>
              <a:t>what</a:t>
            </a:r>
            <a:r>
              <a:rPr sz="2700" b="1" spc="-110" dirty="0">
                <a:solidFill>
                  <a:srgbClr val="123D33"/>
                </a:solidFill>
                <a:latin typeface="Tahoma"/>
                <a:cs typeface="Tahoma"/>
              </a:rPr>
              <a:t> </a:t>
            </a:r>
            <a:r>
              <a:rPr sz="2700" b="1" spc="-25" dirty="0">
                <a:solidFill>
                  <a:srgbClr val="123D33"/>
                </a:solidFill>
                <a:latin typeface="Tahoma"/>
                <a:cs typeface="Tahoma"/>
              </a:rPr>
              <a:t>you </a:t>
            </a:r>
            <a:r>
              <a:rPr sz="2700" b="1" spc="-10" dirty="0">
                <a:solidFill>
                  <a:srgbClr val="123D33"/>
                </a:solidFill>
                <a:latin typeface="Tahoma"/>
                <a:cs typeface="Tahoma"/>
              </a:rPr>
              <a:t>missed</a:t>
            </a:r>
            <a:endParaRPr sz="2700">
              <a:latin typeface="Tahoma"/>
              <a:cs typeface="Tahoma"/>
            </a:endParaRPr>
          </a:p>
          <a:p>
            <a:pPr marL="12700" marR="5080" algn="just">
              <a:lnSpc>
                <a:spcPct val="134500"/>
              </a:lnSpc>
              <a:spcBef>
                <a:spcPts val="725"/>
              </a:spcBef>
            </a:pPr>
            <a:r>
              <a:rPr sz="2000" b="1" spc="-160" dirty="0">
                <a:solidFill>
                  <a:srgbClr val="343431"/>
                </a:solidFill>
                <a:latin typeface="Roboto Bk"/>
                <a:cs typeface="Roboto Bk"/>
              </a:rPr>
              <a:t>At</a:t>
            </a:r>
            <a:r>
              <a:rPr sz="2000" b="1" spc="3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000" b="1" spc="-180" dirty="0">
                <a:solidFill>
                  <a:srgbClr val="343431"/>
                </a:solidFill>
                <a:latin typeface="Roboto Bk"/>
                <a:cs typeface="Roboto Bk"/>
              </a:rPr>
              <a:t>month</a:t>
            </a:r>
            <a:r>
              <a:rPr sz="2000" b="1" spc="5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000" b="1" spc="-155" dirty="0">
                <a:solidFill>
                  <a:srgbClr val="343431"/>
                </a:solidFill>
                <a:latin typeface="Roboto Bk"/>
                <a:cs typeface="Roboto Bk"/>
              </a:rPr>
              <a:t>end:</a:t>
            </a:r>
            <a:r>
              <a:rPr sz="2000" b="1" spc="5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000" b="1" spc="-145" dirty="0">
                <a:solidFill>
                  <a:srgbClr val="343431"/>
                </a:solidFill>
                <a:latin typeface="Roboto Bk"/>
                <a:cs typeface="Roboto Bk"/>
              </a:rPr>
              <a:t>what</a:t>
            </a:r>
            <a:r>
              <a:rPr sz="2000" b="1" spc="5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000" b="1" spc="-204" dirty="0">
                <a:solidFill>
                  <a:srgbClr val="343431"/>
                </a:solidFill>
                <a:latin typeface="Roboto Bk"/>
                <a:cs typeface="Roboto Bk"/>
              </a:rPr>
              <a:t>you</a:t>
            </a:r>
            <a:r>
              <a:rPr sz="2000" b="1" spc="8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000" b="1" spc="-150" dirty="0">
                <a:solidFill>
                  <a:srgbClr val="343431"/>
                </a:solidFill>
                <a:latin typeface="Roboto Bk"/>
                <a:cs typeface="Roboto Bk"/>
              </a:rPr>
              <a:t>saved,</a:t>
            </a:r>
            <a:r>
              <a:rPr sz="2000" b="1" spc="6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000" b="1" spc="-150" dirty="0">
                <a:solidFill>
                  <a:srgbClr val="343431"/>
                </a:solidFill>
                <a:latin typeface="Roboto Bk"/>
                <a:cs typeface="Roboto Bk"/>
              </a:rPr>
              <a:t>and</a:t>
            </a:r>
            <a:r>
              <a:rPr sz="2000" b="1" spc="6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000" b="1" spc="-20" dirty="0">
                <a:solidFill>
                  <a:srgbClr val="343431"/>
                </a:solidFill>
                <a:latin typeface="Roboto Bk"/>
                <a:cs typeface="Roboto Bk"/>
              </a:rPr>
              <a:t>what </a:t>
            </a:r>
            <a:r>
              <a:rPr sz="2000" b="1" spc="-204" dirty="0">
                <a:solidFill>
                  <a:srgbClr val="343431"/>
                </a:solidFill>
                <a:latin typeface="Roboto Bk"/>
                <a:cs typeface="Roboto Bk"/>
              </a:rPr>
              <a:t>you</a:t>
            </a:r>
            <a:r>
              <a:rPr sz="2000" b="1" spc="8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000" b="1" spc="-100" dirty="0">
                <a:solidFill>
                  <a:srgbClr val="343431"/>
                </a:solidFill>
                <a:latin typeface="Roboto Bk"/>
                <a:cs typeface="Roboto Bk"/>
              </a:rPr>
              <a:t>left</a:t>
            </a:r>
            <a:r>
              <a:rPr sz="2000" b="1" spc="-2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000" b="1" spc="-135" dirty="0">
                <a:solidFill>
                  <a:srgbClr val="343431"/>
                </a:solidFill>
                <a:latin typeface="Roboto Bk"/>
                <a:cs typeface="Roboto Bk"/>
              </a:rPr>
              <a:t>behind</a:t>
            </a:r>
            <a:r>
              <a:rPr sz="2000" b="1" spc="1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000" b="1" spc="-254" dirty="0">
                <a:solidFill>
                  <a:srgbClr val="343431"/>
                </a:solidFill>
                <a:latin typeface="Roboto Bk"/>
                <a:cs typeface="Roboto Bk"/>
              </a:rPr>
              <a:t>by</a:t>
            </a:r>
            <a:r>
              <a:rPr sz="2000" b="1" spc="13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000" b="1" spc="-135" dirty="0">
                <a:solidFill>
                  <a:srgbClr val="343431"/>
                </a:solidFill>
                <a:latin typeface="Roboto Bk"/>
                <a:cs typeface="Roboto Bk"/>
              </a:rPr>
              <a:t>reaching</a:t>
            </a:r>
            <a:r>
              <a:rPr sz="2000" b="1" spc="2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000" b="1" spc="-105" dirty="0">
                <a:solidFill>
                  <a:srgbClr val="343431"/>
                </a:solidFill>
                <a:latin typeface="Roboto Bk"/>
                <a:cs typeface="Roboto Bk"/>
              </a:rPr>
              <a:t>for</a:t>
            </a:r>
            <a:r>
              <a:rPr sz="2000" b="1" spc="4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000" b="1" spc="-150" dirty="0">
                <a:solidFill>
                  <a:srgbClr val="343431"/>
                </a:solidFill>
                <a:latin typeface="Roboto Bk"/>
                <a:cs typeface="Roboto Bk"/>
              </a:rPr>
              <a:t>the</a:t>
            </a:r>
            <a:r>
              <a:rPr sz="2000" b="1" spc="4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000" b="1" spc="-90" dirty="0">
                <a:solidFill>
                  <a:srgbClr val="343431"/>
                </a:solidFill>
                <a:latin typeface="Roboto Bk"/>
                <a:cs typeface="Roboto Bk"/>
              </a:rPr>
              <a:t>wrong </a:t>
            </a:r>
            <a:r>
              <a:rPr sz="2000" b="1" spc="-10" dirty="0">
                <a:solidFill>
                  <a:srgbClr val="343431"/>
                </a:solidFill>
                <a:latin typeface="Roboto Bk"/>
                <a:cs typeface="Roboto Bk"/>
              </a:rPr>
              <a:t>card.</a:t>
            </a:r>
            <a:endParaRPr sz="2000">
              <a:latin typeface="Roboto Bk"/>
              <a:cs typeface="Roboto Bk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2636475" y="7331571"/>
            <a:ext cx="5050790" cy="2498725"/>
            <a:chOff x="12636475" y="7331571"/>
            <a:chExt cx="5050790" cy="2498725"/>
          </a:xfrm>
        </p:grpSpPr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636475" y="7331571"/>
              <a:ext cx="4089349" cy="125402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810925" y="8953499"/>
              <a:ext cx="876299" cy="876299"/>
            </a:xfrm>
            <a:prstGeom prst="rect">
              <a:avLst/>
            </a:prstGeom>
          </p:spPr>
        </p:pic>
      </p:grp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89"/>
              </a:lnSpc>
            </a:pPr>
            <a:r>
              <a:rPr spc="-145" dirty="0"/>
              <a:t>FLUSAI</a:t>
            </a:r>
            <a:r>
              <a:rPr dirty="0"/>
              <a:t> </a:t>
            </a:r>
            <a:r>
              <a:rPr spc="-120" dirty="0"/>
              <a:t>·</a:t>
            </a:r>
            <a:r>
              <a:rPr spc="-5" dirty="0"/>
              <a:t> </a:t>
            </a:r>
            <a:r>
              <a:rPr spc="-120" dirty="0"/>
              <a:t>NIC</a:t>
            </a:r>
            <a:r>
              <a:rPr spc="-5" dirty="0"/>
              <a:t> </a:t>
            </a:r>
            <a:r>
              <a:rPr spc="-135" dirty="0"/>
              <a:t>KARACHI</a:t>
            </a:r>
            <a:r>
              <a:rPr spc="5" dirty="0"/>
              <a:t> </a:t>
            </a:r>
            <a:r>
              <a:rPr spc="-95" dirty="0"/>
              <a:t>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310" dirty="0"/>
              <a:t> </a:t>
            </a:r>
            <a:r>
              <a:rPr spc="-150" dirty="0"/>
              <a:t>build,</a:t>
            </a:r>
            <a:r>
              <a:rPr spc="-180" dirty="0"/>
              <a:t> </a:t>
            </a:r>
            <a:r>
              <a:rPr spc="-10" dirty="0"/>
              <a:t>today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47700" y="1927844"/>
            <a:ext cx="4038600" cy="7058025"/>
            <a:chOff x="647700" y="1927844"/>
            <a:chExt cx="4038600" cy="7058025"/>
          </a:xfrm>
        </p:grpSpPr>
        <p:sp>
          <p:nvSpPr>
            <p:cNvPr id="4" name="object 4"/>
            <p:cNvSpPr/>
            <p:nvPr/>
          </p:nvSpPr>
          <p:spPr>
            <a:xfrm>
              <a:off x="1142999" y="1927844"/>
              <a:ext cx="876300" cy="85725"/>
            </a:xfrm>
            <a:custGeom>
              <a:avLst/>
              <a:gdLst/>
              <a:ahLst/>
              <a:cxnLst/>
              <a:rect l="l" t="t" r="r" b="b"/>
              <a:pathLst>
                <a:path w="876300" h="85725">
                  <a:moveTo>
                    <a:pt x="876299" y="85724"/>
                  </a:moveTo>
                  <a:lnTo>
                    <a:pt x="0" y="85724"/>
                  </a:lnTo>
                  <a:lnTo>
                    <a:pt x="0" y="0"/>
                  </a:lnTo>
                  <a:lnTo>
                    <a:pt x="876299" y="0"/>
                  </a:lnTo>
                  <a:lnTo>
                    <a:pt x="876299" y="85724"/>
                  </a:lnTo>
                  <a:close/>
                </a:path>
              </a:pathLst>
            </a:custGeom>
            <a:solidFill>
              <a:srgbClr val="E1E3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700" y="2337420"/>
              <a:ext cx="4038600" cy="66484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2999" y="2585069"/>
              <a:ext cx="3047999" cy="56578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76350" y="2718420"/>
              <a:ext cx="2781299" cy="539114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485850" y="8487776"/>
            <a:ext cx="2361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40" dirty="0">
                <a:solidFill>
                  <a:srgbClr val="106861"/>
                </a:solidFill>
                <a:latin typeface="Roboto Bk"/>
                <a:cs typeface="Roboto Bk"/>
              </a:rPr>
              <a:t>Savings</a:t>
            </a:r>
            <a:r>
              <a:rPr sz="1800" b="1" dirty="0">
                <a:solidFill>
                  <a:srgbClr val="106861"/>
                </a:solidFill>
                <a:latin typeface="Roboto Bk"/>
                <a:cs typeface="Roboto Bk"/>
              </a:rPr>
              <a:t> </a:t>
            </a:r>
            <a:r>
              <a:rPr sz="1800" b="1" spc="-130" dirty="0">
                <a:solidFill>
                  <a:srgbClr val="106861"/>
                </a:solidFill>
                <a:latin typeface="Roboto Bk"/>
                <a:cs typeface="Roboto Bk"/>
              </a:rPr>
              <a:t>and</a:t>
            </a:r>
            <a:r>
              <a:rPr sz="1800" b="1" dirty="0">
                <a:solidFill>
                  <a:srgbClr val="106861"/>
                </a:solidFill>
                <a:latin typeface="Roboto Bk"/>
                <a:cs typeface="Roboto Bk"/>
              </a:rPr>
              <a:t> </a:t>
            </a:r>
            <a:r>
              <a:rPr sz="1800" b="1" spc="-135" dirty="0">
                <a:solidFill>
                  <a:srgbClr val="106861"/>
                </a:solidFill>
                <a:latin typeface="Roboto Bk"/>
                <a:cs typeface="Roboto Bk"/>
              </a:rPr>
              <a:t>nearby</a:t>
            </a:r>
            <a:r>
              <a:rPr sz="1800" b="1" spc="5" dirty="0">
                <a:solidFill>
                  <a:srgbClr val="106861"/>
                </a:solidFill>
                <a:latin typeface="Roboto Bk"/>
                <a:cs typeface="Roboto Bk"/>
              </a:rPr>
              <a:t> </a:t>
            </a:r>
            <a:r>
              <a:rPr sz="1800" b="1" spc="-80" dirty="0">
                <a:solidFill>
                  <a:srgbClr val="106861"/>
                </a:solidFill>
                <a:latin typeface="Roboto Bk"/>
                <a:cs typeface="Roboto Bk"/>
              </a:rPr>
              <a:t>offers</a:t>
            </a:r>
            <a:endParaRPr sz="1800">
              <a:latin typeface="Roboto Bk"/>
              <a:cs typeface="Roboto Bk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305300" y="2337420"/>
            <a:ext cx="4038600" cy="6648450"/>
            <a:chOff x="4305300" y="2337420"/>
            <a:chExt cx="4038600" cy="664845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05300" y="2337420"/>
              <a:ext cx="4038600" cy="66484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0599" y="2585070"/>
              <a:ext cx="3047999" cy="565784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33950" y="2718420"/>
              <a:ext cx="2781299" cy="539114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5305580" y="8487776"/>
            <a:ext cx="2036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35" dirty="0">
                <a:solidFill>
                  <a:srgbClr val="106861"/>
                </a:solidFill>
                <a:latin typeface="Roboto Bk"/>
                <a:cs typeface="Roboto Bk"/>
              </a:rPr>
              <a:t>Matched</a:t>
            </a:r>
            <a:r>
              <a:rPr sz="1800" b="1" spc="-30" dirty="0">
                <a:solidFill>
                  <a:srgbClr val="106861"/>
                </a:solidFill>
                <a:latin typeface="Roboto Bk"/>
                <a:cs typeface="Roboto Bk"/>
              </a:rPr>
              <a:t> </a:t>
            </a:r>
            <a:r>
              <a:rPr sz="1800" b="1" spc="-125" dirty="0">
                <a:solidFill>
                  <a:srgbClr val="106861"/>
                </a:solidFill>
                <a:latin typeface="Roboto Bk"/>
                <a:cs typeface="Roboto Bk"/>
              </a:rPr>
              <a:t>to</a:t>
            </a:r>
            <a:r>
              <a:rPr sz="1800" b="1" spc="-25" dirty="0">
                <a:solidFill>
                  <a:srgbClr val="106861"/>
                </a:solidFill>
                <a:latin typeface="Roboto Bk"/>
                <a:cs typeface="Roboto Bk"/>
              </a:rPr>
              <a:t> </a:t>
            </a:r>
            <a:r>
              <a:rPr sz="1800" b="1" spc="-145" dirty="0">
                <a:solidFill>
                  <a:srgbClr val="106861"/>
                </a:solidFill>
                <a:latin typeface="Roboto Bk"/>
                <a:cs typeface="Roboto Bk"/>
              </a:rPr>
              <a:t>your</a:t>
            </a:r>
            <a:r>
              <a:rPr sz="1800" b="1" spc="-25" dirty="0">
                <a:solidFill>
                  <a:srgbClr val="106861"/>
                </a:solidFill>
                <a:latin typeface="Roboto Bk"/>
                <a:cs typeface="Roboto Bk"/>
              </a:rPr>
              <a:t> </a:t>
            </a:r>
            <a:r>
              <a:rPr sz="1800" b="1" spc="-75" dirty="0">
                <a:solidFill>
                  <a:srgbClr val="106861"/>
                </a:solidFill>
                <a:latin typeface="Roboto Bk"/>
                <a:cs typeface="Roboto Bk"/>
              </a:rPr>
              <a:t>cards</a:t>
            </a:r>
            <a:endParaRPr sz="1800">
              <a:latin typeface="Roboto Bk"/>
              <a:cs typeface="Roboto Bk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962900" y="2337420"/>
            <a:ext cx="4038600" cy="6648450"/>
            <a:chOff x="7962900" y="2337420"/>
            <a:chExt cx="4038600" cy="6648450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62900" y="2337420"/>
              <a:ext cx="4038600" cy="664845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58199" y="2585070"/>
              <a:ext cx="3047999" cy="565784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91550" y="2718420"/>
              <a:ext cx="2781299" cy="539114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8921675" y="8487776"/>
            <a:ext cx="21183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10" dirty="0">
                <a:solidFill>
                  <a:srgbClr val="106861"/>
                </a:solidFill>
                <a:latin typeface="Roboto Bk"/>
                <a:cs typeface="Roboto Bk"/>
              </a:rPr>
              <a:t>Eligibility</a:t>
            </a:r>
            <a:r>
              <a:rPr sz="1800" b="1" spc="-15" dirty="0">
                <a:solidFill>
                  <a:srgbClr val="106861"/>
                </a:solidFill>
                <a:latin typeface="Roboto Bk"/>
                <a:cs typeface="Roboto Bk"/>
              </a:rPr>
              <a:t> </a:t>
            </a:r>
            <a:r>
              <a:rPr sz="1800" b="1" spc="-130" dirty="0">
                <a:solidFill>
                  <a:srgbClr val="106861"/>
                </a:solidFill>
                <a:latin typeface="Roboto Bk"/>
                <a:cs typeface="Roboto Bk"/>
              </a:rPr>
              <a:t>and</a:t>
            </a:r>
            <a:r>
              <a:rPr sz="1800" b="1" spc="-10" dirty="0">
                <a:solidFill>
                  <a:srgbClr val="106861"/>
                </a:solidFill>
                <a:latin typeface="Roboto Bk"/>
                <a:cs typeface="Roboto Bk"/>
              </a:rPr>
              <a:t> </a:t>
            </a:r>
            <a:r>
              <a:rPr sz="1800" b="1" spc="-125" dirty="0">
                <a:solidFill>
                  <a:srgbClr val="106861"/>
                </a:solidFill>
                <a:latin typeface="Roboto Bk"/>
                <a:cs typeface="Roboto Bk"/>
              </a:rPr>
              <a:t>best</a:t>
            </a:r>
            <a:r>
              <a:rPr sz="1800" b="1" spc="-15" dirty="0">
                <a:solidFill>
                  <a:srgbClr val="106861"/>
                </a:solidFill>
                <a:latin typeface="Roboto Bk"/>
                <a:cs typeface="Roboto Bk"/>
              </a:rPr>
              <a:t> </a:t>
            </a:r>
            <a:r>
              <a:rPr sz="1800" b="1" spc="-60" dirty="0">
                <a:solidFill>
                  <a:srgbClr val="106861"/>
                </a:solidFill>
                <a:latin typeface="Roboto Bk"/>
                <a:cs typeface="Roboto Bk"/>
              </a:rPr>
              <a:t>card</a:t>
            </a:r>
            <a:endParaRPr sz="1800">
              <a:latin typeface="Roboto Bk"/>
              <a:cs typeface="Roboto Bk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1620500" y="2337420"/>
            <a:ext cx="4038600" cy="6648450"/>
            <a:chOff x="11620500" y="2337420"/>
            <a:chExt cx="4038600" cy="6648450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20500" y="2337420"/>
              <a:ext cx="4038600" cy="664845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115799" y="2585070"/>
              <a:ext cx="3047999" cy="565784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249150" y="2718420"/>
              <a:ext cx="2781299" cy="5391149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3139111" y="8487776"/>
            <a:ext cx="1000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20" dirty="0">
                <a:solidFill>
                  <a:srgbClr val="106861"/>
                </a:solidFill>
                <a:latin typeface="Roboto Bk"/>
                <a:cs typeface="Roboto Bk"/>
              </a:rPr>
              <a:t>Offer</a:t>
            </a:r>
            <a:r>
              <a:rPr sz="1800" b="1" spc="-5" dirty="0">
                <a:solidFill>
                  <a:srgbClr val="106861"/>
                </a:solidFill>
                <a:latin typeface="Roboto Bk"/>
                <a:cs typeface="Roboto Bk"/>
              </a:rPr>
              <a:t> </a:t>
            </a:r>
            <a:r>
              <a:rPr sz="1800" b="1" spc="-95" dirty="0">
                <a:solidFill>
                  <a:srgbClr val="106861"/>
                </a:solidFill>
                <a:latin typeface="Roboto Bk"/>
                <a:cs typeface="Roboto Bk"/>
              </a:rPr>
              <a:t>radar</a:t>
            </a:r>
            <a:endParaRPr sz="1800">
              <a:latin typeface="Roboto Bk"/>
              <a:cs typeface="Roboto Bk"/>
            </a:endParaRPr>
          </a:p>
        </p:txBody>
      </p:sp>
      <p:pic>
        <p:nvPicPr>
          <p:cNvPr id="24" name="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810925" y="8953500"/>
            <a:ext cx="876299" cy="876299"/>
          </a:xfrm>
          <a:prstGeom prst="rect">
            <a:avLst/>
          </a:prstGeom>
        </p:spPr>
      </p:pic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89"/>
              </a:lnSpc>
            </a:pPr>
            <a:r>
              <a:rPr spc="-145" dirty="0"/>
              <a:t>FLUSAI</a:t>
            </a:r>
            <a:r>
              <a:rPr dirty="0"/>
              <a:t> </a:t>
            </a:r>
            <a:r>
              <a:rPr spc="-120" dirty="0"/>
              <a:t>·</a:t>
            </a:r>
            <a:r>
              <a:rPr spc="-5" dirty="0"/>
              <a:t> </a:t>
            </a:r>
            <a:r>
              <a:rPr spc="-120" dirty="0"/>
              <a:t>NIC</a:t>
            </a:r>
            <a:r>
              <a:rPr spc="-5" dirty="0"/>
              <a:t> </a:t>
            </a:r>
            <a:r>
              <a:rPr spc="-135" dirty="0"/>
              <a:t>KARACHI</a:t>
            </a:r>
            <a:r>
              <a:rPr spc="5" dirty="0"/>
              <a:t> </a:t>
            </a:r>
            <a:r>
              <a:rPr spc="-95" dirty="0"/>
              <a:t>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Progress</a:t>
            </a:r>
            <a:r>
              <a:rPr spc="-150" dirty="0"/>
              <a:t> </a:t>
            </a:r>
            <a:r>
              <a:rPr dirty="0"/>
              <a:t>to</a:t>
            </a:r>
            <a:r>
              <a:rPr spc="-145" dirty="0"/>
              <a:t> </a:t>
            </a:r>
            <a:r>
              <a:rPr spc="-20" dirty="0"/>
              <a:t>date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43000" y="1927844"/>
            <a:ext cx="16544290" cy="7902575"/>
            <a:chOff x="1143000" y="1927844"/>
            <a:chExt cx="16544290" cy="7902575"/>
          </a:xfrm>
        </p:grpSpPr>
        <p:sp>
          <p:nvSpPr>
            <p:cNvPr id="4" name="object 4"/>
            <p:cNvSpPr/>
            <p:nvPr/>
          </p:nvSpPr>
          <p:spPr>
            <a:xfrm>
              <a:off x="1143000" y="1927844"/>
              <a:ext cx="876300" cy="85725"/>
            </a:xfrm>
            <a:custGeom>
              <a:avLst/>
              <a:gdLst/>
              <a:ahLst/>
              <a:cxnLst/>
              <a:rect l="l" t="t" r="r" b="b"/>
              <a:pathLst>
                <a:path w="876300" h="85725">
                  <a:moveTo>
                    <a:pt x="876299" y="85724"/>
                  </a:moveTo>
                  <a:lnTo>
                    <a:pt x="0" y="85724"/>
                  </a:lnTo>
                  <a:lnTo>
                    <a:pt x="0" y="0"/>
                  </a:lnTo>
                  <a:lnTo>
                    <a:pt x="876299" y="0"/>
                  </a:lnTo>
                  <a:lnTo>
                    <a:pt x="876299" y="85724"/>
                  </a:lnTo>
                  <a:close/>
                </a:path>
              </a:pathLst>
            </a:custGeom>
            <a:solidFill>
              <a:srgbClr val="E1E3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10925" y="8953499"/>
              <a:ext cx="876299" cy="87629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992910" y="2674859"/>
            <a:ext cx="9791700" cy="32143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19100" indent="-406400">
              <a:lnSpc>
                <a:spcPct val="100000"/>
              </a:lnSpc>
              <a:spcBef>
                <a:spcPts val="125"/>
              </a:spcBef>
              <a:buFont typeface="Microsoft Sans Serif"/>
              <a:buChar char="●"/>
              <a:tabLst>
                <a:tab pos="419100" algn="l"/>
              </a:tabLst>
            </a:pPr>
            <a:r>
              <a:rPr sz="2300" b="1" spc="-140" dirty="0">
                <a:solidFill>
                  <a:srgbClr val="343431"/>
                </a:solidFill>
                <a:latin typeface="Roboto Bk"/>
                <a:cs typeface="Roboto Bk"/>
              </a:rPr>
              <a:t>A</a:t>
            </a:r>
            <a:r>
              <a:rPr sz="2300" b="1" spc="-1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300" b="1" spc="-155" dirty="0">
                <a:solidFill>
                  <a:srgbClr val="343431"/>
                </a:solidFill>
                <a:latin typeface="Roboto Bk"/>
                <a:cs typeface="Roboto Bk"/>
              </a:rPr>
              <a:t>working</a:t>
            </a:r>
            <a:r>
              <a:rPr sz="230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300" b="1" spc="-140" dirty="0">
                <a:solidFill>
                  <a:srgbClr val="343431"/>
                </a:solidFill>
                <a:latin typeface="Roboto Bk"/>
                <a:cs typeface="Roboto Bk"/>
              </a:rPr>
              <a:t>Android</a:t>
            </a:r>
            <a:r>
              <a:rPr sz="2300" b="1" spc="-1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300" b="1" spc="-155" dirty="0">
                <a:solidFill>
                  <a:srgbClr val="343431"/>
                </a:solidFill>
                <a:latin typeface="Roboto Bk"/>
                <a:cs typeface="Roboto Bk"/>
              </a:rPr>
              <a:t>build,</a:t>
            </a:r>
            <a:r>
              <a:rPr sz="230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300" b="1" spc="-150" dirty="0">
                <a:solidFill>
                  <a:srgbClr val="343431"/>
                </a:solidFill>
                <a:latin typeface="Roboto Bk"/>
                <a:cs typeface="Roboto Bk"/>
              </a:rPr>
              <a:t>shipped</a:t>
            </a:r>
            <a:r>
              <a:rPr sz="2300" b="1" spc="-1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300" b="1" spc="-155" dirty="0">
                <a:solidFill>
                  <a:srgbClr val="343431"/>
                </a:solidFill>
                <a:latin typeface="Roboto Bk"/>
                <a:cs typeface="Roboto Bk"/>
              </a:rPr>
              <a:t>with</a:t>
            </a:r>
            <a:r>
              <a:rPr sz="230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300" b="1" spc="-145" dirty="0">
                <a:solidFill>
                  <a:srgbClr val="343431"/>
                </a:solidFill>
                <a:latin typeface="Roboto Bk"/>
                <a:cs typeface="Roboto Bk"/>
              </a:rPr>
              <a:t>no</a:t>
            </a:r>
            <a:r>
              <a:rPr sz="2300" b="1" spc="-1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300" b="1" spc="-145" dirty="0">
                <a:solidFill>
                  <a:srgbClr val="343431"/>
                </a:solidFill>
                <a:latin typeface="Roboto Bk"/>
                <a:cs typeface="Roboto Bk"/>
              </a:rPr>
              <a:t>outside</a:t>
            </a:r>
            <a:r>
              <a:rPr sz="230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300" b="1" spc="-10" dirty="0">
                <a:solidFill>
                  <a:srgbClr val="343431"/>
                </a:solidFill>
                <a:latin typeface="Roboto Bk"/>
                <a:cs typeface="Roboto Bk"/>
              </a:rPr>
              <a:t>funding</a:t>
            </a:r>
            <a:endParaRPr sz="2300">
              <a:latin typeface="Roboto Bk"/>
              <a:cs typeface="Roboto Bk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343431"/>
              </a:buClr>
              <a:buFont typeface="Microsoft Sans Serif"/>
              <a:buChar char="●"/>
            </a:pPr>
            <a:endParaRPr sz="2300">
              <a:latin typeface="Roboto Bk"/>
              <a:cs typeface="Roboto Bk"/>
            </a:endParaRPr>
          </a:p>
          <a:p>
            <a:pPr marL="419100" indent="-406400">
              <a:lnSpc>
                <a:spcPct val="100000"/>
              </a:lnSpc>
              <a:spcBef>
                <a:spcPts val="5"/>
              </a:spcBef>
              <a:buFont typeface="Microsoft Sans Serif"/>
              <a:buChar char="●"/>
              <a:tabLst>
                <a:tab pos="419100" algn="l"/>
              </a:tabLst>
            </a:pPr>
            <a:r>
              <a:rPr sz="2300" b="1" spc="-150" dirty="0">
                <a:solidFill>
                  <a:srgbClr val="343431"/>
                </a:solidFill>
                <a:latin typeface="Roboto Bk"/>
                <a:cs typeface="Roboto Bk"/>
              </a:rPr>
              <a:t>Card</a:t>
            </a:r>
            <a:r>
              <a:rPr sz="230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300" b="1" spc="-155" dirty="0">
                <a:solidFill>
                  <a:srgbClr val="343431"/>
                </a:solidFill>
                <a:latin typeface="Roboto Bk"/>
                <a:cs typeface="Roboto Bk"/>
              </a:rPr>
              <a:t>scanning,</a:t>
            </a:r>
            <a:r>
              <a:rPr sz="230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300" b="1" spc="-125" dirty="0">
                <a:solidFill>
                  <a:srgbClr val="343431"/>
                </a:solidFill>
                <a:latin typeface="Roboto Bk"/>
                <a:cs typeface="Roboto Bk"/>
              </a:rPr>
              <a:t>offer</a:t>
            </a:r>
            <a:r>
              <a:rPr sz="230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300" b="1" spc="-170" dirty="0">
                <a:solidFill>
                  <a:srgbClr val="343431"/>
                </a:solidFill>
                <a:latin typeface="Roboto Bk"/>
                <a:cs typeface="Roboto Bk"/>
              </a:rPr>
              <a:t>discovery,</a:t>
            </a:r>
            <a:r>
              <a:rPr sz="230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300" b="1" spc="-135" dirty="0">
                <a:solidFill>
                  <a:srgbClr val="343431"/>
                </a:solidFill>
                <a:latin typeface="Roboto Bk"/>
                <a:cs typeface="Roboto Bk"/>
              </a:rPr>
              <a:t>eligibility</a:t>
            </a:r>
            <a:r>
              <a:rPr sz="230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300" b="1" spc="-150" dirty="0">
                <a:solidFill>
                  <a:srgbClr val="343431"/>
                </a:solidFill>
                <a:latin typeface="Roboto Bk"/>
                <a:cs typeface="Roboto Bk"/>
              </a:rPr>
              <a:t>and</a:t>
            </a:r>
            <a:r>
              <a:rPr sz="230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300" b="1" spc="-150" dirty="0">
                <a:solidFill>
                  <a:srgbClr val="343431"/>
                </a:solidFill>
                <a:latin typeface="Roboto Bk"/>
                <a:cs typeface="Roboto Bk"/>
              </a:rPr>
              <a:t>savings</a:t>
            </a:r>
            <a:r>
              <a:rPr sz="230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300" b="1" spc="-160" dirty="0">
                <a:solidFill>
                  <a:srgbClr val="343431"/>
                </a:solidFill>
                <a:latin typeface="Roboto Bk"/>
                <a:cs typeface="Roboto Bk"/>
              </a:rPr>
              <a:t>tracking,</a:t>
            </a:r>
            <a:r>
              <a:rPr sz="230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300" b="1" spc="-110" dirty="0">
                <a:solidFill>
                  <a:srgbClr val="343431"/>
                </a:solidFill>
                <a:latin typeface="Roboto Bk"/>
                <a:cs typeface="Roboto Bk"/>
              </a:rPr>
              <a:t>all</a:t>
            </a:r>
            <a:r>
              <a:rPr sz="230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300" b="1" spc="-135" dirty="0">
                <a:solidFill>
                  <a:srgbClr val="343431"/>
                </a:solidFill>
                <a:latin typeface="Roboto Bk"/>
                <a:cs typeface="Roboto Bk"/>
              </a:rPr>
              <a:t>live</a:t>
            </a:r>
            <a:r>
              <a:rPr sz="230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300" b="1" spc="-145" dirty="0">
                <a:solidFill>
                  <a:srgbClr val="343431"/>
                </a:solidFill>
                <a:latin typeface="Roboto Bk"/>
                <a:cs typeface="Roboto Bk"/>
              </a:rPr>
              <a:t>in</a:t>
            </a:r>
            <a:r>
              <a:rPr sz="230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300" b="1" spc="-155" dirty="0">
                <a:solidFill>
                  <a:srgbClr val="343431"/>
                </a:solidFill>
                <a:latin typeface="Roboto Bk"/>
                <a:cs typeface="Roboto Bk"/>
              </a:rPr>
              <a:t>the</a:t>
            </a:r>
            <a:r>
              <a:rPr sz="230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300" b="1" spc="-10" dirty="0">
                <a:solidFill>
                  <a:srgbClr val="343431"/>
                </a:solidFill>
                <a:latin typeface="Roboto Bk"/>
                <a:cs typeface="Roboto Bk"/>
              </a:rPr>
              <a:t>build</a:t>
            </a:r>
            <a:endParaRPr sz="2300">
              <a:latin typeface="Roboto Bk"/>
              <a:cs typeface="Roboto Bk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343431"/>
              </a:buClr>
              <a:buFont typeface="Microsoft Sans Serif"/>
              <a:buChar char="●"/>
            </a:pPr>
            <a:endParaRPr sz="2300">
              <a:latin typeface="Roboto Bk"/>
              <a:cs typeface="Roboto Bk"/>
            </a:endParaRPr>
          </a:p>
          <a:p>
            <a:pPr marL="419100" indent="-406400">
              <a:lnSpc>
                <a:spcPct val="100000"/>
              </a:lnSpc>
              <a:spcBef>
                <a:spcPts val="5"/>
              </a:spcBef>
              <a:buFont typeface="Microsoft Sans Serif"/>
              <a:buChar char="●"/>
              <a:tabLst>
                <a:tab pos="419100" algn="l"/>
              </a:tabLst>
            </a:pPr>
            <a:r>
              <a:rPr sz="2300" b="1" spc="-130" dirty="0">
                <a:solidFill>
                  <a:srgbClr val="343431"/>
                </a:solidFill>
                <a:latin typeface="Roboto Bk"/>
                <a:cs typeface="Roboto Bk"/>
              </a:rPr>
              <a:t>Architecture</a:t>
            </a:r>
            <a:r>
              <a:rPr sz="230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300" b="1" spc="-160" dirty="0">
                <a:solidFill>
                  <a:srgbClr val="343431"/>
                </a:solidFill>
                <a:latin typeface="Roboto Bk"/>
                <a:cs typeface="Roboto Bk"/>
              </a:rPr>
              <a:t>documented;</a:t>
            </a:r>
            <a:r>
              <a:rPr sz="230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300" b="1" spc="-130" dirty="0">
                <a:solidFill>
                  <a:srgbClr val="343431"/>
                </a:solidFill>
                <a:latin typeface="Roboto Bk"/>
                <a:cs typeface="Roboto Bk"/>
              </a:rPr>
              <a:t>pilot</a:t>
            </a:r>
            <a:r>
              <a:rPr sz="2300" b="1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300" b="1" spc="-140" dirty="0">
                <a:solidFill>
                  <a:srgbClr val="343431"/>
                </a:solidFill>
                <a:latin typeface="Roboto Bk"/>
                <a:cs typeface="Roboto Bk"/>
              </a:rPr>
              <a:t>designed</a:t>
            </a:r>
            <a:r>
              <a:rPr sz="230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300" b="1" spc="-155" dirty="0">
                <a:solidFill>
                  <a:srgbClr val="343431"/>
                </a:solidFill>
                <a:latin typeface="Roboto Bk"/>
                <a:cs typeface="Roboto Bk"/>
              </a:rPr>
              <a:t>with</a:t>
            </a:r>
            <a:r>
              <a:rPr sz="230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300" b="1" spc="-130" dirty="0">
                <a:solidFill>
                  <a:srgbClr val="343431"/>
                </a:solidFill>
                <a:latin typeface="Roboto Bk"/>
                <a:cs typeface="Roboto Bk"/>
              </a:rPr>
              <a:t>a</a:t>
            </a:r>
            <a:r>
              <a:rPr sz="2300" b="1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300" b="1" spc="-140" dirty="0">
                <a:solidFill>
                  <a:srgbClr val="343431"/>
                </a:solidFill>
                <a:latin typeface="Roboto Bk"/>
                <a:cs typeface="Roboto Bk"/>
              </a:rPr>
              <a:t>control</a:t>
            </a:r>
            <a:r>
              <a:rPr sz="230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300" b="1" spc="-10" dirty="0">
                <a:solidFill>
                  <a:srgbClr val="343431"/>
                </a:solidFill>
                <a:latin typeface="Roboto Bk"/>
                <a:cs typeface="Roboto Bk"/>
              </a:rPr>
              <a:t>group</a:t>
            </a:r>
            <a:endParaRPr sz="2300">
              <a:latin typeface="Roboto Bk"/>
              <a:cs typeface="Roboto Bk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343431"/>
              </a:buClr>
              <a:buFont typeface="Microsoft Sans Serif"/>
              <a:buChar char="●"/>
            </a:pPr>
            <a:endParaRPr sz="2300">
              <a:latin typeface="Roboto Bk"/>
              <a:cs typeface="Roboto Bk"/>
            </a:endParaRPr>
          </a:p>
          <a:p>
            <a:pPr marL="419100" indent="-406400">
              <a:lnSpc>
                <a:spcPct val="100000"/>
              </a:lnSpc>
              <a:buFont typeface="Microsoft Sans Serif"/>
              <a:buChar char="●"/>
              <a:tabLst>
                <a:tab pos="419100" algn="l"/>
              </a:tabLst>
            </a:pPr>
            <a:r>
              <a:rPr sz="2300" b="1" spc="-140" dirty="0">
                <a:solidFill>
                  <a:srgbClr val="343431"/>
                </a:solidFill>
                <a:latin typeface="Roboto Bk"/>
                <a:cs typeface="Roboto Bk"/>
              </a:rPr>
              <a:t>Registered</a:t>
            </a:r>
            <a:r>
              <a:rPr sz="230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300" b="1" spc="-160" dirty="0">
                <a:solidFill>
                  <a:srgbClr val="343431"/>
                </a:solidFill>
                <a:latin typeface="Roboto Bk"/>
                <a:cs typeface="Roboto Bk"/>
              </a:rPr>
              <a:t>entity.</a:t>
            </a:r>
            <a:r>
              <a:rPr sz="2300" b="1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300" b="1" spc="-165" dirty="0">
                <a:solidFill>
                  <a:srgbClr val="343431"/>
                </a:solidFill>
                <a:latin typeface="Roboto Bk"/>
                <a:cs typeface="Roboto Bk"/>
              </a:rPr>
              <a:t>Submitted</a:t>
            </a:r>
            <a:r>
              <a:rPr sz="230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300" b="1" spc="-145" dirty="0">
                <a:solidFill>
                  <a:srgbClr val="343431"/>
                </a:solidFill>
                <a:latin typeface="Roboto Bk"/>
                <a:cs typeface="Roboto Bk"/>
              </a:rPr>
              <a:t>to</a:t>
            </a:r>
            <a:r>
              <a:rPr sz="2300" b="1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300" b="1" spc="-155" dirty="0">
                <a:solidFill>
                  <a:srgbClr val="343431"/>
                </a:solidFill>
                <a:latin typeface="Roboto Bk"/>
                <a:cs typeface="Roboto Bk"/>
              </a:rPr>
              <a:t>the</a:t>
            </a:r>
            <a:r>
              <a:rPr sz="230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300" b="1" spc="-240" dirty="0">
                <a:solidFill>
                  <a:srgbClr val="343431"/>
                </a:solidFill>
                <a:latin typeface="Roboto Bk"/>
                <a:cs typeface="Roboto Bk"/>
              </a:rPr>
              <a:t>UBL</a:t>
            </a:r>
            <a:r>
              <a:rPr sz="2300" b="1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300" b="1" spc="-145" dirty="0">
                <a:solidFill>
                  <a:srgbClr val="343431"/>
                </a:solidFill>
                <a:latin typeface="Roboto Bk"/>
                <a:cs typeface="Roboto Bk"/>
              </a:rPr>
              <a:t>National</a:t>
            </a:r>
            <a:r>
              <a:rPr sz="230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300" b="1" spc="-155" dirty="0">
                <a:solidFill>
                  <a:srgbClr val="343431"/>
                </a:solidFill>
                <a:latin typeface="Roboto Bk"/>
                <a:cs typeface="Roboto Bk"/>
              </a:rPr>
              <a:t>Innovation</a:t>
            </a:r>
            <a:r>
              <a:rPr sz="2300" b="1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300" b="1" spc="-160" dirty="0">
                <a:solidFill>
                  <a:srgbClr val="343431"/>
                </a:solidFill>
                <a:latin typeface="Roboto Bk"/>
                <a:cs typeface="Roboto Bk"/>
              </a:rPr>
              <a:t>Hackathon</a:t>
            </a:r>
            <a:r>
              <a:rPr sz="2300" b="1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300" b="1" spc="-20" dirty="0">
                <a:solidFill>
                  <a:srgbClr val="343431"/>
                </a:solidFill>
                <a:latin typeface="Roboto Bk"/>
                <a:cs typeface="Roboto Bk"/>
              </a:rPr>
              <a:t>2026</a:t>
            </a:r>
            <a:endParaRPr sz="2300">
              <a:latin typeface="Roboto Bk"/>
              <a:cs typeface="Roboto Bk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lr>
                <a:srgbClr val="343431"/>
              </a:buClr>
              <a:buFont typeface="Microsoft Sans Serif"/>
              <a:buChar char="●"/>
            </a:pPr>
            <a:endParaRPr sz="2300">
              <a:latin typeface="Roboto Bk"/>
              <a:cs typeface="Roboto Bk"/>
            </a:endParaRPr>
          </a:p>
          <a:p>
            <a:pPr marL="419100" indent="-406400">
              <a:lnSpc>
                <a:spcPct val="100000"/>
              </a:lnSpc>
              <a:buFont typeface="Microsoft Sans Serif"/>
              <a:buChar char="●"/>
              <a:tabLst>
                <a:tab pos="419100" algn="l"/>
              </a:tabLst>
            </a:pPr>
            <a:r>
              <a:rPr sz="2300" b="1" spc="-140" dirty="0">
                <a:solidFill>
                  <a:srgbClr val="343431"/>
                </a:solidFill>
                <a:latin typeface="Roboto Bk"/>
                <a:cs typeface="Roboto Bk"/>
              </a:rPr>
              <a:t>Public</a:t>
            </a:r>
            <a:r>
              <a:rPr sz="2300" b="1" spc="-2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300" b="1" spc="-150" dirty="0">
                <a:solidFill>
                  <a:srgbClr val="343431"/>
                </a:solidFill>
                <a:latin typeface="Roboto Bk"/>
                <a:cs typeface="Roboto Bk"/>
              </a:rPr>
              <a:t>launch</a:t>
            </a:r>
            <a:r>
              <a:rPr sz="2300" b="1" spc="-2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300" b="1" spc="-300" dirty="0">
                <a:solidFill>
                  <a:srgbClr val="343431"/>
                </a:solidFill>
                <a:latin typeface="Roboto Bk"/>
                <a:cs typeface="Roboto Bk"/>
              </a:rPr>
              <a:t>—</a:t>
            </a:r>
            <a:r>
              <a:rPr sz="2300" b="1" spc="-2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300" b="1" spc="-145" dirty="0">
                <a:solidFill>
                  <a:srgbClr val="343431"/>
                </a:solidFill>
                <a:latin typeface="Roboto Bk"/>
                <a:cs typeface="Roboto Bk"/>
              </a:rPr>
              <a:t>not</a:t>
            </a:r>
            <a:r>
              <a:rPr sz="2300" b="1" spc="-1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2300" b="1" spc="-25" dirty="0">
                <a:solidFill>
                  <a:srgbClr val="343431"/>
                </a:solidFill>
                <a:latin typeface="Roboto Bk"/>
                <a:cs typeface="Roboto Bk"/>
              </a:rPr>
              <a:t>yet</a:t>
            </a:r>
            <a:endParaRPr sz="2300">
              <a:latin typeface="Roboto Bk"/>
              <a:cs typeface="Roboto Bk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89"/>
              </a:lnSpc>
            </a:pPr>
            <a:r>
              <a:rPr spc="-145" dirty="0"/>
              <a:t>FLUSAI</a:t>
            </a:r>
            <a:r>
              <a:rPr dirty="0"/>
              <a:t> </a:t>
            </a:r>
            <a:r>
              <a:rPr spc="-120" dirty="0"/>
              <a:t>·</a:t>
            </a:r>
            <a:r>
              <a:rPr spc="-5" dirty="0"/>
              <a:t> </a:t>
            </a:r>
            <a:r>
              <a:rPr spc="-120" dirty="0"/>
              <a:t>NIC</a:t>
            </a:r>
            <a:r>
              <a:rPr spc="-5" dirty="0"/>
              <a:t> </a:t>
            </a:r>
            <a:r>
              <a:rPr spc="-135" dirty="0"/>
              <a:t>KARACHI</a:t>
            </a:r>
            <a:r>
              <a:rPr spc="5" dirty="0"/>
              <a:t> </a:t>
            </a:r>
            <a:r>
              <a:rPr spc="-95" dirty="0"/>
              <a:t>2026</a:t>
            </a: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9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10286999"/>
                </a:lnTo>
                <a:close/>
              </a:path>
            </a:pathLst>
          </a:custGeom>
          <a:solidFill>
            <a:srgbClr val="FC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573500" y="0"/>
            <a:ext cx="1714500" cy="1714500"/>
          </a:xfrm>
          <a:custGeom>
            <a:avLst/>
            <a:gdLst/>
            <a:ahLst/>
            <a:cxnLst/>
            <a:rect l="l" t="t" r="r" b="b"/>
            <a:pathLst>
              <a:path w="1714500" h="1714500">
                <a:moveTo>
                  <a:pt x="1428749" y="1714499"/>
                </a:moveTo>
                <a:lnTo>
                  <a:pt x="1380630" y="1713704"/>
                </a:lnTo>
                <a:lnTo>
                  <a:pt x="1332908" y="1711336"/>
                </a:lnTo>
                <a:lnTo>
                  <a:pt x="1285610" y="1707419"/>
                </a:lnTo>
                <a:lnTo>
                  <a:pt x="1238760" y="1701978"/>
                </a:lnTo>
                <a:lnTo>
                  <a:pt x="1192383" y="1695039"/>
                </a:lnTo>
                <a:lnTo>
                  <a:pt x="1146505" y="1686626"/>
                </a:lnTo>
                <a:lnTo>
                  <a:pt x="1101150" y="1676765"/>
                </a:lnTo>
                <a:lnTo>
                  <a:pt x="1056344" y="1665481"/>
                </a:lnTo>
                <a:lnTo>
                  <a:pt x="1012111" y="1652797"/>
                </a:lnTo>
                <a:lnTo>
                  <a:pt x="968476" y="1638741"/>
                </a:lnTo>
                <a:lnTo>
                  <a:pt x="925465" y="1623336"/>
                </a:lnTo>
                <a:lnTo>
                  <a:pt x="883102" y="1606607"/>
                </a:lnTo>
                <a:lnTo>
                  <a:pt x="841413" y="1588580"/>
                </a:lnTo>
                <a:lnTo>
                  <a:pt x="800422" y="1569280"/>
                </a:lnTo>
                <a:lnTo>
                  <a:pt x="760154" y="1548731"/>
                </a:lnTo>
                <a:lnTo>
                  <a:pt x="720635" y="1526958"/>
                </a:lnTo>
                <a:lnTo>
                  <a:pt x="681889" y="1503987"/>
                </a:lnTo>
                <a:lnTo>
                  <a:pt x="643941" y="1479843"/>
                </a:lnTo>
                <a:lnTo>
                  <a:pt x="606817" y="1454550"/>
                </a:lnTo>
                <a:lnTo>
                  <a:pt x="570542" y="1428134"/>
                </a:lnTo>
                <a:lnTo>
                  <a:pt x="535139" y="1400619"/>
                </a:lnTo>
                <a:lnTo>
                  <a:pt x="500636" y="1372031"/>
                </a:lnTo>
                <a:lnTo>
                  <a:pt x="467055" y="1342394"/>
                </a:lnTo>
                <a:lnTo>
                  <a:pt x="434423" y="1311734"/>
                </a:lnTo>
                <a:lnTo>
                  <a:pt x="402765" y="1280076"/>
                </a:lnTo>
                <a:lnTo>
                  <a:pt x="372105" y="1247444"/>
                </a:lnTo>
                <a:lnTo>
                  <a:pt x="342468" y="1213864"/>
                </a:lnTo>
                <a:lnTo>
                  <a:pt x="313880" y="1179360"/>
                </a:lnTo>
                <a:lnTo>
                  <a:pt x="286365" y="1143958"/>
                </a:lnTo>
                <a:lnTo>
                  <a:pt x="259949" y="1107682"/>
                </a:lnTo>
                <a:lnTo>
                  <a:pt x="234656" y="1070558"/>
                </a:lnTo>
                <a:lnTo>
                  <a:pt x="210512" y="1032610"/>
                </a:lnTo>
                <a:lnTo>
                  <a:pt x="187541" y="993865"/>
                </a:lnTo>
                <a:lnTo>
                  <a:pt x="165768" y="954345"/>
                </a:lnTo>
                <a:lnTo>
                  <a:pt x="145219" y="914078"/>
                </a:lnTo>
                <a:lnTo>
                  <a:pt x="125919" y="873086"/>
                </a:lnTo>
                <a:lnTo>
                  <a:pt x="107892" y="831397"/>
                </a:lnTo>
                <a:lnTo>
                  <a:pt x="91163" y="789034"/>
                </a:lnTo>
                <a:lnTo>
                  <a:pt x="75758" y="746023"/>
                </a:lnTo>
                <a:lnTo>
                  <a:pt x="61702" y="702388"/>
                </a:lnTo>
                <a:lnTo>
                  <a:pt x="49018" y="658155"/>
                </a:lnTo>
                <a:lnTo>
                  <a:pt x="37734" y="613349"/>
                </a:lnTo>
                <a:lnTo>
                  <a:pt x="27873" y="567994"/>
                </a:lnTo>
                <a:lnTo>
                  <a:pt x="19460" y="522116"/>
                </a:lnTo>
                <a:lnTo>
                  <a:pt x="12521" y="475739"/>
                </a:lnTo>
                <a:lnTo>
                  <a:pt x="7080" y="428889"/>
                </a:lnTo>
                <a:lnTo>
                  <a:pt x="3163" y="381591"/>
                </a:lnTo>
                <a:lnTo>
                  <a:pt x="795" y="333869"/>
                </a:lnTo>
                <a:lnTo>
                  <a:pt x="0" y="285749"/>
                </a:lnTo>
                <a:lnTo>
                  <a:pt x="795" y="237630"/>
                </a:lnTo>
                <a:lnTo>
                  <a:pt x="3163" y="189908"/>
                </a:lnTo>
                <a:lnTo>
                  <a:pt x="7080" y="142610"/>
                </a:lnTo>
                <a:lnTo>
                  <a:pt x="12521" y="95760"/>
                </a:lnTo>
                <a:lnTo>
                  <a:pt x="19460" y="49383"/>
                </a:lnTo>
                <a:lnTo>
                  <a:pt x="27873" y="3505"/>
                </a:lnTo>
                <a:lnTo>
                  <a:pt x="1714500" y="0"/>
                </a:lnTo>
                <a:lnTo>
                  <a:pt x="1714500" y="1685864"/>
                </a:lnTo>
                <a:lnTo>
                  <a:pt x="1665116" y="1695039"/>
                </a:lnTo>
                <a:lnTo>
                  <a:pt x="1618739" y="1701978"/>
                </a:lnTo>
                <a:lnTo>
                  <a:pt x="1571889" y="1707419"/>
                </a:lnTo>
                <a:lnTo>
                  <a:pt x="1524591" y="1711336"/>
                </a:lnTo>
                <a:lnTo>
                  <a:pt x="1476869" y="1713704"/>
                </a:lnTo>
                <a:lnTo>
                  <a:pt x="1428749" y="1714499"/>
                </a:lnTo>
                <a:close/>
              </a:path>
            </a:pathLst>
          </a:custGeom>
          <a:solidFill>
            <a:srgbClr val="E7F1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149350" y="925809"/>
            <a:ext cx="367157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Market</a:t>
            </a:r>
            <a:r>
              <a:rPr spc="-229" dirty="0"/>
              <a:t> </a:t>
            </a:r>
            <a:r>
              <a:rPr spc="-155" dirty="0"/>
              <a:t>sizing</a:t>
            </a:r>
          </a:p>
        </p:txBody>
      </p:sp>
      <p:sp>
        <p:nvSpPr>
          <p:cNvPr id="5" name="object 5"/>
          <p:cNvSpPr/>
          <p:nvPr/>
        </p:nvSpPr>
        <p:spPr>
          <a:xfrm>
            <a:off x="1143000" y="1927844"/>
            <a:ext cx="876300" cy="85725"/>
          </a:xfrm>
          <a:custGeom>
            <a:avLst/>
            <a:gdLst/>
            <a:ahLst/>
            <a:cxnLst/>
            <a:rect l="l" t="t" r="r" b="b"/>
            <a:pathLst>
              <a:path w="876300" h="85725">
                <a:moveTo>
                  <a:pt x="876299" y="85724"/>
                </a:moveTo>
                <a:lnTo>
                  <a:pt x="0" y="85724"/>
                </a:lnTo>
                <a:lnTo>
                  <a:pt x="0" y="0"/>
                </a:lnTo>
                <a:lnTo>
                  <a:pt x="876299" y="0"/>
                </a:lnTo>
                <a:lnTo>
                  <a:pt x="876299" y="85724"/>
                </a:lnTo>
                <a:close/>
              </a:path>
            </a:pathLst>
          </a:custGeom>
          <a:solidFill>
            <a:srgbClr val="E1E3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43000" y="3085134"/>
            <a:ext cx="16002000" cy="28575"/>
          </a:xfrm>
          <a:custGeom>
            <a:avLst/>
            <a:gdLst/>
            <a:ahLst/>
            <a:cxnLst/>
            <a:rect l="l" t="t" r="r" b="b"/>
            <a:pathLst>
              <a:path w="16002000" h="28575">
                <a:moveTo>
                  <a:pt x="16002000" y="0"/>
                </a:moveTo>
                <a:lnTo>
                  <a:pt x="16002000" y="0"/>
                </a:lnTo>
                <a:lnTo>
                  <a:pt x="0" y="0"/>
                </a:lnTo>
                <a:lnTo>
                  <a:pt x="0" y="28575"/>
                </a:lnTo>
                <a:lnTo>
                  <a:pt x="16002000" y="28575"/>
                </a:lnTo>
                <a:lnTo>
                  <a:pt x="16002000" y="0"/>
                </a:lnTo>
                <a:close/>
              </a:path>
            </a:pathLst>
          </a:custGeom>
          <a:solidFill>
            <a:srgbClr val="188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3318495"/>
            <a:ext cx="495299" cy="495299"/>
          </a:xfrm>
          <a:prstGeom prst="rect">
            <a:avLst/>
          </a:prstGeom>
        </p:spPr>
      </p:pic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438400" y="2678033"/>
          <a:ext cx="14705330" cy="44024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7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3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8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59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10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ts val="1860"/>
                        </a:lnSpc>
                      </a:pPr>
                      <a:r>
                        <a:rPr sz="1650" b="1" spc="-10" dirty="0">
                          <a:solidFill>
                            <a:srgbClr val="188C8C"/>
                          </a:solidFill>
                          <a:latin typeface="Roboto Cn"/>
                          <a:cs typeface="Roboto Cn"/>
                        </a:rPr>
                        <a:t>DEFINITION</a:t>
                      </a:r>
                      <a:endParaRPr sz="1650">
                        <a:latin typeface="Roboto Cn"/>
                        <a:cs typeface="Roboto C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ts val="1860"/>
                        </a:lnSpc>
                      </a:pPr>
                      <a:r>
                        <a:rPr sz="1650" b="1" spc="-10" dirty="0">
                          <a:solidFill>
                            <a:srgbClr val="188C8C"/>
                          </a:solidFill>
                          <a:latin typeface="Roboto Cn"/>
                          <a:cs typeface="Roboto Cn"/>
                        </a:rPr>
                        <a:t>FIGURE</a:t>
                      </a:r>
                      <a:endParaRPr sz="1650">
                        <a:latin typeface="Roboto Cn"/>
                        <a:cs typeface="Roboto C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ts val="1860"/>
                        </a:lnSpc>
                      </a:pPr>
                      <a:r>
                        <a:rPr sz="1650" b="1" dirty="0">
                          <a:solidFill>
                            <a:srgbClr val="188C8C"/>
                          </a:solidFill>
                          <a:latin typeface="Roboto Cn"/>
                          <a:cs typeface="Roboto Cn"/>
                        </a:rPr>
                        <a:t>HOW</a:t>
                      </a:r>
                      <a:r>
                        <a:rPr sz="1650" b="1" spc="10" dirty="0">
                          <a:solidFill>
                            <a:srgbClr val="188C8C"/>
                          </a:solidFill>
                          <a:latin typeface="Roboto Cn"/>
                          <a:cs typeface="Roboto Cn"/>
                        </a:rPr>
                        <a:t> </a:t>
                      </a:r>
                      <a:r>
                        <a:rPr sz="1650" b="1" dirty="0">
                          <a:solidFill>
                            <a:srgbClr val="188C8C"/>
                          </a:solidFill>
                          <a:latin typeface="Roboto Cn"/>
                          <a:cs typeface="Roboto Cn"/>
                        </a:rPr>
                        <a:t>IT</a:t>
                      </a:r>
                      <a:r>
                        <a:rPr sz="1650" b="1" spc="-30" dirty="0">
                          <a:solidFill>
                            <a:srgbClr val="188C8C"/>
                          </a:solidFill>
                          <a:latin typeface="Roboto Cn"/>
                          <a:cs typeface="Roboto Cn"/>
                        </a:rPr>
                        <a:t> </a:t>
                      </a:r>
                      <a:r>
                        <a:rPr sz="1650" b="1" dirty="0">
                          <a:solidFill>
                            <a:srgbClr val="188C8C"/>
                          </a:solidFill>
                          <a:latin typeface="Roboto Cn"/>
                          <a:cs typeface="Roboto Cn"/>
                        </a:rPr>
                        <a:t>IS</a:t>
                      </a:r>
                      <a:r>
                        <a:rPr sz="1650" b="1" spc="15" dirty="0">
                          <a:solidFill>
                            <a:srgbClr val="188C8C"/>
                          </a:solidFill>
                          <a:latin typeface="Roboto Cn"/>
                          <a:cs typeface="Roboto Cn"/>
                        </a:rPr>
                        <a:t> </a:t>
                      </a:r>
                      <a:r>
                        <a:rPr sz="1650" b="1" spc="-20" dirty="0">
                          <a:solidFill>
                            <a:srgbClr val="188C8C"/>
                          </a:solidFill>
                          <a:latin typeface="Roboto Cn"/>
                          <a:cs typeface="Roboto Cn"/>
                        </a:rPr>
                        <a:t>BUILT</a:t>
                      </a:r>
                      <a:endParaRPr sz="1650">
                        <a:latin typeface="Roboto Cn"/>
                        <a:cs typeface="Roboto C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3769">
                <a:tc>
                  <a:txBody>
                    <a:bodyPr/>
                    <a:lstStyle/>
                    <a:p>
                      <a:pPr marR="142240" algn="r">
                        <a:lnSpc>
                          <a:spcPct val="100000"/>
                        </a:lnSpc>
                        <a:spcBef>
                          <a:spcPts val="2300"/>
                        </a:spcBef>
                      </a:pPr>
                      <a:r>
                        <a:rPr sz="2150" b="1" spc="-2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TAM</a:t>
                      </a:r>
                      <a:endParaRPr sz="2150">
                        <a:latin typeface="Roboto Bk"/>
                        <a:cs typeface="Roboto Bk"/>
                      </a:endParaRPr>
                    </a:p>
                  </a:txBody>
                  <a:tcPr marL="0" marR="0" marT="292100" marB="0">
                    <a:solidFill>
                      <a:srgbClr val="D6E7E4"/>
                    </a:solidFill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2300"/>
                        </a:spcBef>
                      </a:pPr>
                      <a:r>
                        <a:rPr sz="2150" b="1" spc="-15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Card-</a:t>
                      </a:r>
                      <a:r>
                        <a:rPr sz="2150" b="1" spc="-16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holding</a:t>
                      </a:r>
                      <a:r>
                        <a:rPr sz="2150" b="1" spc="-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3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adults</a:t>
                      </a:r>
                      <a:r>
                        <a:rPr sz="2150" b="1" spc="-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3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in</a:t>
                      </a:r>
                      <a:r>
                        <a:rPr sz="2150" b="1" spc="-1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2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Pakistan</a:t>
                      </a:r>
                      <a:endParaRPr sz="2150">
                        <a:latin typeface="Roboto Bk"/>
                        <a:cs typeface="Roboto Bk"/>
                      </a:endParaRPr>
                    </a:p>
                  </a:txBody>
                  <a:tcPr marL="0" marR="0" marT="292100" marB="0">
                    <a:solidFill>
                      <a:srgbClr val="D6E7E4"/>
                    </a:solidFill>
                  </a:tcPr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2300"/>
                        </a:spcBef>
                      </a:pPr>
                      <a:r>
                        <a:rPr sz="2150" b="1" spc="-2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~17M</a:t>
                      </a:r>
                      <a:endParaRPr sz="2150">
                        <a:latin typeface="Roboto Bk"/>
                        <a:cs typeface="Roboto Bk"/>
                      </a:endParaRPr>
                    </a:p>
                  </a:txBody>
                  <a:tcPr marL="0" marR="0" marT="292100" marB="0">
                    <a:solidFill>
                      <a:srgbClr val="D6E7E4"/>
                    </a:solidFill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2300"/>
                        </a:spcBef>
                      </a:pPr>
                      <a:r>
                        <a:rPr sz="2150" b="1" spc="-18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10.6%</a:t>
                      </a:r>
                      <a:r>
                        <a:rPr sz="2150" b="1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4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adult</a:t>
                      </a:r>
                      <a:r>
                        <a:rPr sz="2150" b="1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3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debit</a:t>
                      </a:r>
                      <a:r>
                        <a:rPr sz="2150" b="1" spc="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4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ownership</a:t>
                      </a:r>
                      <a:r>
                        <a:rPr sz="2150" b="1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3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(Findex)</a:t>
                      </a:r>
                      <a:r>
                        <a:rPr sz="2150" b="1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14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×</a:t>
                      </a:r>
                      <a:r>
                        <a:rPr sz="2150" b="1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9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~165M</a:t>
                      </a:r>
                      <a:r>
                        <a:rPr sz="2150" b="1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adults</a:t>
                      </a:r>
                      <a:endParaRPr sz="2150">
                        <a:latin typeface="Roboto Bk"/>
                        <a:cs typeface="Roboto Bk"/>
                      </a:endParaRPr>
                    </a:p>
                  </a:txBody>
                  <a:tcPr marL="0" marR="0" marT="292100" marB="0">
                    <a:solidFill>
                      <a:srgbClr val="D6E7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7625">
                <a:tc>
                  <a:txBody>
                    <a:bodyPr/>
                    <a:lstStyle/>
                    <a:p>
                      <a:pPr marR="132080" algn="r">
                        <a:lnSpc>
                          <a:spcPct val="100000"/>
                        </a:lnSpc>
                        <a:spcBef>
                          <a:spcPts val="2185"/>
                        </a:spcBef>
                      </a:pPr>
                      <a:r>
                        <a:rPr sz="2150" b="1" spc="-2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SAM</a:t>
                      </a:r>
                      <a:endParaRPr sz="2150">
                        <a:latin typeface="Roboto Bk"/>
                        <a:cs typeface="Roboto Bk"/>
                      </a:endParaRPr>
                    </a:p>
                  </a:txBody>
                  <a:tcPr marL="0" marR="0" marT="277495" marB="0"/>
                </a:tc>
                <a:tc>
                  <a:txBody>
                    <a:bodyPr/>
                    <a:lstStyle/>
                    <a:p>
                      <a:pPr marL="133350" marR="317500">
                        <a:lnSpc>
                          <a:spcPct val="122500"/>
                        </a:lnSpc>
                        <a:spcBef>
                          <a:spcPts val="1605"/>
                        </a:spcBef>
                      </a:pPr>
                      <a:r>
                        <a:rPr sz="2150" b="1" spc="-15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Card-</a:t>
                      </a:r>
                      <a:r>
                        <a:rPr sz="2150" b="1" spc="-17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holding,</a:t>
                      </a:r>
                      <a:r>
                        <a:rPr sz="2150" b="1" spc="2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5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smartphone-</a:t>
                      </a:r>
                      <a:r>
                        <a:rPr sz="2150" b="1" spc="-17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owning</a:t>
                      </a:r>
                      <a:r>
                        <a:rPr sz="2150" b="1" spc="3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3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adults</a:t>
                      </a:r>
                      <a:r>
                        <a:rPr sz="2150" b="1" spc="3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3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in</a:t>
                      </a:r>
                      <a:r>
                        <a:rPr sz="2150" b="1" spc="3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6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the </a:t>
                      </a:r>
                      <a:r>
                        <a:rPr sz="2150" b="1" spc="-13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three</a:t>
                      </a:r>
                      <a:r>
                        <a:rPr sz="2150" b="1" spc="-1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3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largest</a:t>
                      </a:r>
                      <a:r>
                        <a:rPr sz="2150" b="1" spc="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metros</a:t>
                      </a:r>
                      <a:endParaRPr sz="2150">
                        <a:latin typeface="Roboto Bk"/>
                        <a:cs typeface="Roboto Bk"/>
                      </a:endParaRPr>
                    </a:p>
                  </a:txBody>
                  <a:tcPr marL="0" marR="0" marT="203835" marB="0"/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2185"/>
                        </a:spcBef>
                      </a:pPr>
                      <a:r>
                        <a:rPr sz="2150" b="1" spc="-22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5–</a:t>
                      </a:r>
                      <a:r>
                        <a:rPr sz="2150" b="1" spc="-2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6M</a:t>
                      </a:r>
                      <a:endParaRPr sz="2150">
                        <a:latin typeface="Roboto Bk"/>
                        <a:cs typeface="Roboto Bk"/>
                      </a:endParaRPr>
                    </a:p>
                  </a:txBody>
                  <a:tcPr marL="0" marR="0" marT="277495" marB="0"/>
                </a:tc>
                <a:tc>
                  <a:txBody>
                    <a:bodyPr/>
                    <a:lstStyle/>
                    <a:p>
                      <a:pPr marL="170815" marR="528320">
                        <a:lnSpc>
                          <a:spcPct val="122500"/>
                        </a:lnSpc>
                        <a:spcBef>
                          <a:spcPts val="1605"/>
                        </a:spcBef>
                      </a:pPr>
                      <a:r>
                        <a:rPr sz="2150" b="1" spc="-19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~40%</a:t>
                      </a:r>
                      <a:r>
                        <a:rPr sz="2150" b="1" spc="-2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14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of</a:t>
                      </a:r>
                      <a:r>
                        <a:rPr sz="2150" b="1" spc="-1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3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cardholders</a:t>
                      </a:r>
                      <a:r>
                        <a:rPr sz="2150" b="1" spc="-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4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urban</a:t>
                      </a:r>
                      <a:r>
                        <a:rPr sz="2150" b="1" spc="-1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8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(17M</a:t>
                      </a:r>
                      <a:r>
                        <a:rPr sz="2150" b="1" spc="-1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14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×</a:t>
                      </a:r>
                      <a:r>
                        <a:rPr sz="2150" b="1" spc="-1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21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40%</a:t>
                      </a:r>
                      <a:r>
                        <a:rPr sz="2150" b="1" spc="-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9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≈</a:t>
                      </a:r>
                      <a:r>
                        <a:rPr sz="2150" b="1" spc="-1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7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6.8M),</a:t>
                      </a:r>
                      <a:r>
                        <a:rPr sz="2150" b="1" spc="-1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0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~85% </a:t>
                      </a:r>
                      <a:r>
                        <a:rPr sz="2150" b="1" spc="-14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smartphone-</a:t>
                      </a:r>
                      <a:r>
                        <a:rPr sz="2150" b="1" spc="-1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capable</a:t>
                      </a:r>
                      <a:endParaRPr sz="2150">
                        <a:latin typeface="Roboto Bk"/>
                        <a:cs typeface="Roboto Bk"/>
                      </a:endParaRPr>
                    </a:p>
                  </a:txBody>
                  <a:tcPr marL="0" marR="0" marT="20383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0055">
                <a:tc>
                  <a:txBody>
                    <a:bodyPr/>
                    <a:lstStyle/>
                    <a:p>
                      <a:pPr marR="125730" algn="r">
                        <a:lnSpc>
                          <a:spcPct val="100000"/>
                        </a:lnSpc>
                        <a:spcBef>
                          <a:spcPts val="2185"/>
                        </a:spcBef>
                      </a:pPr>
                      <a:r>
                        <a:rPr sz="2150" b="1" spc="-2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SOM</a:t>
                      </a:r>
                      <a:endParaRPr sz="2150">
                        <a:latin typeface="Roboto Bk"/>
                        <a:cs typeface="Roboto Bk"/>
                      </a:endParaRPr>
                    </a:p>
                  </a:txBody>
                  <a:tcPr marL="0" marR="0" marT="277495" marB="0">
                    <a:solidFill>
                      <a:srgbClr val="D6E7E4"/>
                    </a:solidFill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2185"/>
                        </a:spcBef>
                      </a:pPr>
                      <a:r>
                        <a:rPr sz="2150" b="1" spc="-13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Realistic</a:t>
                      </a:r>
                      <a:r>
                        <a:rPr sz="2150" b="1" spc="-1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3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capture</a:t>
                      </a:r>
                      <a:r>
                        <a:rPr sz="2150" b="1" spc="-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3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in</a:t>
                      </a:r>
                      <a:r>
                        <a:rPr sz="2150" b="1" spc="-1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3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Karachi</a:t>
                      </a:r>
                      <a:r>
                        <a:rPr sz="2150" b="1" spc="-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4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over</a:t>
                      </a:r>
                      <a:r>
                        <a:rPr sz="2150" b="1" spc="-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9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24</a:t>
                      </a:r>
                      <a:r>
                        <a:rPr sz="2150" b="1" spc="-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months</a:t>
                      </a:r>
                      <a:endParaRPr sz="2150">
                        <a:latin typeface="Roboto Bk"/>
                        <a:cs typeface="Roboto Bk"/>
                      </a:endParaRPr>
                    </a:p>
                  </a:txBody>
                  <a:tcPr marL="0" marR="0" marT="277495" marB="0">
                    <a:solidFill>
                      <a:srgbClr val="D6E7E4"/>
                    </a:solidFill>
                  </a:tcPr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2185"/>
                        </a:spcBef>
                      </a:pPr>
                      <a:r>
                        <a:rPr sz="2150" b="1" spc="-204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6,500</a:t>
                      </a:r>
                      <a:r>
                        <a:rPr sz="2150" b="1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2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ﬂoor</a:t>
                      </a:r>
                      <a:endParaRPr sz="2150">
                        <a:latin typeface="Roboto Bk"/>
                        <a:cs typeface="Roboto Bk"/>
                      </a:endParaRPr>
                    </a:p>
                    <a:p>
                      <a:pPr marL="32512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150" b="1" spc="-3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20,000</a:t>
                      </a:r>
                      <a:endParaRPr sz="2150">
                        <a:latin typeface="Roboto Bk"/>
                        <a:cs typeface="Roboto Bk"/>
                      </a:endParaRPr>
                    </a:p>
                    <a:p>
                      <a:pPr marL="32512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150" b="1" spc="-1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target</a:t>
                      </a:r>
                      <a:endParaRPr sz="2150">
                        <a:latin typeface="Roboto Bk"/>
                        <a:cs typeface="Roboto Bk"/>
                      </a:endParaRPr>
                    </a:p>
                  </a:txBody>
                  <a:tcPr marL="0" marR="0" marT="277495" marB="0">
                    <a:solidFill>
                      <a:srgbClr val="D6E7E4"/>
                    </a:solidFill>
                  </a:tcPr>
                </a:tc>
                <a:tc>
                  <a:txBody>
                    <a:bodyPr/>
                    <a:lstStyle/>
                    <a:p>
                      <a:pPr marL="170815" marR="191135">
                        <a:lnSpc>
                          <a:spcPct val="122500"/>
                        </a:lnSpc>
                        <a:spcBef>
                          <a:spcPts val="1605"/>
                        </a:spcBef>
                      </a:pPr>
                      <a:r>
                        <a:rPr sz="2150" b="1" spc="-19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Bottom-</a:t>
                      </a:r>
                      <a:r>
                        <a:rPr sz="2150" b="1" spc="-204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up</a:t>
                      </a:r>
                      <a:r>
                        <a:rPr sz="2150" b="1" spc="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5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from</a:t>
                      </a:r>
                      <a:r>
                        <a:rPr sz="2150" b="1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9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50</a:t>
                      </a:r>
                      <a:r>
                        <a:rPr sz="2150" b="1" spc="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5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merchants;</a:t>
                      </a:r>
                      <a:r>
                        <a:rPr sz="2150" b="1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7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ﬂoor</a:t>
                      </a:r>
                      <a:r>
                        <a:rPr sz="2150" b="1" spc="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3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uses</a:t>
                      </a:r>
                      <a:r>
                        <a:rPr sz="2150" b="1" spc="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6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Golootlo’s</a:t>
                      </a:r>
                      <a:r>
                        <a:rPr sz="2150" b="1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7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~130 </a:t>
                      </a:r>
                      <a:r>
                        <a:rPr sz="2150" b="1" spc="-13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users</a:t>
                      </a:r>
                      <a:r>
                        <a:rPr sz="2150" b="1" spc="-1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3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per</a:t>
                      </a:r>
                      <a:r>
                        <a:rPr sz="2150" b="1" spc="-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2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merchant</a:t>
                      </a:r>
                      <a:endParaRPr sz="2150">
                        <a:latin typeface="Roboto Bk"/>
                        <a:cs typeface="Roboto Bk"/>
                      </a:endParaRPr>
                    </a:p>
                  </a:txBody>
                  <a:tcPr marL="0" marR="0" marT="203835" marB="0">
                    <a:solidFill>
                      <a:srgbClr val="D6E7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3000" y="4244132"/>
            <a:ext cx="495299" cy="4952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3000" y="5562005"/>
            <a:ext cx="495299" cy="49529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49350" y="7572596"/>
            <a:ext cx="1150747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145" dirty="0">
                <a:solidFill>
                  <a:srgbClr val="7B837D"/>
                </a:solidFill>
                <a:latin typeface="Roboto Bk"/>
                <a:cs typeface="Roboto Bk"/>
              </a:rPr>
              <a:t>Cards</a:t>
            </a:r>
            <a:r>
              <a:rPr sz="2100" b="1" spc="-20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50" dirty="0">
                <a:solidFill>
                  <a:srgbClr val="7B837D"/>
                </a:solidFill>
                <a:latin typeface="Roboto Bk"/>
                <a:cs typeface="Roboto Bk"/>
              </a:rPr>
              <a:t>grew</a:t>
            </a:r>
            <a:r>
              <a:rPr sz="2100" b="1" spc="-20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210" dirty="0">
                <a:solidFill>
                  <a:srgbClr val="7B837D"/>
                </a:solidFill>
                <a:latin typeface="Roboto Bk"/>
                <a:cs typeface="Roboto Bk"/>
              </a:rPr>
              <a:t>41%</a:t>
            </a:r>
            <a:r>
              <a:rPr sz="2100" b="1" spc="-20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40" dirty="0">
                <a:solidFill>
                  <a:srgbClr val="7B837D"/>
                </a:solidFill>
                <a:latin typeface="Roboto Bk"/>
                <a:cs typeface="Roboto Bk"/>
              </a:rPr>
              <a:t>in</a:t>
            </a:r>
            <a:r>
              <a:rPr sz="2100" b="1" spc="-20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45" dirty="0">
                <a:solidFill>
                  <a:srgbClr val="7B837D"/>
                </a:solidFill>
                <a:latin typeface="Roboto Bk"/>
                <a:cs typeface="Roboto Bk"/>
              </a:rPr>
              <a:t>three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55" dirty="0">
                <a:solidFill>
                  <a:srgbClr val="7B837D"/>
                </a:solidFill>
                <a:latin typeface="Roboto Bk"/>
                <a:cs typeface="Roboto Bk"/>
              </a:rPr>
              <a:t>years,</a:t>
            </a:r>
            <a:r>
              <a:rPr sz="2100" b="1" spc="-20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80" dirty="0">
                <a:solidFill>
                  <a:srgbClr val="7B837D"/>
                </a:solidFill>
                <a:latin typeface="Roboto Bk"/>
                <a:cs typeface="Roboto Bk"/>
              </a:rPr>
              <a:t>48.4M</a:t>
            </a:r>
            <a:r>
              <a:rPr sz="2100" b="1" spc="-20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45" dirty="0">
                <a:solidFill>
                  <a:srgbClr val="7B837D"/>
                </a:solidFill>
                <a:latin typeface="Roboto Bk"/>
                <a:cs typeface="Roboto Bk"/>
              </a:rPr>
              <a:t>to</a:t>
            </a:r>
            <a:r>
              <a:rPr sz="2100" b="1" spc="-20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65" dirty="0">
                <a:solidFill>
                  <a:srgbClr val="7B837D"/>
                </a:solidFill>
                <a:latin typeface="Roboto Bk"/>
                <a:cs typeface="Roboto Bk"/>
              </a:rPr>
              <a:t>68.25M.</a:t>
            </a:r>
            <a:r>
              <a:rPr sz="2100" b="1" spc="-60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35" dirty="0">
                <a:solidFill>
                  <a:srgbClr val="7B837D"/>
                </a:solidFill>
                <a:latin typeface="Roboto Bk"/>
                <a:cs typeface="Roboto Bk"/>
              </a:rPr>
              <a:t>The</a:t>
            </a:r>
            <a:r>
              <a:rPr sz="2100" b="1" spc="-20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65" dirty="0">
                <a:solidFill>
                  <a:srgbClr val="7B837D"/>
                </a:solidFill>
                <a:latin typeface="Roboto Bk"/>
                <a:cs typeface="Roboto Bk"/>
              </a:rPr>
              <a:t>“which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30" dirty="0">
                <a:solidFill>
                  <a:srgbClr val="7B837D"/>
                </a:solidFill>
                <a:latin typeface="Roboto Bk"/>
                <a:cs typeface="Roboto Bk"/>
              </a:rPr>
              <a:t>card</a:t>
            </a:r>
            <a:r>
              <a:rPr sz="2100" b="1" spc="-20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40" dirty="0">
                <a:solidFill>
                  <a:srgbClr val="7B837D"/>
                </a:solidFill>
                <a:latin typeface="Roboto Bk"/>
                <a:cs typeface="Roboto Bk"/>
              </a:rPr>
              <a:t>do</a:t>
            </a:r>
            <a:r>
              <a:rPr sz="2100" b="1" spc="-20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00" dirty="0">
                <a:solidFill>
                  <a:srgbClr val="7B837D"/>
                </a:solidFill>
                <a:latin typeface="Roboto Bk"/>
                <a:cs typeface="Roboto Bk"/>
              </a:rPr>
              <a:t>I</a:t>
            </a:r>
            <a:r>
              <a:rPr sz="2100" b="1" spc="-20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70" dirty="0">
                <a:solidFill>
                  <a:srgbClr val="7B837D"/>
                </a:solidFill>
                <a:latin typeface="Roboto Bk"/>
                <a:cs typeface="Roboto Bk"/>
              </a:rPr>
              <a:t>tap”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50" dirty="0">
                <a:solidFill>
                  <a:srgbClr val="7B837D"/>
                </a:solidFill>
                <a:latin typeface="Roboto Bk"/>
                <a:cs typeface="Roboto Bk"/>
              </a:rPr>
              <a:t>problem</a:t>
            </a:r>
            <a:r>
              <a:rPr sz="2100" b="1" spc="-20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14" dirty="0">
                <a:solidFill>
                  <a:srgbClr val="7B837D"/>
                </a:solidFill>
                <a:latin typeface="Roboto Bk"/>
                <a:cs typeface="Roboto Bk"/>
              </a:rPr>
              <a:t>is</a:t>
            </a:r>
            <a:r>
              <a:rPr sz="2100" b="1" spc="-20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55" dirty="0">
                <a:solidFill>
                  <a:srgbClr val="7B837D"/>
                </a:solidFill>
                <a:latin typeface="Roboto Bk"/>
                <a:cs typeface="Roboto Bk"/>
              </a:rPr>
              <a:t>roughly</a:t>
            </a:r>
            <a:r>
              <a:rPr sz="2100" b="1" spc="-20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45" dirty="0">
                <a:solidFill>
                  <a:srgbClr val="7B837D"/>
                </a:solidFill>
                <a:latin typeface="Roboto Bk"/>
                <a:cs typeface="Roboto Bk"/>
              </a:rPr>
              <a:t>three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45" dirty="0">
                <a:solidFill>
                  <a:srgbClr val="7B837D"/>
                </a:solidFill>
                <a:latin typeface="Roboto Bk"/>
                <a:cs typeface="Roboto Bk"/>
              </a:rPr>
              <a:t>years</a:t>
            </a:r>
            <a:r>
              <a:rPr sz="2100" b="1" spc="-20" dirty="0">
                <a:solidFill>
                  <a:srgbClr val="7B837D"/>
                </a:solidFill>
                <a:latin typeface="Roboto Bk"/>
                <a:cs typeface="Roboto Bk"/>
              </a:rPr>
              <a:t> old.</a:t>
            </a:r>
            <a:endParaRPr sz="2100">
              <a:latin typeface="Roboto Bk"/>
              <a:cs typeface="Roboto Bk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810925" y="8953500"/>
            <a:ext cx="876299" cy="876299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89"/>
              </a:lnSpc>
            </a:pPr>
            <a:r>
              <a:rPr spc="-145" dirty="0"/>
              <a:t>FLUSAI</a:t>
            </a:r>
            <a:r>
              <a:rPr dirty="0"/>
              <a:t> </a:t>
            </a:r>
            <a:r>
              <a:rPr spc="-120" dirty="0"/>
              <a:t>·</a:t>
            </a:r>
            <a:r>
              <a:rPr spc="-5" dirty="0"/>
              <a:t> </a:t>
            </a:r>
            <a:r>
              <a:rPr spc="-120" dirty="0"/>
              <a:t>NIC</a:t>
            </a:r>
            <a:r>
              <a:rPr spc="-5" dirty="0"/>
              <a:t> </a:t>
            </a:r>
            <a:r>
              <a:rPr spc="-135" dirty="0"/>
              <a:t>KARACHI</a:t>
            </a:r>
            <a:r>
              <a:rPr spc="5" dirty="0"/>
              <a:t> </a:t>
            </a:r>
            <a:r>
              <a:rPr spc="-95" dirty="0"/>
              <a:t>2026</a:t>
            </a: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9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10286999"/>
                </a:lnTo>
                <a:close/>
              </a:path>
            </a:pathLst>
          </a:custGeom>
          <a:solidFill>
            <a:srgbClr val="FC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437215" y="0"/>
            <a:ext cx="2851150" cy="2476500"/>
          </a:xfrm>
          <a:custGeom>
            <a:avLst/>
            <a:gdLst/>
            <a:ahLst/>
            <a:cxnLst/>
            <a:rect l="l" t="t" r="r" b="b"/>
            <a:pathLst>
              <a:path w="2851150" h="2476500">
                <a:moveTo>
                  <a:pt x="2660283" y="2476499"/>
                </a:moveTo>
                <a:lnTo>
                  <a:pt x="2611827" y="2476068"/>
                </a:lnTo>
                <a:lnTo>
                  <a:pt x="2563580" y="2474779"/>
                </a:lnTo>
                <a:lnTo>
                  <a:pt x="2515550" y="2472639"/>
                </a:lnTo>
                <a:lnTo>
                  <a:pt x="2467743" y="2469656"/>
                </a:lnTo>
                <a:lnTo>
                  <a:pt x="2420168" y="2465837"/>
                </a:lnTo>
                <a:lnTo>
                  <a:pt x="2372831" y="2461189"/>
                </a:lnTo>
                <a:lnTo>
                  <a:pt x="2325740" y="2455720"/>
                </a:lnTo>
                <a:lnTo>
                  <a:pt x="2278903" y="2449436"/>
                </a:lnTo>
                <a:lnTo>
                  <a:pt x="2232325" y="2442346"/>
                </a:lnTo>
                <a:lnTo>
                  <a:pt x="2186015" y="2434456"/>
                </a:lnTo>
                <a:lnTo>
                  <a:pt x="2139980" y="2425774"/>
                </a:lnTo>
                <a:lnTo>
                  <a:pt x="2094228" y="2416307"/>
                </a:lnTo>
                <a:lnTo>
                  <a:pt x="2048765" y="2406062"/>
                </a:lnTo>
                <a:lnTo>
                  <a:pt x="2003598" y="2395047"/>
                </a:lnTo>
                <a:lnTo>
                  <a:pt x="1958736" y="2383268"/>
                </a:lnTo>
                <a:lnTo>
                  <a:pt x="1914185" y="2370734"/>
                </a:lnTo>
                <a:lnTo>
                  <a:pt x="1869953" y="2357451"/>
                </a:lnTo>
                <a:lnTo>
                  <a:pt x="1826046" y="2343427"/>
                </a:lnTo>
                <a:lnTo>
                  <a:pt x="1782473" y="2328669"/>
                </a:lnTo>
                <a:lnTo>
                  <a:pt x="1739241" y="2313184"/>
                </a:lnTo>
                <a:lnTo>
                  <a:pt x="1696356" y="2296980"/>
                </a:lnTo>
                <a:lnTo>
                  <a:pt x="1653826" y="2280064"/>
                </a:lnTo>
                <a:lnTo>
                  <a:pt x="1611659" y="2262442"/>
                </a:lnTo>
                <a:lnTo>
                  <a:pt x="1569861" y="2244124"/>
                </a:lnTo>
                <a:lnTo>
                  <a:pt x="1528441" y="2225115"/>
                </a:lnTo>
                <a:lnTo>
                  <a:pt x="1487404" y="2205423"/>
                </a:lnTo>
                <a:lnTo>
                  <a:pt x="1446759" y="2185055"/>
                </a:lnTo>
                <a:lnTo>
                  <a:pt x="1406513" y="2164019"/>
                </a:lnTo>
                <a:lnTo>
                  <a:pt x="1366673" y="2142321"/>
                </a:lnTo>
                <a:lnTo>
                  <a:pt x="1327246" y="2119970"/>
                </a:lnTo>
                <a:lnTo>
                  <a:pt x="1288240" y="2096973"/>
                </a:lnTo>
                <a:lnTo>
                  <a:pt x="1249662" y="2073336"/>
                </a:lnTo>
                <a:lnTo>
                  <a:pt x="1211519" y="2049067"/>
                </a:lnTo>
                <a:lnTo>
                  <a:pt x="1173819" y="2024173"/>
                </a:lnTo>
                <a:lnTo>
                  <a:pt x="1136569" y="1998662"/>
                </a:lnTo>
                <a:lnTo>
                  <a:pt x="1099775" y="1972541"/>
                </a:lnTo>
                <a:lnTo>
                  <a:pt x="1063446" y="1945817"/>
                </a:lnTo>
                <a:lnTo>
                  <a:pt x="1027589" y="1918497"/>
                </a:lnTo>
                <a:lnTo>
                  <a:pt x="992211" y="1890590"/>
                </a:lnTo>
                <a:lnTo>
                  <a:pt x="957319" y="1862101"/>
                </a:lnTo>
                <a:lnTo>
                  <a:pt x="922920" y="1833038"/>
                </a:lnTo>
                <a:lnTo>
                  <a:pt x="889022" y="1803409"/>
                </a:lnTo>
                <a:lnTo>
                  <a:pt x="855633" y="1773222"/>
                </a:lnTo>
                <a:lnTo>
                  <a:pt x="822758" y="1742482"/>
                </a:lnTo>
                <a:lnTo>
                  <a:pt x="790407" y="1711197"/>
                </a:lnTo>
                <a:lnTo>
                  <a:pt x="758585" y="1679376"/>
                </a:lnTo>
                <a:lnTo>
                  <a:pt x="727301" y="1647024"/>
                </a:lnTo>
                <a:lnTo>
                  <a:pt x="696561" y="1614150"/>
                </a:lnTo>
                <a:lnTo>
                  <a:pt x="666373" y="1580760"/>
                </a:lnTo>
                <a:lnTo>
                  <a:pt x="636744" y="1546863"/>
                </a:lnTo>
                <a:lnTo>
                  <a:pt x="607682" y="1512464"/>
                </a:lnTo>
                <a:lnTo>
                  <a:pt x="579193" y="1477572"/>
                </a:lnTo>
                <a:lnTo>
                  <a:pt x="551285" y="1442194"/>
                </a:lnTo>
                <a:lnTo>
                  <a:pt x="523966" y="1406336"/>
                </a:lnTo>
                <a:lnTo>
                  <a:pt x="497242" y="1370007"/>
                </a:lnTo>
                <a:lnTo>
                  <a:pt x="471121" y="1333214"/>
                </a:lnTo>
                <a:lnTo>
                  <a:pt x="445610" y="1295964"/>
                </a:lnTo>
                <a:lnTo>
                  <a:pt x="420716" y="1258263"/>
                </a:lnTo>
                <a:lnTo>
                  <a:pt x="396447" y="1220120"/>
                </a:lnTo>
                <a:lnTo>
                  <a:pt x="372810" y="1181542"/>
                </a:lnTo>
                <a:lnTo>
                  <a:pt x="349812" y="1142536"/>
                </a:lnTo>
                <a:lnTo>
                  <a:pt x="327461" y="1103110"/>
                </a:lnTo>
                <a:lnTo>
                  <a:pt x="305764" y="1063270"/>
                </a:lnTo>
                <a:lnTo>
                  <a:pt x="284728" y="1023024"/>
                </a:lnTo>
                <a:lnTo>
                  <a:pt x="264360" y="982379"/>
                </a:lnTo>
                <a:lnTo>
                  <a:pt x="244668" y="941342"/>
                </a:lnTo>
                <a:lnTo>
                  <a:pt x="225659" y="899921"/>
                </a:lnTo>
                <a:lnTo>
                  <a:pt x="207340" y="858124"/>
                </a:lnTo>
                <a:lnTo>
                  <a:pt x="189719" y="815956"/>
                </a:lnTo>
                <a:lnTo>
                  <a:pt x="172803" y="773427"/>
                </a:lnTo>
                <a:lnTo>
                  <a:pt x="156598" y="730542"/>
                </a:lnTo>
                <a:lnTo>
                  <a:pt x="141114" y="687309"/>
                </a:lnTo>
                <a:lnTo>
                  <a:pt x="126356" y="643736"/>
                </a:lnTo>
                <a:lnTo>
                  <a:pt x="112331" y="599830"/>
                </a:lnTo>
                <a:lnTo>
                  <a:pt x="99049" y="555598"/>
                </a:lnTo>
                <a:lnTo>
                  <a:pt x="86514" y="511047"/>
                </a:lnTo>
                <a:lnTo>
                  <a:pt x="74736" y="466185"/>
                </a:lnTo>
                <a:lnTo>
                  <a:pt x="63721" y="421018"/>
                </a:lnTo>
                <a:lnTo>
                  <a:pt x="53476" y="375555"/>
                </a:lnTo>
                <a:lnTo>
                  <a:pt x="44009" y="329802"/>
                </a:lnTo>
                <a:lnTo>
                  <a:pt x="35327" y="283767"/>
                </a:lnTo>
                <a:lnTo>
                  <a:pt x="27437" y="237458"/>
                </a:lnTo>
                <a:lnTo>
                  <a:pt x="20346" y="190880"/>
                </a:lnTo>
                <a:lnTo>
                  <a:pt x="14063" y="144042"/>
                </a:lnTo>
                <a:lnTo>
                  <a:pt x="8594" y="96951"/>
                </a:lnTo>
                <a:lnTo>
                  <a:pt x="3946" y="49615"/>
                </a:lnTo>
                <a:lnTo>
                  <a:pt x="127" y="2040"/>
                </a:lnTo>
                <a:lnTo>
                  <a:pt x="0" y="0"/>
                </a:lnTo>
                <a:lnTo>
                  <a:pt x="2850783" y="0"/>
                </a:lnTo>
                <a:lnTo>
                  <a:pt x="2850783" y="2469783"/>
                </a:lnTo>
                <a:lnTo>
                  <a:pt x="2805017" y="2472639"/>
                </a:lnTo>
                <a:lnTo>
                  <a:pt x="2756987" y="2474779"/>
                </a:lnTo>
                <a:lnTo>
                  <a:pt x="2708740" y="2476068"/>
                </a:lnTo>
                <a:lnTo>
                  <a:pt x="2660283" y="2476499"/>
                </a:lnTo>
                <a:close/>
              </a:path>
            </a:pathLst>
          </a:custGeom>
          <a:solidFill>
            <a:srgbClr val="188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149350" y="3256688"/>
            <a:ext cx="13707744" cy="232537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ts val="6080"/>
              </a:lnSpc>
              <a:spcBef>
                <a:spcPts val="65"/>
              </a:spcBef>
            </a:pPr>
            <a:r>
              <a:rPr sz="4950" spc="-320" dirty="0"/>
              <a:t>“FlusAI</a:t>
            </a:r>
            <a:r>
              <a:rPr sz="4950" spc="-65" dirty="0"/>
              <a:t> </a:t>
            </a:r>
            <a:r>
              <a:rPr sz="4950" spc="-190" dirty="0"/>
              <a:t>is</a:t>
            </a:r>
            <a:r>
              <a:rPr sz="4950" spc="-175" dirty="0"/>
              <a:t> </a:t>
            </a:r>
            <a:r>
              <a:rPr sz="4950" spc="-20" dirty="0"/>
              <a:t>the</a:t>
            </a:r>
            <a:r>
              <a:rPr sz="4950" spc="-330" dirty="0"/>
              <a:t> </a:t>
            </a:r>
            <a:r>
              <a:rPr sz="4950" spc="-50" dirty="0"/>
              <a:t>only</a:t>
            </a:r>
            <a:r>
              <a:rPr sz="4950" spc="-180" dirty="0"/>
              <a:t> </a:t>
            </a:r>
            <a:r>
              <a:rPr sz="4950" dirty="0"/>
              <a:t>app</a:t>
            </a:r>
            <a:r>
              <a:rPr sz="4950" spc="-180" dirty="0"/>
              <a:t> </a:t>
            </a:r>
            <a:r>
              <a:rPr sz="4950" dirty="0"/>
              <a:t>that</a:t>
            </a:r>
            <a:r>
              <a:rPr sz="4950" spc="-175" dirty="0"/>
              <a:t> </a:t>
            </a:r>
            <a:r>
              <a:rPr sz="4950" spc="-220" dirty="0"/>
              <a:t>knows</a:t>
            </a:r>
            <a:r>
              <a:rPr sz="4950" spc="-145" dirty="0"/>
              <a:t> </a:t>
            </a:r>
            <a:r>
              <a:rPr sz="4950" dirty="0"/>
              <a:t>every</a:t>
            </a:r>
            <a:r>
              <a:rPr sz="4950" spc="-175" dirty="0"/>
              <a:t> </a:t>
            </a:r>
            <a:r>
              <a:rPr sz="4950" spc="-20" dirty="0"/>
              <a:t>card </a:t>
            </a:r>
            <a:r>
              <a:rPr sz="4950" spc="-280" dirty="0"/>
              <a:t>in</a:t>
            </a:r>
            <a:r>
              <a:rPr sz="4950" spc="-85" dirty="0"/>
              <a:t> </a:t>
            </a:r>
            <a:r>
              <a:rPr sz="4950" dirty="0"/>
              <a:t>your</a:t>
            </a:r>
            <a:r>
              <a:rPr sz="4950" spc="-300" dirty="0"/>
              <a:t> </a:t>
            </a:r>
            <a:r>
              <a:rPr sz="4950" spc="-130" dirty="0"/>
              <a:t>wallet</a:t>
            </a:r>
            <a:r>
              <a:rPr sz="4950" spc="-190" dirty="0"/>
              <a:t> </a:t>
            </a:r>
            <a:r>
              <a:rPr sz="4950" dirty="0"/>
              <a:t>and</a:t>
            </a:r>
            <a:r>
              <a:rPr sz="4950" spc="-195" dirty="0"/>
              <a:t> </a:t>
            </a:r>
            <a:r>
              <a:rPr sz="4950" dirty="0"/>
              <a:t>every</a:t>
            </a:r>
            <a:r>
              <a:rPr sz="4950" spc="-190" dirty="0"/>
              <a:t> </a:t>
            </a:r>
            <a:r>
              <a:rPr sz="4950" spc="95" dirty="0"/>
              <a:t>offer</a:t>
            </a:r>
            <a:r>
              <a:rPr sz="4950" spc="-190" dirty="0"/>
              <a:t> </a:t>
            </a:r>
            <a:r>
              <a:rPr sz="4950" dirty="0"/>
              <a:t>near</a:t>
            </a:r>
            <a:r>
              <a:rPr sz="4950" spc="-195" dirty="0"/>
              <a:t> </a:t>
            </a:r>
            <a:r>
              <a:rPr sz="4950" dirty="0"/>
              <a:t>you</a:t>
            </a:r>
            <a:r>
              <a:rPr sz="4950" spc="-190" dirty="0"/>
              <a:t> </a:t>
            </a:r>
            <a:r>
              <a:rPr sz="4950" spc="25" dirty="0"/>
              <a:t>at </a:t>
            </a:r>
            <a:r>
              <a:rPr sz="4950" spc="-20" dirty="0"/>
              <a:t>the</a:t>
            </a:r>
            <a:r>
              <a:rPr sz="4950" spc="-330" dirty="0"/>
              <a:t> </a:t>
            </a:r>
            <a:r>
              <a:rPr sz="4950" dirty="0"/>
              <a:t>same</a:t>
            </a:r>
            <a:r>
              <a:rPr sz="4950" spc="-325" dirty="0"/>
              <a:t> </a:t>
            </a:r>
            <a:r>
              <a:rPr sz="4950" spc="-10" dirty="0"/>
              <a:t>time.”</a:t>
            </a:r>
            <a:endParaRPr sz="4950"/>
          </a:p>
        </p:txBody>
      </p:sp>
      <p:sp>
        <p:nvSpPr>
          <p:cNvPr id="5" name="object 5"/>
          <p:cNvSpPr txBox="1"/>
          <p:nvPr/>
        </p:nvSpPr>
        <p:spPr>
          <a:xfrm>
            <a:off x="1149350" y="6079523"/>
            <a:ext cx="11345545" cy="867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500"/>
              </a:lnSpc>
              <a:spcBef>
                <a:spcPts val="100"/>
              </a:spcBef>
            </a:pPr>
            <a:r>
              <a:rPr sz="2100" b="1" spc="-140" dirty="0">
                <a:solidFill>
                  <a:srgbClr val="7B837D"/>
                </a:solidFill>
                <a:latin typeface="Roboto Bk"/>
                <a:cs typeface="Roboto Bk"/>
              </a:rPr>
              <a:t>A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75" dirty="0">
                <a:solidFill>
                  <a:srgbClr val="7B837D"/>
                </a:solidFill>
                <a:latin typeface="Roboto Bk"/>
                <a:cs typeface="Roboto Bk"/>
              </a:rPr>
              <a:t>bank</a:t>
            </a:r>
            <a:r>
              <a:rPr sz="2100" b="1" spc="-10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35" dirty="0">
                <a:solidFill>
                  <a:srgbClr val="7B837D"/>
                </a:solidFill>
                <a:latin typeface="Roboto Bk"/>
                <a:cs typeface="Roboto Bk"/>
              </a:rPr>
              <a:t>can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60" dirty="0">
                <a:solidFill>
                  <a:srgbClr val="7B837D"/>
                </a:solidFill>
                <a:latin typeface="Roboto Bk"/>
                <a:cs typeface="Roboto Bk"/>
              </a:rPr>
              <a:t>only</a:t>
            </a:r>
            <a:r>
              <a:rPr sz="2100" b="1" spc="-10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45" dirty="0">
                <a:solidFill>
                  <a:srgbClr val="7B837D"/>
                </a:solidFill>
                <a:latin typeface="Roboto Bk"/>
                <a:cs typeface="Roboto Bk"/>
              </a:rPr>
              <a:t>ever</a:t>
            </a:r>
            <a:r>
              <a:rPr sz="2100" b="1" spc="-10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60" dirty="0">
                <a:solidFill>
                  <a:srgbClr val="7B837D"/>
                </a:solidFill>
                <a:latin typeface="Roboto Bk"/>
                <a:cs typeface="Roboto Bk"/>
              </a:rPr>
              <a:t>show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20" dirty="0">
                <a:solidFill>
                  <a:srgbClr val="7B837D"/>
                </a:solidFill>
                <a:latin typeface="Roboto Bk"/>
                <a:cs typeface="Roboto Bk"/>
              </a:rPr>
              <a:t>its</a:t>
            </a:r>
            <a:r>
              <a:rPr sz="2100" b="1" spc="-10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65" dirty="0">
                <a:solidFill>
                  <a:srgbClr val="7B837D"/>
                </a:solidFill>
                <a:latin typeface="Roboto Bk"/>
                <a:cs typeface="Roboto Bk"/>
              </a:rPr>
              <a:t>own</a:t>
            </a:r>
            <a:r>
              <a:rPr sz="2100" b="1" spc="-10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25" dirty="0">
                <a:solidFill>
                  <a:srgbClr val="7B837D"/>
                </a:solidFill>
                <a:latin typeface="Roboto Bk"/>
                <a:cs typeface="Roboto Bk"/>
              </a:rPr>
              <a:t>cards.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35" dirty="0">
                <a:solidFill>
                  <a:srgbClr val="7B837D"/>
                </a:solidFill>
                <a:latin typeface="Roboto Bk"/>
                <a:cs typeface="Roboto Bk"/>
              </a:rPr>
              <a:t>Directories</a:t>
            </a:r>
            <a:r>
              <a:rPr sz="2100" b="1" spc="-10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20" dirty="0">
                <a:solidFill>
                  <a:srgbClr val="7B837D"/>
                </a:solidFill>
                <a:latin typeface="Roboto Bk"/>
                <a:cs typeface="Roboto Bk"/>
              </a:rPr>
              <a:t>list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20" dirty="0">
                <a:solidFill>
                  <a:srgbClr val="7B837D"/>
                </a:solidFill>
                <a:latin typeface="Roboto Bk"/>
                <a:cs typeface="Roboto Bk"/>
              </a:rPr>
              <a:t>offers</a:t>
            </a:r>
            <a:r>
              <a:rPr sz="2100" b="1" spc="-10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55" dirty="0">
                <a:solidFill>
                  <a:srgbClr val="7B837D"/>
                </a:solidFill>
                <a:latin typeface="Roboto Bk"/>
                <a:cs typeface="Roboto Bk"/>
              </a:rPr>
              <a:t>but</a:t>
            </a:r>
            <a:r>
              <a:rPr sz="2100" b="1" spc="-10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75" dirty="0">
                <a:solidFill>
                  <a:srgbClr val="7B837D"/>
                </a:solidFill>
                <a:latin typeface="Roboto Bk"/>
                <a:cs typeface="Roboto Bk"/>
              </a:rPr>
              <a:t>don’t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75" dirty="0">
                <a:solidFill>
                  <a:srgbClr val="7B837D"/>
                </a:solidFill>
                <a:latin typeface="Roboto Bk"/>
                <a:cs typeface="Roboto Bk"/>
              </a:rPr>
              <a:t>know</a:t>
            </a:r>
            <a:r>
              <a:rPr sz="2100" b="1" spc="-10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50" dirty="0">
                <a:solidFill>
                  <a:srgbClr val="7B837D"/>
                </a:solidFill>
                <a:latin typeface="Roboto Bk"/>
                <a:cs typeface="Roboto Bk"/>
              </a:rPr>
              <a:t>what</a:t>
            </a:r>
            <a:r>
              <a:rPr sz="2100" b="1" spc="-10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80" dirty="0">
                <a:solidFill>
                  <a:srgbClr val="7B837D"/>
                </a:solidFill>
                <a:latin typeface="Roboto Bk"/>
                <a:cs typeface="Roboto Bk"/>
              </a:rPr>
              <a:t>you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50" dirty="0">
                <a:solidFill>
                  <a:srgbClr val="7B837D"/>
                </a:solidFill>
                <a:latin typeface="Roboto Bk"/>
                <a:cs typeface="Roboto Bk"/>
              </a:rPr>
              <a:t>carry.</a:t>
            </a:r>
            <a:r>
              <a:rPr sz="2100" b="1" spc="-10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225" dirty="0">
                <a:solidFill>
                  <a:srgbClr val="7B837D"/>
                </a:solidFill>
                <a:latin typeface="Roboto Bk"/>
                <a:cs typeface="Roboto Bk"/>
              </a:rPr>
              <a:t>We</a:t>
            </a:r>
            <a:r>
              <a:rPr sz="2100" b="1" spc="-10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14" dirty="0">
                <a:solidFill>
                  <a:srgbClr val="7B837D"/>
                </a:solidFill>
                <a:latin typeface="Roboto Bk"/>
                <a:cs typeface="Roboto Bk"/>
              </a:rPr>
              <a:t>start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20" dirty="0">
                <a:solidFill>
                  <a:srgbClr val="7B837D"/>
                </a:solidFill>
                <a:latin typeface="Roboto Bk"/>
                <a:cs typeface="Roboto Bk"/>
              </a:rPr>
              <a:t>from </a:t>
            </a:r>
            <a:r>
              <a:rPr sz="2100" b="1" spc="-165" dirty="0">
                <a:solidFill>
                  <a:srgbClr val="7B837D"/>
                </a:solidFill>
                <a:latin typeface="Roboto Bk"/>
                <a:cs typeface="Roboto Bk"/>
              </a:rPr>
              <a:t>your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25" dirty="0">
                <a:solidFill>
                  <a:srgbClr val="7B837D"/>
                </a:solidFill>
                <a:latin typeface="Roboto Bk"/>
                <a:cs typeface="Roboto Bk"/>
              </a:rPr>
              <a:t>actual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35" dirty="0">
                <a:solidFill>
                  <a:srgbClr val="7B837D"/>
                </a:solidFill>
                <a:latin typeface="Roboto Bk"/>
                <a:cs typeface="Roboto Bk"/>
              </a:rPr>
              <a:t>cards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50" dirty="0">
                <a:solidFill>
                  <a:srgbClr val="7B837D"/>
                </a:solidFill>
                <a:latin typeface="Roboto Bk"/>
                <a:cs typeface="Roboto Bk"/>
              </a:rPr>
              <a:t>and</a:t>
            </a:r>
            <a:r>
              <a:rPr sz="2100" b="1" spc="-10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50" dirty="0">
                <a:solidFill>
                  <a:srgbClr val="7B837D"/>
                </a:solidFill>
                <a:latin typeface="Roboto Bk"/>
                <a:cs typeface="Roboto Bk"/>
              </a:rPr>
              <a:t>end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50" dirty="0">
                <a:solidFill>
                  <a:srgbClr val="7B837D"/>
                </a:solidFill>
                <a:latin typeface="Roboto Bk"/>
                <a:cs typeface="Roboto Bk"/>
              </a:rPr>
              <a:t>with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50" dirty="0">
                <a:solidFill>
                  <a:srgbClr val="7B837D"/>
                </a:solidFill>
                <a:latin typeface="Roboto Bk"/>
                <a:cs typeface="Roboto Bk"/>
              </a:rPr>
              <a:t>one</a:t>
            </a:r>
            <a:r>
              <a:rPr sz="2100" b="1" spc="-10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45" dirty="0">
                <a:solidFill>
                  <a:srgbClr val="7B837D"/>
                </a:solidFill>
                <a:latin typeface="Roboto Bk"/>
                <a:cs typeface="Roboto Bk"/>
              </a:rPr>
              <a:t>answer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35" dirty="0">
                <a:solidFill>
                  <a:srgbClr val="7B837D"/>
                </a:solidFill>
                <a:latin typeface="Roboto Bk"/>
                <a:cs typeface="Roboto Bk"/>
              </a:rPr>
              <a:t>before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80" dirty="0">
                <a:solidFill>
                  <a:srgbClr val="7B837D"/>
                </a:solidFill>
                <a:latin typeface="Roboto Bk"/>
                <a:cs typeface="Roboto Bk"/>
              </a:rPr>
              <a:t>you</a:t>
            </a:r>
            <a:r>
              <a:rPr sz="2100" b="1" spc="-10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20" dirty="0">
                <a:solidFill>
                  <a:srgbClr val="7B837D"/>
                </a:solidFill>
                <a:latin typeface="Roboto Bk"/>
                <a:cs typeface="Roboto Bk"/>
              </a:rPr>
              <a:t>pay.</a:t>
            </a:r>
            <a:endParaRPr sz="2100">
              <a:latin typeface="Roboto Bk"/>
              <a:cs typeface="Roboto Bk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10925" y="8953500"/>
            <a:ext cx="876299" cy="87629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89"/>
              </a:lnSpc>
            </a:pPr>
            <a:r>
              <a:rPr spc="-145" dirty="0"/>
              <a:t>FLUSAI</a:t>
            </a:r>
            <a:r>
              <a:rPr dirty="0"/>
              <a:t> </a:t>
            </a:r>
            <a:r>
              <a:rPr spc="-120" dirty="0"/>
              <a:t>·</a:t>
            </a:r>
            <a:r>
              <a:rPr spc="-5" dirty="0"/>
              <a:t> </a:t>
            </a:r>
            <a:r>
              <a:rPr spc="-120" dirty="0"/>
              <a:t>NIC</a:t>
            </a:r>
            <a:r>
              <a:rPr spc="-5" dirty="0"/>
              <a:t> </a:t>
            </a:r>
            <a:r>
              <a:rPr spc="-135" dirty="0"/>
              <a:t>KARACHI</a:t>
            </a:r>
            <a:r>
              <a:rPr spc="5" dirty="0"/>
              <a:t> </a:t>
            </a:r>
            <a:r>
              <a:rPr spc="-95" dirty="0"/>
              <a:t>2026</a:t>
            </a: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9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10286999"/>
                </a:lnTo>
                <a:close/>
              </a:path>
            </a:pathLst>
          </a:custGeom>
          <a:solidFill>
            <a:srgbClr val="FC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149350" y="925809"/>
            <a:ext cx="814959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Competitors</a:t>
            </a:r>
            <a:r>
              <a:rPr spc="-190" dirty="0"/>
              <a:t> </a:t>
            </a:r>
            <a:r>
              <a:rPr dirty="0"/>
              <a:t>and</a:t>
            </a:r>
            <a:r>
              <a:rPr spc="-185" dirty="0"/>
              <a:t> </a:t>
            </a:r>
            <a:r>
              <a:rPr spc="-50" dirty="0"/>
              <a:t>alternatives</a:t>
            </a:r>
          </a:p>
        </p:txBody>
      </p:sp>
      <p:sp>
        <p:nvSpPr>
          <p:cNvPr id="4" name="object 4"/>
          <p:cNvSpPr/>
          <p:nvPr/>
        </p:nvSpPr>
        <p:spPr>
          <a:xfrm>
            <a:off x="1143000" y="1927844"/>
            <a:ext cx="876300" cy="85725"/>
          </a:xfrm>
          <a:custGeom>
            <a:avLst/>
            <a:gdLst/>
            <a:ahLst/>
            <a:cxnLst/>
            <a:rect l="l" t="t" r="r" b="b"/>
            <a:pathLst>
              <a:path w="876300" h="85725">
                <a:moveTo>
                  <a:pt x="876299" y="85724"/>
                </a:moveTo>
                <a:lnTo>
                  <a:pt x="0" y="85724"/>
                </a:lnTo>
                <a:lnTo>
                  <a:pt x="0" y="0"/>
                </a:lnTo>
                <a:lnTo>
                  <a:pt x="876299" y="0"/>
                </a:lnTo>
                <a:lnTo>
                  <a:pt x="876299" y="85724"/>
                </a:lnTo>
                <a:close/>
              </a:path>
            </a:pathLst>
          </a:custGeom>
          <a:solidFill>
            <a:srgbClr val="E1E3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49350" y="2232241"/>
            <a:ext cx="14387830" cy="867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500"/>
              </a:lnSpc>
              <a:spcBef>
                <a:spcPts val="100"/>
              </a:spcBef>
            </a:pPr>
            <a:r>
              <a:rPr sz="2100" b="1" spc="-130" dirty="0">
                <a:solidFill>
                  <a:srgbClr val="7B837D"/>
                </a:solidFill>
                <a:latin typeface="Roboto Bk"/>
                <a:cs typeface="Roboto Bk"/>
              </a:rPr>
              <a:t>Golootlo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45" dirty="0">
                <a:solidFill>
                  <a:srgbClr val="7B837D"/>
                </a:solidFill>
                <a:latin typeface="Roboto Bk"/>
                <a:cs typeface="Roboto Bk"/>
              </a:rPr>
              <a:t>has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90" dirty="0">
                <a:solidFill>
                  <a:srgbClr val="7B837D"/>
                </a:solidFill>
                <a:latin typeface="Roboto Bk"/>
                <a:cs typeface="Roboto Bk"/>
              </a:rPr>
              <a:t>4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40" dirty="0">
                <a:solidFill>
                  <a:srgbClr val="7B837D"/>
                </a:solidFill>
                <a:latin typeface="Roboto Bk"/>
                <a:cs typeface="Roboto Bk"/>
              </a:rPr>
              <a:t>million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35" dirty="0">
                <a:solidFill>
                  <a:srgbClr val="7B837D"/>
                </a:solidFill>
                <a:latin typeface="Roboto Bk"/>
                <a:cs typeface="Roboto Bk"/>
              </a:rPr>
              <a:t>users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295" dirty="0">
                <a:solidFill>
                  <a:srgbClr val="7B837D"/>
                </a:solidFill>
                <a:latin typeface="Roboto Bk"/>
                <a:cs typeface="Roboto Bk"/>
              </a:rPr>
              <a:t>—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35" dirty="0">
                <a:solidFill>
                  <a:srgbClr val="7B837D"/>
                </a:solidFill>
                <a:latin typeface="Roboto Bk"/>
                <a:cs typeface="Roboto Bk"/>
              </a:rPr>
              <a:t>proof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35" dirty="0">
                <a:solidFill>
                  <a:srgbClr val="7B837D"/>
                </a:solidFill>
                <a:latin typeface="Roboto Bk"/>
                <a:cs typeface="Roboto Bk"/>
              </a:rPr>
              <a:t>Pakistanis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25" dirty="0">
                <a:solidFill>
                  <a:srgbClr val="7B837D"/>
                </a:solidFill>
                <a:latin typeface="Roboto Bk"/>
                <a:cs typeface="Roboto Bk"/>
              </a:rPr>
              <a:t>will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55" dirty="0">
                <a:solidFill>
                  <a:srgbClr val="7B837D"/>
                </a:solidFill>
                <a:latin typeface="Roboto Bk"/>
                <a:cs typeface="Roboto Bk"/>
              </a:rPr>
              <a:t>put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20" dirty="0">
                <a:solidFill>
                  <a:srgbClr val="7B837D"/>
                </a:solidFill>
                <a:latin typeface="Roboto Bk"/>
                <a:cs typeface="Roboto Bk"/>
              </a:rPr>
              <a:t>a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45" dirty="0">
                <a:solidFill>
                  <a:srgbClr val="7B837D"/>
                </a:solidFill>
                <a:latin typeface="Roboto Bk"/>
                <a:cs typeface="Roboto Bk"/>
              </a:rPr>
              <a:t>discount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50" dirty="0">
                <a:solidFill>
                  <a:srgbClr val="7B837D"/>
                </a:solidFill>
                <a:latin typeface="Roboto Bk"/>
                <a:cs typeface="Roboto Bk"/>
              </a:rPr>
              <a:t>app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50" dirty="0">
                <a:solidFill>
                  <a:srgbClr val="7B837D"/>
                </a:solidFill>
                <a:latin typeface="Roboto Bk"/>
                <a:cs typeface="Roboto Bk"/>
              </a:rPr>
              <a:t>on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35" dirty="0">
                <a:solidFill>
                  <a:srgbClr val="7B837D"/>
                </a:solidFill>
                <a:latin typeface="Roboto Bk"/>
                <a:cs typeface="Roboto Bk"/>
              </a:rPr>
              <a:t>their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60" dirty="0">
                <a:solidFill>
                  <a:srgbClr val="7B837D"/>
                </a:solidFill>
                <a:latin typeface="Roboto Bk"/>
                <a:cs typeface="Roboto Bk"/>
              </a:rPr>
              <a:t>phone,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50" dirty="0">
                <a:solidFill>
                  <a:srgbClr val="7B837D"/>
                </a:solidFill>
                <a:latin typeface="Roboto Bk"/>
                <a:cs typeface="Roboto Bk"/>
              </a:rPr>
              <a:t>and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70" dirty="0">
                <a:solidFill>
                  <a:srgbClr val="7B837D"/>
                </a:solidFill>
                <a:latin typeface="Roboto Bk"/>
                <a:cs typeface="Roboto Bk"/>
              </a:rPr>
              <a:t>somebody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25" dirty="0">
                <a:solidFill>
                  <a:srgbClr val="7B837D"/>
                </a:solidFill>
                <a:latin typeface="Roboto Bk"/>
                <a:cs typeface="Roboto Bk"/>
              </a:rPr>
              <a:t>else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30" dirty="0">
                <a:solidFill>
                  <a:srgbClr val="7B837D"/>
                </a:solidFill>
                <a:latin typeface="Roboto Bk"/>
                <a:cs typeface="Roboto Bk"/>
              </a:rPr>
              <a:t>paid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45" dirty="0">
                <a:solidFill>
                  <a:srgbClr val="7B837D"/>
                </a:solidFill>
                <a:latin typeface="Roboto Bk"/>
                <a:cs typeface="Roboto Bk"/>
              </a:rPr>
              <a:t>to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35" dirty="0">
                <a:solidFill>
                  <a:srgbClr val="7B837D"/>
                </a:solidFill>
                <a:latin typeface="Roboto Bk"/>
                <a:cs typeface="Roboto Bk"/>
              </a:rPr>
              <a:t>teach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55" dirty="0">
                <a:solidFill>
                  <a:srgbClr val="7B837D"/>
                </a:solidFill>
                <a:latin typeface="Roboto Bk"/>
                <a:cs typeface="Roboto Bk"/>
              </a:rPr>
              <a:t>them.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85" dirty="0">
                <a:solidFill>
                  <a:srgbClr val="7B837D"/>
                </a:solidFill>
                <a:latin typeface="Roboto Bk"/>
                <a:cs typeface="Roboto Bk"/>
              </a:rPr>
              <a:t>What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20" dirty="0">
                <a:solidFill>
                  <a:srgbClr val="7B837D"/>
                </a:solidFill>
                <a:latin typeface="Roboto Bk"/>
                <a:cs typeface="Roboto Bk"/>
              </a:rPr>
              <a:t>none </a:t>
            </a:r>
            <a:r>
              <a:rPr sz="2100" b="1" spc="-114" dirty="0">
                <a:solidFill>
                  <a:srgbClr val="7B837D"/>
                </a:solidFill>
                <a:latin typeface="Roboto Bk"/>
                <a:cs typeface="Roboto Bk"/>
              </a:rPr>
              <a:t>of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45" dirty="0">
                <a:solidFill>
                  <a:srgbClr val="7B837D"/>
                </a:solidFill>
                <a:latin typeface="Roboto Bk"/>
                <a:cs typeface="Roboto Bk"/>
              </a:rPr>
              <a:t>these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225" dirty="0">
                <a:solidFill>
                  <a:srgbClr val="7B837D"/>
                </a:solidFill>
                <a:latin typeface="Roboto Bk"/>
                <a:cs typeface="Roboto Bk"/>
              </a:rPr>
              <a:t>ﬁve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40" dirty="0">
                <a:solidFill>
                  <a:srgbClr val="7B837D"/>
                </a:solidFill>
                <a:latin typeface="Roboto Bk"/>
                <a:cs typeface="Roboto Bk"/>
              </a:rPr>
              <a:t>do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14" dirty="0">
                <a:solidFill>
                  <a:srgbClr val="7B837D"/>
                </a:solidFill>
                <a:latin typeface="Roboto Bk"/>
                <a:cs typeface="Roboto Bk"/>
              </a:rPr>
              <a:t>is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14" dirty="0">
                <a:solidFill>
                  <a:srgbClr val="7B837D"/>
                </a:solidFill>
                <a:latin typeface="Roboto Bk"/>
                <a:cs typeface="Roboto Bk"/>
              </a:rPr>
              <a:t>start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55" dirty="0">
                <a:solidFill>
                  <a:srgbClr val="7B837D"/>
                </a:solidFill>
                <a:latin typeface="Roboto Bk"/>
                <a:cs typeface="Roboto Bk"/>
              </a:rPr>
              <a:t>from</a:t>
            </a:r>
            <a:r>
              <a:rPr sz="2100" b="1" spc="-10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50" dirty="0">
                <a:solidFill>
                  <a:srgbClr val="7B837D"/>
                </a:solidFill>
                <a:latin typeface="Roboto Bk"/>
                <a:cs typeface="Roboto Bk"/>
              </a:rPr>
              <a:t>the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35" dirty="0">
                <a:solidFill>
                  <a:srgbClr val="7B837D"/>
                </a:solidFill>
                <a:latin typeface="Roboto Bk"/>
                <a:cs typeface="Roboto Bk"/>
              </a:rPr>
              <a:t>cards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80" dirty="0">
                <a:solidFill>
                  <a:srgbClr val="7B837D"/>
                </a:solidFill>
                <a:latin typeface="Roboto Bk"/>
                <a:cs typeface="Roboto Bk"/>
              </a:rPr>
              <a:t>you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45" dirty="0">
                <a:solidFill>
                  <a:srgbClr val="7B837D"/>
                </a:solidFill>
                <a:latin typeface="Roboto Bk"/>
                <a:cs typeface="Roboto Bk"/>
              </a:rPr>
              <a:t>already</a:t>
            </a:r>
            <a:r>
              <a:rPr sz="21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2100" b="1" spc="-10" dirty="0">
                <a:solidFill>
                  <a:srgbClr val="7B837D"/>
                </a:solidFill>
                <a:latin typeface="Roboto Bk"/>
                <a:cs typeface="Roboto Bk"/>
              </a:rPr>
              <a:t>carry.</a:t>
            </a:r>
            <a:endParaRPr sz="2100">
              <a:latin typeface="Roboto Bk"/>
              <a:cs typeface="Roboto Bk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143000" y="3600022"/>
          <a:ext cx="16002000" cy="49745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5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6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10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188C8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3995">
                        <a:lnSpc>
                          <a:spcPts val="1860"/>
                        </a:lnSpc>
                      </a:pPr>
                      <a:r>
                        <a:rPr sz="1650" b="1" dirty="0">
                          <a:solidFill>
                            <a:srgbClr val="188C8C"/>
                          </a:solidFill>
                          <a:latin typeface="Roboto Cn"/>
                          <a:cs typeface="Roboto Cn"/>
                        </a:rPr>
                        <a:t>WHAT</a:t>
                      </a:r>
                      <a:r>
                        <a:rPr sz="1650" b="1" spc="-75" dirty="0">
                          <a:solidFill>
                            <a:srgbClr val="188C8C"/>
                          </a:solidFill>
                          <a:latin typeface="Roboto Cn"/>
                          <a:cs typeface="Roboto Cn"/>
                        </a:rPr>
                        <a:t> </a:t>
                      </a:r>
                      <a:r>
                        <a:rPr sz="1650" b="1" dirty="0">
                          <a:solidFill>
                            <a:srgbClr val="188C8C"/>
                          </a:solidFill>
                          <a:latin typeface="Roboto Cn"/>
                          <a:cs typeface="Roboto Cn"/>
                        </a:rPr>
                        <a:t>THEY</a:t>
                      </a:r>
                      <a:r>
                        <a:rPr sz="1650" b="1" spc="20" dirty="0">
                          <a:solidFill>
                            <a:srgbClr val="188C8C"/>
                          </a:solidFill>
                          <a:latin typeface="Roboto Cn"/>
                          <a:cs typeface="Roboto Cn"/>
                        </a:rPr>
                        <a:t> </a:t>
                      </a:r>
                      <a:r>
                        <a:rPr sz="1650" b="1" spc="-25" dirty="0">
                          <a:solidFill>
                            <a:srgbClr val="188C8C"/>
                          </a:solidFill>
                          <a:latin typeface="Roboto Cn"/>
                          <a:cs typeface="Roboto Cn"/>
                        </a:rPr>
                        <a:t>DO</a:t>
                      </a:r>
                      <a:endParaRPr sz="1650">
                        <a:latin typeface="Roboto Cn"/>
                        <a:cs typeface="Roboto Cn"/>
                      </a:endParaRPr>
                    </a:p>
                  </a:txBody>
                  <a:tcPr marL="0" marR="0" marT="0" marB="0">
                    <a:lnB w="28575">
                      <a:solidFill>
                        <a:srgbClr val="188C8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1470">
                        <a:lnSpc>
                          <a:spcPts val="1860"/>
                        </a:lnSpc>
                      </a:pPr>
                      <a:r>
                        <a:rPr sz="1650" b="1" dirty="0">
                          <a:solidFill>
                            <a:srgbClr val="188C8C"/>
                          </a:solidFill>
                          <a:latin typeface="Roboto Cn"/>
                          <a:cs typeface="Roboto Cn"/>
                        </a:rPr>
                        <a:t>HOW</a:t>
                      </a:r>
                      <a:r>
                        <a:rPr sz="1650" b="1" spc="-25" dirty="0">
                          <a:solidFill>
                            <a:srgbClr val="188C8C"/>
                          </a:solidFill>
                          <a:latin typeface="Roboto Cn"/>
                          <a:cs typeface="Roboto Cn"/>
                        </a:rPr>
                        <a:t> </a:t>
                      </a:r>
                      <a:r>
                        <a:rPr sz="1650" b="1" dirty="0">
                          <a:solidFill>
                            <a:srgbClr val="188C8C"/>
                          </a:solidFill>
                          <a:latin typeface="Roboto Cn"/>
                          <a:cs typeface="Roboto Cn"/>
                        </a:rPr>
                        <a:t>WE</a:t>
                      </a:r>
                      <a:r>
                        <a:rPr sz="1650" b="1" spc="-25" dirty="0">
                          <a:solidFill>
                            <a:srgbClr val="188C8C"/>
                          </a:solidFill>
                          <a:latin typeface="Roboto Cn"/>
                          <a:cs typeface="Roboto Cn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188C8C"/>
                          </a:solidFill>
                          <a:latin typeface="Roboto Cn"/>
                          <a:cs typeface="Roboto Cn"/>
                        </a:rPr>
                        <a:t>DIFFER</a:t>
                      </a:r>
                      <a:endParaRPr sz="1650">
                        <a:latin typeface="Roboto Cn"/>
                        <a:cs typeface="Roboto Cn"/>
                      </a:endParaRPr>
                    </a:p>
                  </a:txBody>
                  <a:tcPr marL="0" marR="0" marT="0" marB="0">
                    <a:lnB w="28575">
                      <a:solidFill>
                        <a:srgbClr val="188C8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1869"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2450"/>
                        </a:spcBef>
                      </a:pPr>
                      <a:r>
                        <a:rPr sz="2150" b="1" spc="-10" dirty="0">
                          <a:solidFill>
                            <a:srgbClr val="123D33"/>
                          </a:solidFill>
                          <a:latin typeface="Tahoma"/>
                          <a:cs typeface="Tahoma"/>
                        </a:rPr>
                        <a:t>Golootlo</a:t>
                      </a:r>
                      <a:endParaRPr sz="2150">
                        <a:latin typeface="Tahoma"/>
                        <a:cs typeface="Tahoma"/>
                      </a:endParaRPr>
                    </a:p>
                  </a:txBody>
                  <a:tcPr marL="0" marR="0" marT="311150" marB="0">
                    <a:lnT w="28575">
                      <a:solidFill>
                        <a:srgbClr val="188C8C"/>
                      </a:solidFill>
                      <a:prstDash val="solid"/>
                    </a:lnT>
                    <a:lnB w="9525">
                      <a:solidFill>
                        <a:srgbClr val="E1E1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3995">
                        <a:lnSpc>
                          <a:spcPct val="100000"/>
                        </a:lnSpc>
                        <a:spcBef>
                          <a:spcPts val="2450"/>
                        </a:spcBef>
                      </a:pPr>
                      <a:r>
                        <a:rPr sz="2150" b="1" spc="-18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30,000+</a:t>
                      </a:r>
                      <a:r>
                        <a:rPr sz="2150" b="1" spc="1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6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merchants,</a:t>
                      </a:r>
                      <a:r>
                        <a:rPr sz="2150" b="1" spc="1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20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158</a:t>
                      </a:r>
                      <a:r>
                        <a:rPr sz="2150" b="1" spc="1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3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cities,</a:t>
                      </a:r>
                      <a:r>
                        <a:rPr sz="2150" b="1" spc="1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8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4M+</a:t>
                      </a:r>
                      <a:r>
                        <a:rPr sz="2150" b="1" spc="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users</a:t>
                      </a:r>
                      <a:endParaRPr sz="2150">
                        <a:latin typeface="Roboto Bk"/>
                        <a:cs typeface="Roboto Bk"/>
                      </a:endParaRPr>
                    </a:p>
                  </a:txBody>
                  <a:tcPr marL="0" marR="0" marT="311150" marB="0">
                    <a:lnT w="28575">
                      <a:solidFill>
                        <a:srgbClr val="188C8C"/>
                      </a:solidFill>
                      <a:prstDash val="solid"/>
                    </a:lnT>
                    <a:lnB w="9525">
                      <a:solidFill>
                        <a:srgbClr val="E1E1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1470">
                        <a:lnSpc>
                          <a:spcPct val="100000"/>
                        </a:lnSpc>
                        <a:spcBef>
                          <a:spcPts val="2450"/>
                        </a:spcBef>
                      </a:pPr>
                      <a:r>
                        <a:rPr sz="2150" b="1" spc="-12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Their</a:t>
                      </a:r>
                      <a:r>
                        <a:rPr sz="2150" b="1" spc="-1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5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own</a:t>
                      </a:r>
                      <a:r>
                        <a:rPr sz="2150" b="1" spc="-1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6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network,</a:t>
                      </a:r>
                      <a:r>
                        <a:rPr sz="2150" b="1" spc="-1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3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claimed</a:t>
                      </a:r>
                      <a:r>
                        <a:rPr sz="2150" b="1" spc="-1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8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by</a:t>
                      </a:r>
                      <a:r>
                        <a:rPr sz="2150" b="1" spc="-1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24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QR</a:t>
                      </a:r>
                      <a:r>
                        <a:rPr sz="2150" b="1" spc="-1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2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at</a:t>
                      </a:r>
                      <a:r>
                        <a:rPr sz="2150" b="1" spc="-1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4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the</a:t>
                      </a:r>
                      <a:r>
                        <a:rPr sz="2150" b="1" spc="-1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4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counter</a:t>
                      </a:r>
                      <a:r>
                        <a:rPr sz="2150" b="1" spc="-1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30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—</a:t>
                      </a:r>
                      <a:r>
                        <a:rPr sz="2150" b="1" spc="-1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3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silent</a:t>
                      </a:r>
                      <a:r>
                        <a:rPr sz="2150" b="1" spc="-1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5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on</a:t>
                      </a:r>
                      <a:r>
                        <a:rPr sz="2150" b="1" spc="-1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6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your</a:t>
                      </a:r>
                      <a:r>
                        <a:rPr sz="2150" b="1" spc="-1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cards</a:t>
                      </a:r>
                      <a:endParaRPr sz="2150">
                        <a:latin typeface="Roboto Bk"/>
                        <a:cs typeface="Roboto Bk"/>
                      </a:endParaRPr>
                    </a:p>
                  </a:txBody>
                  <a:tcPr marL="0" marR="0" marT="311150" marB="0">
                    <a:lnT w="28575">
                      <a:solidFill>
                        <a:srgbClr val="188C8C"/>
                      </a:solidFill>
                      <a:prstDash val="solid"/>
                    </a:lnT>
                    <a:lnB w="9525">
                      <a:solidFill>
                        <a:srgbClr val="E1E1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2819"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2375"/>
                        </a:spcBef>
                      </a:pPr>
                      <a:r>
                        <a:rPr sz="2150" b="1" dirty="0">
                          <a:solidFill>
                            <a:srgbClr val="123D33"/>
                          </a:solidFill>
                          <a:latin typeface="Tahoma"/>
                          <a:cs typeface="Tahoma"/>
                        </a:rPr>
                        <a:t>Peekaboo</a:t>
                      </a:r>
                      <a:r>
                        <a:rPr sz="2150" b="1" spc="-140" dirty="0">
                          <a:solidFill>
                            <a:srgbClr val="123D33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150" b="1" spc="-20" dirty="0">
                          <a:solidFill>
                            <a:srgbClr val="123D33"/>
                          </a:solidFill>
                          <a:latin typeface="Tahoma"/>
                          <a:cs typeface="Tahoma"/>
                        </a:rPr>
                        <a:t>Guru</a:t>
                      </a:r>
                      <a:endParaRPr sz="2150">
                        <a:latin typeface="Tahoma"/>
                        <a:cs typeface="Tahoma"/>
                      </a:endParaRPr>
                    </a:p>
                  </a:txBody>
                  <a:tcPr marL="0" marR="0" marT="301625" marB="0">
                    <a:lnT w="9525">
                      <a:solidFill>
                        <a:srgbClr val="E1E1DA"/>
                      </a:solidFill>
                      <a:prstDash val="solid"/>
                    </a:lnT>
                    <a:lnB w="9525">
                      <a:solidFill>
                        <a:srgbClr val="E1E1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3995">
                        <a:lnSpc>
                          <a:spcPct val="100000"/>
                        </a:lnSpc>
                        <a:spcBef>
                          <a:spcPts val="2375"/>
                        </a:spcBef>
                      </a:pPr>
                      <a:r>
                        <a:rPr sz="2150" b="1" spc="-14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Directory</a:t>
                      </a:r>
                      <a:r>
                        <a:rPr sz="2150" b="1" spc="-1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14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of</a:t>
                      </a:r>
                      <a:r>
                        <a:rPr sz="2150" b="1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3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card</a:t>
                      </a:r>
                      <a:r>
                        <a:rPr sz="2150" b="1" spc="-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2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offers</a:t>
                      </a:r>
                      <a:r>
                        <a:rPr sz="2150" b="1" spc="-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2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across</a:t>
                      </a:r>
                      <a:r>
                        <a:rPr sz="2150" b="1" spc="-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5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13+</a:t>
                      </a:r>
                      <a:r>
                        <a:rPr sz="2150" b="1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banks</a:t>
                      </a:r>
                      <a:endParaRPr sz="2150">
                        <a:latin typeface="Roboto Bk"/>
                        <a:cs typeface="Roboto Bk"/>
                      </a:endParaRPr>
                    </a:p>
                  </a:txBody>
                  <a:tcPr marL="0" marR="0" marT="301625" marB="0">
                    <a:lnT w="9525">
                      <a:solidFill>
                        <a:srgbClr val="E1E1DA"/>
                      </a:solidFill>
                      <a:prstDash val="solid"/>
                    </a:lnT>
                    <a:lnB w="9525">
                      <a:solidFill>
                        <a:srgbClr val="E1E1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1470">
                        <a:lnSpc>
                          <a:spcPct val="100000"/>
                        </a:lnSpc>
                        <a:spcBef>
                          <a:spcPts val="2375"/>
                        </a:spcBef>
                      </a:pPr>
                      <a:r>
                        <a:rPr sz="2150" b="1" spc="-13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A</a:t>
                      </a:r>
                      <a:r>
                        <a:rPr sz="2150" b="1" spc="-1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3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catalogue</a:t>
                      </a:r>
                      <a:r>
                        <a:rPr sz="2150" b="1" spc="-1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8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by</a:t>
                      </a:r>
                      <a:r>
                        <a:rPr sz="2150" b="1" spc="-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7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bank;</a:t>
                      </a:r>
                      <a:r>
                        <a:rPr sz="2150" b="1" spc="-1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8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you</a:t>
                      </a:r>
                      <a:r>
                        <a:rPr sz="2150" b="1" spc="-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4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do</a:t>
                      </a:r>
                      <a:r>
                        <a:rPr sz="2150" b="1" spc="-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4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the</a:t>
                      </a:r>
                      <a:r>
                        <a:rPr sz="2150" b="1" spc="-1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5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matching</a:t>
                      </a:r>
                      <a:r>
                        <a:rPr sz="2150" b="1" spc="-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yourself</a:t>
                      </a:r>
                      <a:endParaRPr sz="2150">
                        <a:latin typeface="Roboto Bk"/>
                        <a:cs typeface="Roboto Bk"/>
                      </a:endParaRPr>
                    </a:p>
                  </a:txBody>
                  <a:tcPr marL="0" marR="0" marT="301625" marB="0">
                    <a:lnT w="9525">
                      <a:solidFill>
                        <a:srgbClr val="E1E1DA"/>
                      </a:solidFill>
                      <a:prstDash val="solid"/>
                    </a:lnT>
                    <a:lnB w="9525">
                      <a:solidFill>
                        <a:srgbClr val="E1E1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2819"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2375"/>
                        </a:spcBef>
                      </a:pPr>
                      <a:r>
                        <a:rPr sz="2150" b="1" spc="-10" dirty="0">
                          <a:solidFill>
                            <a:srgbClr val="123D33"/>
                          </a:solidFill>
                          <a:latin typeface="Tahoma"/>
                          <a:cs typeface="Tahoma"/>
                        </a:rPr>
                        <a:t>Vouch365</a:t>
                      </a:r>
                      <a:endParaRPr sz="2150">
                        <a:latin typeface="Tahoma"/>
                        <a:cs typeface="Tahoma"/>
                      </a:endParaRPr>
                    </a:p>
                  </a:txBody>
                  <a:tcPr marL="0" marR="0" marT="301625" marB="0">
                    <a:lnT w="9525">
                      <a:solidFill>
                        <a:srgbClr val="E1E1DA"/>
                      </a:solidFill>
                      <a:prstDash val="solid"/>
                    </a:lnT>
                    <a:lnB w="9525">
                      <a:solidFill>
                        <a:srgbClr val="E1E1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3995">
                        <a:lnSpc>
                          <a:spcPct val="100000"/>
                        </a:lnSpc>
                        <a:spcBef>
                          <a:spcPts val="2375"/>
                        </a:spcBef>
                      </a:pPr>
                      <a:r>
                        <a:rPr sz="2150" b="1" spc="-14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Subscription</a:t>
                      </a:r>
                      <a:r>
                        <a:rPr sz="2150" b="1" spc="-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8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BOGO</a:t>
                      </a:r>
                      <a:r>
                        <a:rPr sz="2150" b="1" spc="-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5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vouchers,</a:t>
                      </a:r>
                      <a:r>
                        <a:rPr sz="2150" b="1" spc="-1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9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14</a:t>
                      </a:r>
                      <a:r>
                        <a:rPr sz="2150" b="1" spc="-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cities</a:t>
                      </a:r>
                      <a:endParaRPr sz="2150">
                        <a:latin typeface="Roboto Bk"/>
                        <a:cs typeface="Roboto Bk"/>
                      </a:endParaRPr>
                    </a:p>
                  </a:txBody>
                  <a:tcPr marL="0" marR="0" marT="301625" marB="0">
                    <a:lnT w="9525">
                      <a:solidFill>
                        <a:srgbClr val="E1E1DA"/>
                      </a:solidFill>
                      <a:prstDash val="solid"/>
                    </a:lnT>
                    <a:lnB w="9525">
                      <a:solidFill>
                        <a:srgbClr val="E1E1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1470">
                        <a:lnSpc>
                          <a:spcPct val="100000"/>
                        </a:lnSpc>
                        <a:spcBef>
                          <a:spcPts val="2375"/>
                        </a:spcBef>
                      </a:pPr>
                      <a:r>
                        <a:rPr sz="2150" b="1" spc="-13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The</a:t>
                      </a:r>
                      <a:r>
                        <a:rPr sz="2150" b="1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5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consumer</a:t>
                      </a:r>
                      <a:r>
                        <a:rPr sz="2150" b="1" spc="-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6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pays,</a:t>
                      </a:r>
                      <a:r>
                        <a:rPr sz="2150" b="1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4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and</a:t>
                      </a:r>
                      <a:r>
                        <a:rPr sz="2150" b="1" spc="-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5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redemption</a:t>
                      </a:r>
                      <a:r>
                        <a:rPr sz="2150" b="1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4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needs</a:t>
                      </a:r>
                      <a:r>
                        <a:rPr sz="2150" b="1" spc="-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1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a</a:t>
                      </a:r>
                      <a:r>
                        <a:rPr sz="2150" b="1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1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staff</a:t>
                      </a:r>
                      <a:r>
                        <a:rPr sz="2150" b="1" spc="-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action</a:t>
                      </a:r>
                      <a:endParaRPr sz="2150">
                        <a:latin typeface="Roboto Bk"/>
                        <a:cs typeface="Roboto Bk"/>
                      </a:endParaRPr>
                    </a:p>
                  </a:txBody>
                  <a:tcPr marL="0" marR="0" marT="301625" marB="0">
                    <a:lnT w="9525">
                      <a:solidFill>
                        <a:srgbClr val="E1E1DA"/>
                      </a:solidFill>
                      <a:prstDash val="solid"/>
                    </a:lnT>
                    <a:lnB w="9525">
                      <a:solidFill>
                        <a:srgbClr val="E1E1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2819"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2375"/>
                        </a:spcBef>
                      </a:pPr>
                      <a:r>
                        <a:rPr sz="2150" b="1" spc="-20" dirty="0">
                          <a:solidFill>
                            <a:srgbClr val="123D33"/>
                          </a:solidFill>
                          <a:latin typeface="Tahoma"/>
                          <a:cs typeface="Tahoma"/>
                        </a:rPr>
                        <a:t>Bank</a:t>
                      </a:r>
                      <a:r>
                        <a:rPr sz="2150" b="1" spc="-110" dirty="0">
                          <a:solidFill>
                            <a:srgbClr val="123D33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150" b="1" spc="-20" dirty="0">
                          <a:solidFill>
                            <a:srgbClr val="123D33"/>
                          </a:solidFill>
                          <a:latin typeface="Tahoma"/>
                          <a:cs typeface="Tahoma"/>
                        </a:rPr>
                        <a:t>apps</a:t>
                      </a:r>
                      <a:endParaRPr sz="2150">
                        <a:latin typeface="Tahoma"/>
                        <a:cs typeface="Tahoma"/>
                      </a:endParaRPr>
                    </a:p>
                  </a:txBody>
                  <a:tcPr marL="0" marR="0" marT="301625" marB="0">
                    <a:lnT w="9525">
                      <a:solidFill>
                        <a:srgbClr val="E1E1DA"/>
                      </a:solidFill>
                      <a:prstDash val="solid"/>
                    </a:lnT>
                    <a:lnB w="9525">
                      <a:solidFill>
                        <a:srgbClr val="E1E1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3995">
                        <a:lnSpc>
                          <a:spcPct val="100000"/>
                        </a:lnSpc>
                        <a:spcBef>
                          <a:spcPts val="2375"/>
                        </a:spcBef>
                      </a:pPr>
                      <a:r>
                        <a:rPr sz="2150" b="1" spc="-22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UBL</a:t>
                      </a:r>
                      <a:r>
                        <a:rPr sz="2150" b="1" spc="-1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4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Digital,</a:t>
                      </a:r>
                      <a:r>
                        <a:rPr sz="2150" b="1" spc="-1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9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HBL</a:t>
                      </a:r>
                      <a:r>
                        <a:rPr sz="2150" b="1" spc="-1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5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Mobile,</a:t>
                      </a:r>
                      <a:r>
                        <a:rPr sz="2150" b="1" spc="-1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Meezan</a:t>
                      </a:r>
                      <a:endParaRPr sz="2150">
                        <a:latin typeface="Roboto Bk"/>
                        <a:cs typeface="Roboto Bk"/>
                      </a:endParaRPr>
                    </a:p>
                  </a:txBody>
                  <a:tcPr marL="0" marR="0" marT="301625" marB="0">
                    <a:lnT w="9525">
                      <a:solidFill>
                        <a:srgbClr val="E1E1DA"/>
                      </a:solidFill>
                      <a:prstDash val="solid"/>
                    </a:lnT>
                    <a:lnB w="9525">
                      <a:solidFill>
                        <a:srgbClr val="E1E1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1470">
                        <a:lnSpc>
                          <a:spcPct val="100000"/>
                        </a:lnSpc>
                        <a:spcBef>
                          <a:spcPts val="2375"/>
                        </a:spcBef>
                      </a:pPr>
                      <a:r>
                        <a:rPr sz="2150" b="1" spc="-16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Single-issuer</a:t>
                      </a:r>
                      <a:r>
                        <a:rPr sz="2150" b="1" spc="-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8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by</a:t>
                      </a:r>
                      <a:r>
                        <a:rPr sz="2150" b="1" spc="-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5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deﬁnition.</a:t>
                      </a:r>
                      <a:r>
                        <a:rPr sz="2150" b="1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5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Cannot</a:t>
                      </a:r>
                      <a:r>
                        <a:rPr sz="2150" b="1" spc="-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2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see</a:t>
                      </a:r>
                      <a:r>
                        <a:rPr sz="2150" b="1" spc="-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4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the</a:t>
                      </a:r>
                      <a:r>
                        <a:rPr sz="2150" b="1" spc="-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3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rest</a:t>
                      </a:r>
                      <a:r>
                        <a:rPr sz="2150" b="1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14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of</a:t>
                      </a:r>
                      <a:r>
                        <a:rPr sz="2150" b="1" spc="-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6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your</a:t>
                      </a:r>
                      <a:r>
                        <a:rPr sz="2150" b="1" spc="-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wallet</a:t>
                      </a:r>
                      <a:endParaRPr sz="2150">
                        <a:latin typeface="Roboto Bk"/>
                        <a:cs typeface="Roboto Bk"/>
                      </a:endParaRPr>
                    </a:p>
                  </a:txBody>
                  <a:tcPr marL="0" marR="0" marT="301625" marB="0">
                    <a:lnT w="9525">
                      <a:solidFill>
                        <a:srgbClr val="E1E1DA"/>
                      </a:solidFill>
                      <a:prstDash val="solid"/>
                    </a:lnT>
                    <a:lnB w="9525">
                      <a:solidFill>
                        <a:srgbClr val="E1E1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3255"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2375"/>
                        </a:spcBef>
                      </a:pPr>
                      <a:r>
                        <a:rPr sz="2150" b="1" spc="-10" dirty="0">
                          <a:solidFill>
                            <a:srgbClr val="123D33"/>
                          </a:solidFill>
                          <a:latin typeface="Tahoma"/>
                          <a:cs typeface="Tahoma"/>
                        </a:rPr>
                        <a:t>Wallets</a:t>
                      </a:r>
                      <a:endParaRPr sz="2150">
                        <a:latin typeface="Tahoma"/>
                        <a:cs typeface="Tahoma"/>
                      </a:endParaRPr>
                    </a:p>
                  </a:txBody>
                  <a:tcPr marL="0" marR="0" marT="301625" marB="0">
                    <a:lnT w="9525">
                      <a:solidFill>
                        <a:srgbClr val="E1E1D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13995">
                        <a:lnSpc>
                          <a:spcPct val="100000"/>
                        </a:lnSpc>
                        <a:spcBef>
                          <a:spcPts val="2375"/>
                        </a:spcBef>
                      </a:pPr>
                      <a:r>
                        <a:rPr sz="2150" b="1" spc="-15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JazzCash,</a:t>
                      </a:r>
                      <a:r>
                        <a:rPr sz="2150" b="1" spc="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2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Easypaisa</a:t>
                      </a:r>
                      <a:r>
                        <a:rPr sz="2150" b="1" spc="2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4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promotions</a:t>
                      </a:r>
                      <a:endParaRPr sz="2150">
                        <a:latin typeface="Roboto Bk"/>
                        <a:cs typeface="Roboto Bk"/>
                      </a:endParaRPr>
                    </a:p>
                  </a:txBody>
                  <a:tcPr marL="0" marR="0" marT="301625" marB="0">
                    <a:lnT w="9525">
                      <a:solidFill>
                        <a:srgbClr val="E1E1D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31470">
                        <a:lnSpc>
                          <a:spcPct val="100000"/>
                        </a:lnSpc>
                        <a:spcBef>
                          <a:spcPts val="2375"/>
                        </a:spcBef>
                      </a:pPr>
                      <a:r>
                        <a:rPr sz="2150" b="1" spc="-17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Wallet-</a:t>
                      </a:r>
                      <a:r>
                        <a:rPr sz="2150" b="1" spc="-16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native</a:t>
                      </a:r>
                      <a:r>
                        <a:rPr sz="2150" b="1" spc="2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3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offers,</a:t>
                      </a:r>
                      <a:r>
                        <a:rPr sz="2150" b="1" spc="2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5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not</a:t>
                      </a:r>
                      <a:r>
                        <a:rPr sz="2150" b="1" spc="2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5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card-</a:t>
                      </a:r>
                      <a:r>
                        <a:rPr sz="2150" b="1" spc="-16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linked.</a:t>
                      </a:r>
                      <a:r>
                        <a:rPr sz="2150" b="1" spc="2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6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No</a:t>
                      </a:r>
                      <a:r>
                        <a:rPr sz="2150" b="1" spc="2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5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cross-issuer</a:t>
                      </a:r>
                      <a:r>
                        <a:rPr sz="2150" b="1" spc="25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2150" b="1" spc="-10" dirty="0">
                          <a:solidFill>
                            <a:srgbClr val="343431"/>
                          </a:solidFill>
                          <a:latin typeface="Roboto Bk"/>
                          <a:cs typeface="Roboto Bk"/>
                        </a:rPr>
                        <a:t>eligibility</a:t>
                      </a:r>
                      <a:endParaRPr sz="2150">
                        <a:latin typeface="Roboto Bk"/>
                        <a:cs typeface="Roboto Bk"/>
                      </a:endParaRPr>
                    </a:p>
                  </a:txBody>
                  <a:tcPr marL="0" marR="0" marT="301625" marB="0">
                    <a:lnT w="9525">
                      <a:solidFill>
                        <a:srgbClr val="E1E1DA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1143000" y="8902004"/>
            <a:ext cx="16544290" cy="928369"/>
            <a:chOff x="1143000" y="8902004"/>
            <a:chExt cx="16544290" cy="928369"/>
          </a:xfrm>
        </p:grpSpPr>
        <p:sp>
          <p:nvSpPr>
            <p:cNvPr id="8" name="object 8"/>
            <p:cNvSpPr/>
            <p:nvPr/>
          </p:nvSpPr>
          <p:spPr>
            <a:xfrm>
              <a:off x="1143000" y="8902013"/>
              <a:ext cx="16002000" cy="9525"/>
            </a:xfrm>
            <a:custGeom>
              <a:avLst/>
              <a:gdLst/>
              <a:ahLst/>
              <a:cxnLst/>
              <a:rect l="l" t="t" r="r" b="b"/>
              <a:pathLst>
                <a:path w="16002000" h="9525">
                  <a:moveTo>
                    <a:pt x="16002000" y="0"/>
                  </a:moveTo>
                  <a:lnTo>
                    <a:pt x="7674165" y="0"/>
                  </a:lnTo>
                  <a:lnTo>
                    <a:pt x="2480360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2480360" y="9525"/>
                  </a:lnTo>
                  <a:lnTo>
                    <a:pt x="7674165" y="9525"/>
                  </a:lnTo>
                  <a:lnTo>
                    <a:pt x="16002000" y="9525"/>
                  </a:lnTo>
                  <a:lnTo>
                    <a:pt x="16002000" y="0"/>
                  </a:lnTo>
                  <a:close/>
                </a:path>
              </a:pathLst>
            </a:custGeom>
            <a:solidFill>
              <a:srgbClr val="E1E1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10925" y="8953499"/>
              <a:ext cx="876299" cy="876299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89"/>
              </a:lnSpc>
            </a:pPr>
            <a:r>
              <a:rPr spc="-145" dirty="0"/>
              <a:t>FLUSAI</a:t>
            </a:r>
            <a:r>
              <a:rPr dirty="0"/>
              <a:t> </a:t>
            </a:r>
            <a:r>
              <a:rPr spc="-120" dirty="0"/>
              <a:t>·</a:t>
            </a:r>
            <a:r>
              <a:rPr spc="-5" dirty="0"/>
              <a:t> </a:t>
            </a:r>
            <a:r>
              <a:rPr spc="-120" dirty="0"/>
              <a:t>NIC</a:t>
            </a:r>
            <a:r>
              <a:rPr spc="-5" dirty="0"/>
              <a:t> </a:t>
            </a:r>
            <a:r>
              <a:rPr spc="-135" dirty="0"/>
              <a:t>KARACHI</a:t>
            </a:r>
            <a:r>
              <a:rPr spc="5" dirty="0"/>
              <a:t> </a:t>
            </a:r>
            <a:r>
              <a:rPr spc="-95" dirty="0"/>
              <a:t>2026</a:t>
            </a: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Revenue</a:t>
            </a:r>
            <a:r>
              <a:rPr spc="-215" dirty="0"/>
              <a:t> </a:t>
            </a:r>
            <a:r>
              <a:rPr spc="-40" dirty="0"/>
              <a:t>streams</a:t>
            </a:r>
            <a:r>
              <a:rPr spc="-210" dirty="0"/>
              <a:t> </a:t>
            </a:r>
            <a:r>
              <a:rPr dirty="0"/>
              <a:t>and</a:t>
            </a:r>
            <a:r>
              <a:rPr spc="-210" dirty="0"/>
              <a:t> </a:t>
            </a:r>
            <a:r>
              <a:rPr dirty="0"/>
              <a:t>cost</a:t>
            </a:r>
            <a:r>
              <a:rPr spc="-210" dirty="0"/>
              <a:t> </a:t>
            </a:r>
            <a:r>
              <a:rPr spc="-70" dirty="0"/>
              <a:t>structure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19150" y="1927844"/>
            <a:ext cx="8305800" cy="5851525"/>
            <a:chOff x="819150" y="1927844"/>
            <a:chExt cx="8305800" cy="5851525"/>
          </a:xfrm>
        </p:grpSpPr>
        <p:sp>
          <p:nvSpPr>
            <p:cNvPr id="4" name="object 4"/>
            <p:cNvSpPr/>
            <p:nvPr/>
          </p:nvSpPr>
          <p:spPr>
            <a:xfrm>
              <a:off x="1142999" y="1927844"/>
              <a:ext cx="876300" cy="85725"/>
            </a:xfrm>
            <a:custGeom>
              <a:avLst/>
              <a:gdLst/>
              <a:ahLst/>
              <a:cxnLst/>
              <a:rect l="l" t="t" r="r" b="b"/>
              <a:pathLst>
                <a:path w="876300" h="85725">
                  <a:moveTo>
                    <a:pt x="876299" y="85724"/>
                  </a:moveTo>
                  <a:lnTo>
                    <a:pt x="0" y="85724"/>
                  </a:lnTo>
                  <a:lnTo>
                    <a:pt x="0" y="0"/>
                  </a:lnTo>
                  <a:lnTo>
                    <a:pt x="876299" y="0"/>
                  </a:lnTo>
                  <a:lnTo>
                    <a:pt x="876299" y="85724"/>
                  </a:lnTo>
                  <a:close/>
                </a:path>
              </a:pathLst>
            </a:custGeom>
            <a:solidFill>
              <a:srgbClr val="E1E3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150" y="2432669"/>
              <a:ext cx="8305800" cy="534635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42999" y="2623169"/>
              <a:ext cx="7658100" cy="4699000"/>
            </a:xfrm>
            <a:custGeom>
              <a:avLst/>
              <a:gdLst/>
              <a:ahLst/>
              <a:cxnLst/>
              <a:rect l="l" t="t" r="r" b="b"/>
              <a:pathLst>
                <a:path w="7658100" h="4699000">
                  <a:moveTo>
                    <a:pt x="7429509" y="4698652"/>
                  </a:moveTo>
                  <a:lnTo>
                    <a:pt x="228589" y="4698652"/>
                  </a:lnTo>
                  <a:lnTo>
                    <a:pt x="182520" y="4694008"/>
                  </a:lnTo>
                  <a:lnTo>
                    <a:pt x="139612" y="4680688"/>
                  </a:lnTo>
                  <a:lnTo>
                    <a:pt x="100782" y="4659613"/>
                  </a:lnTo>
                  <a:lnTo>
                    <a:pt x="66952" y="4631700"/>
                  </a:lnTo>
                  <a:lnTo>
                    <a:pt x="39039" y="4597869"/>
                  </a:lnTo>
                  <a:lnTo>
                    <a:pt x="17963" y="4559040"/>
                  </a:lnTo>
                  <a:lnTo>
                    <a:pt x="4644" y="4516132"/>
                  </a:lnTo>
                  <a:lnTo>
                    <a:pt x="0" y="4470063"/>
                  </a:lnTo>
                  <a:lnTo>
                    <a:pt x="0" y="228589"/>
                  </a:lnTo>
                  <a:lnTo>
                    <a:pt x="4644" y="182520"/>
                  </a:lnTo>
                  <a:lnTo>
                    <a:pt x="17963" y="139612"/>
                  </a:lnTo>
                  <a:lnTo>
                    <a:pt x="39039" y="100782"/>
                  </a:lnTo>
                  <a:lnTo>
                    <a:pt x="66952" y="66952"/>
                  </a:lnTo>
                  <a:lnTo>
                    <a:pt x="100782" y="39039"/>
                  </a:lnTo>
                  <a:lnTo>
                    <a:pt x="139612" y="17963"/>
                  </a:lnTo>
                  <a:lnTo>
                    <a:pt x="182520" y="4644"/>
                  </a:lnTo>
                  <a:lnTo>
                    <a:pt x="228589" y="0"/>
                  </a:lnTo>
                  <a:lnTo>
                    <a:pt x="7429509" y="0"/>
                  </a:lnTo>
                  <a:lnTo>
                    <a:pt x="7474314" y="4432"/>
                  </a:lnTo>
                  <a:lnTo>
                    <a:pt x="7516987" y="17400"/>
                  </a:lnTo>
                  <a:lnTo>
                    <a:pt x="7556331" y="38405"/>
                  </a:lnTo>
                  <a:lnTo>
                    <a:pt x="7591147" y="66952"/>
                  </a:lnTo>
                  <a:lnTo>
                    <a:pt x="7619694" y="101767"/>
                  </a:lnTo>
                  <a:lnTo>
                    <a:pt x="7640699" y="141112"/>
                  </a:lnTo>
                  <a:lnTo>
                    <a:pt x="7653667" y="183785"/>
                  </a:lnTo>
                  <a:lnTo>
                    <a:pt x="7658099" y="228589"/>
                  </a:lnTo>
                  <a:lnTo>
                    <a:pt x="7658099" y="4470063"/>
                  </a:lnTo>
                  <a:lnTo>
                    <a:pt x="7653455" y="4516132"/>
                  </a:lnTo>
                  <a:lnTo>
                    <a:pt x="7640136" y="4559040"/>
                  </a:lnTo>
                  <a:lnTo>
                    <a:pt x="7619060" y="4597869"/>
                  </a:lnTo>
                  <a:lnTo>
                    <a:pt x="7591147" y="4631700"/>
                  </a:lnTo>
                  <a:lnTo>
                    <a:pt x="7557316" y="4659613"/>
                  </a:lnTo>
                  <a:lnTo>
                    <a:pt x="7518487" y="4680688"/>
                  </a:lnTo>
                  <a:lnTo>
                    <a:pt x="7475578" y="4694008"/>
                  </a:lnTo>
                  <a:lnTo>
                    <a:pt x="7429509" y="46986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382712" y="3023230"/>
            <a:ext cx="6471920" cy="2783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9070">
              <a:lnSpc>
                <a:spcPct val="100000"/>
              </a:lnSpc>
              <a:spcBef>
                <a:spcPts val="100"/>
              </a:spcBef>
            </a:pPr>
            <a:r>
              <a:rPr sz="2550" b="1" spc="-70" dirty="0">
                <a:solidFill>
                  <a:srgbClr val="123D33"/>
                </a:solidFill>
                <a:latin typeface="Tahoma"/>
                <a:cs typeface="Tahoma"/>
              </a:rPr>
              <a:t>Revenue</a:t>
            </a:r>
            <a:r>
              <a:rPr sz="2550" b="1" spc="-120" dirty="0">
                <a:solidFill>
                  <a:srgbClr val="123D33"/>
                </a:solidFill>
                <a:latin typeface="Tahoma"/>
                <a:cs typeface="Tahoma"/>
              </a:rPr>
              <a:t> </a:t>
            </a:r>
            <a:r>
              <a:rPr sz="2550" b="1" dirty="0">
                <a:solidFill>
                  <a:srgbClr val="123D33"/>
                </a:solidFill>
                <a:latin typeface="Tahoma"/>
                <a:cs typeface="Tahoma"/>
              </a:rPr>
              <a:t>—</a:t>
            </a:r>
            <a:r>
              <a:rPr sz="2550" b="1" spc="-130" dirty="0">
                <a:solidFill>
                  <a:srgbClr val="123D33"/>
                </a:solidFill>
                <a:latin typeface="Tahoma"/>
                <a:cs typeface="Tahoma"/>
              </a:rPr>
              <a:t> </a:t>
            </a:r>
            <a:r>
              <a:rPr sz="2550" b="1" spc="-35" dirty="0">
                <a:solidFill>
                  <a:srgbClr val="123D33"/>
                </a:solidFill>
                <a:latin typeface="Tahoma"/>
                <a:cs typeface="Tahoma"/>
              </a:rPr>
              <a:t>the</a:t>
            </a:r>
            <a:r>
              <a:rPr sz="2550" b="1" spc="-125" dirty="0">
                <a:solidFill>
                  <a:srgbClr val="123D33"/>
                </a:solidFill>
                <a:latin typeface="Tahoma"/>
                <a:cs typeface="Tahoma"/>
              </a:rPr>
              <a:t> </a:t>
            </a:r>
            <a:r>
              <a:rPr sz="2550" b="1" spc="-50" dirty="0">
                <a:solidFill>
                  <a:srgbClr val="123D33"/>
                </a:solidFill>
                <a:latin typeface="Tahoma"/>
                <a:cs typeface="Tahoma"/>
              </a:rPr>
              <a:t>consumer</a:t>
            </a:r>
            <a:r>
              <a:rPr sz="2550" b="1" spc="-125" dirty="0">
                <a:solidFill>
                  <a:srgbClr val="123D33"/>
                </a:solidFill>
                <a:latin typeface="Tahoma"/>
                <a:cs typeface="Tahoma"/>
              </a:rPr>
              <a:t> </a:t>
            </a:r>
            <a:r>
              <a:rPr sz="2550" b="1" spc="-20" dirty="0">
                <a:solidFill>
                  <a:srgbClr val="123D33"/>
                </a:solidFill>
                <a:latin typeface="Tahoma"/>
                <a:cs typeface="Tahoma"/>
              </a:rPr>
              <a:t>never</a:t>
            </a:r>
            <a:r>
              <a:rPr sz="2550" b="1" spc="-120" dirty="0">
                <a:solidFill>
                  <a:srgbClr val="123D33"/>
                </a:solidFill>
                <a:latin typeface="Tahoma"/>
                <a:cs typeface="Tahoma"/>
              </a:rPr>
              <a:t> </a:t>
            </a:r>
            <a:r>
              <a:rPr sz="2550" b="1" spc="-20" dirty="0">
                <a:solidFill>
                  <a:srgbClr val="123D33"/>
                </a:solidFill>
                <a:latin typeface="Tahoma"/>
                <a:cs typeface="Tahoma"/>
              </a:rPr>
              <a:t>pays</a:t>
            </a:r>
            <a:endParaRPr sz="2550">
              <a:latin typeface="Tahoma"/>
              <a:cs typeface="Tahoma"/>
            </a:endParaRPr>
          </a:p>
          <a:p>
            <a:pPr marL="12700" marR="531495">
              <a:lnSpc>
                <a:spcPct val="122300"/>
              </a:lnSpc>
              <a:spcBef>
                <a:spcPts val="2355"/>
              </a:spcBef>
            </a:pPr>
            <a:r>
              <a:rPr sz="1850" b="1" spc="-130" dirty="0">
                <a:solidFill>
                  <a:srgbClr val="343431"/>
                </a:solidFill>
                <a:latin typeface="Roboto Bk"/>
                <a:cs typeface="Roboto Bk"/>
              </a:rPr>
              <a:t>Merchant</a:t>
            </a:r>
            <a:r>
              <a:rPr sz="1850" b="1" spc="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25" dirty="0">
                <a:solidFill>
                  <a:srgbClr val="343431"/>
                </a:solidFill>
                <a:latin typeface="Roboto Bk"/>
                <a:cs typeface="Roboto Bk"/>
              </a:rPr>
              <a:t>campaign</a:t>
            </a:r>
            <a:r>
              <a:rPr sz="1850" b="1" spc="1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20" dirty="0">
                <a:solidFill>
                  <a:srgbClr val="343431"/>
                </a:solidFill>
                <a:latin typeface="Roboto Bk"/>
                <a:cs typeface="Roboto Bk"/>
              </a:rPr>
              <a:t>fees,</a:t>
            </a:r>
            <a:r>
              <a:rPr sz="1850" b="1" spc="1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05" dirty="0">
                <a:solidFill>
                  <a:srgbClr val="343431"/>
                </a:solidFill>
                <a:latin typeface="Roboto Bk"/>
                <a:cs typeface="Roboto Bk"/>
              </a:rPr>
              <a:t>priced</a:t>
            </a:r>
            <a:r>
              <a:rPr sz="1850" b="1" spc="1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20" dirty="0">
                <a:solidFill>
                  <a:srgbClr val="343431"/>
                </a:solidFill>
                <a:latin typeface="Roboto Bk"/>
                <a:cs typeface="Roboto Bk"/>
              </a:rPr>
              <a:t>on</a:t>
            </a:r>
            <a:r>
              <a:rPr sz="1850" b="1" spc="1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40" dirty="0">
                <a:solidFill>
                  <a:srgbClr val="343431"/>
                </a:solidFill>
                <a:latin typeface="Roboto Bk"/>
                <a:cs typeface="Roboto Bk"/>
              </a:rPr>
              <a:t>conﬁrmed</a:t>
            </a:r>
            <a:r>
              <a:rPr sz="1850" b="1" spc="1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14" dirty="0">
                <a:solidFill>
                  <a:srgbClr val="343431"/>
                </a:solidFill>
                <a:latin typeface="Roboto Bk"/>
                <a:cs typeface="Roboto Bk"/>
              </a:rPr>
              <a:t>visits</a:t>
            </a:r>
            <a:r>
              <a:rPr sz="1850" b="1" spc="1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10" dirty="0">
                <a:solidFill>
                  <a:srgbClr val="343431"/>
                </a:solidFill>
                <a:latin typeface="Roboto Bk"/>
                <a:cs typeface="Roboto Bk"/>
              </a:rPr>
              <a:t>rather</a:t>
            </a:r>
            <a:r>
              <a:rPr sz="1850" b="1" spc="1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30" dirty="0">
                <a:solidFill>
                  <a:srgbClr val="343431"/>
                </a:solidFill>
                <a:latin typeface="Roboto Bk"/>
                <a:cs typeface="Roboto Bk"/>
              </a:rPr>
              <a:t>than impressions</a:t>
            </a:r>
            <a:endParaRPr sz="1850">
              <a:latin typeface="Roboto Bk"/>
              <a:cs typeface="Roboto Bk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850" b="1" spc="-120" dirty="0">
                <a:solidFill>
                  <a:srgbClr val="343431"/>
                </a:solidFill>
                <a:latin typeface="Roboto Bk"/>
                <a:cs typeface="Roboto Bk"/>
              </a:rPr>
              <a:t>Featured</a:t>
            </a:r>
            <a:r>
              <a:rPr sz="1850" b="1" spc="4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25" dirty="0">
                <a:solidFill>
                  <a:srgbClr val="343431"/>
                </a:solidFill>
                <a:latin typeface="Roboto Bk"/>
                <a:cs typeface="Roboto Bk"/>
              </a:rPr>
              <a:t>placement,</a:t>
            </a:r>
            <a:r>
              <a:rPr sz="1850" b="1" spc="4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20" dirty="0">
                <a:solidFill>
                  <a:srgbClr val="343431"/>
                </a:solidFill>
                <a:latin typeface="Roboto Bk"/>
                <a:cs typeface="Roboto Bk"/>
              </a:rPr>
              <a:t>always</a:t>
            </a:r>
            <a:r>
              <a:rPr sz="1850" b="1" spc="4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0" dirty="0">
                <a:solidFill>
                  <a:srgbClr val="343431"/>
                </a:solidFill>
                <a:latin typeface="Roboto Bk"/>
                <a:cs typeface="Roboto Bk"/>
              </a:rPr>
              <a:t>labelled</a:t>
            </a:r>
            <a:endParaRPr sz="1850">
              <a:latin typeface="Roboto Bk"/>
              <a:cs typeface="Roboto Bk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850" b="1" spc="-130" dirty="0">
                <a:solidFill>
                  <a:srgbClr val="343431"/>
                </a:solidFill>
                <a:latin typeface="Roboto Bk"/>
                <a:cs typeface="Roboto Bk"/>
              </a:rPr>
              <a:t>Merchant</a:t>
            </a:r>
            <a:r>
              <a:rPr sz="1850" b="1" spc="-2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05" dirty="0">
                <a:solidFill>
                  <a:srgbClr val="343431"/>
                </a:solidFill>
                <a:latin typeface="Roboto Bk"/>
                <a:cs typeface="Roboto Bk"/>
              </a:rPr>
              <a:t>analytics</a:t>
            </a:r>
            <a:r>
              <a:rPr sz="1850" b="1" spc="-2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25" dirty="0">
                <a:solidFill>
                  <a:srgbClr val="343431"/>
                </a:solidFill>
                <a:latin typeface="Roboto Bk"/>
                <a:cs typeface="Roboto Bk"/>
              </a:rPr>
              <a:t>and</a:t>
            </a:r>
            <a:r>
              <a:rPr sz="1850" b="1" spc="-2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10" dirty="0">
                <a:solidFill>
                  <a:srgbClr val="343431"/>
                </a:solidFill>
                <a:latin typeface="Roboto Bk"/>
                <a:cs typeface="Roboto Bk"/>
              </a:rPr>
              <a:t>attribution</a:t>
            </a:r>
            <a:r>
              <a:rPr sz="1850" b="1" spc="-1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20" dirty="0">
                <a:solidFill>
                  <a:srgbClr val="343431"/>
                </a:solidFill>
                <a:latin typeface="Roboto Bk"/>
                <a:cs typeface="Roboto Bk"/>
              </a:rPr>
              <a:t>reporting,</a:t>
            </a:r>
            <a:r>
              <a:rPr sz="1850" b="1" spc="-2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90" dirty="0">
                <a:solidFill>
                  <a:srgbClr val="343431"/>
                </a:solidFill>
                <a:latin typeface="Roboto Bk"/>
                <a:cs typeface="Roboto Bk"/>
              </a:rPr>
              <a:t>as</a:t>
            </a:r>
            <a:r>
              <a:rPr sz="1850" b="1" spc="-2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dirty="0">
                <a:solidFill>
                  <a:srgbClr val="343431"/>
                </a:solidFill>
                <a:latin typeface="Roboto Bk"/>
                <a:cs typeface="Roboto Bk"/>
              </a:rPr>
              <a:t>a</a:t>
            </a:r>
            <a:r>
              <a:rPr sz="1850" b="1" spc="-1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0" dirty="0">
                <a:solidFill>
                  <a:srgbClr val="343431"/>
                </a:solidFill>
                <a:latin typeface="Roboto Bk"/>
                <a:cs typeface="Roboto Bk"/>
              </a:rPr>
              <a:t>subscription</a:t>
            </a:r>
            <a:endParaRPr sz="1850">
              <a:latin typeface="Roboto Bk"/>
              <a:cs typeface="Roboto Bk"/>
            </a:endParaRPr>
          </a:p>
          <a:p>
            <a:pPr marL="12700" marR="5080">
              <a:lnSpc>
                <a:spcPct val="122300"/>
              </a:lnSpc>
            </a:pPr>
            <a:r>
              <a:rPr sz="1850" b="1" spc="-150" dirty="0">
                <a:solidFill>
                  <a:srgbClr val="343431"/>
                </a:solidFill>
                <a:latin typeface="Roboto Bk"/>
                <a:cs typeface="Roboto Bk"/>
              </a:rPr>
              <a:t>Bank</a:t>
            </a:r>
            <a:r>
              <a:rPr sz="1850" b="1" spc="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20" dirty="0">
                <a:solidFill>
                  <a:srgbClr val="343431"/>
                </a:solidFill>
                <a:latin typeface="Roboto Bk"/>
                <a:cs typeface="Roboto Bk"/>
              </a:rPr>
              <a:t>platform</a:t>
            </a:r>
            <a:r>
              <a:rPr sz="1850" b="1" spc="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20" dirty="0">
                <a:solidFill>
                  <a:srgbClr val="343431"/>
                </a:solidFill>
                <a:latin typeface="Roboto Bk"/>
                <a:cs typeface="Roboto Bk"/>
              </a:rPr>
              <a:t>fee,</a:t>
            </a:r>
            <a:r>
              <a:rPr sz="1850" b="1" spc="1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05" dirty="0">
                <a:solidFill>
                  <a:srgbClr val="343431"/>
                </a:solidFill>
                <a:latin typeface="Roboto Bk"/>
                <a:cs typeface="Roboto Bk"/>
              </a:rPr>
              <a:t>tied</a:t>
            </a:r>
            <a:r>
              <a:rPr sz="1850" b="1" spc="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14" dirty="0">
                <a:solidFill>
                  <a:srgbClr val="343431"/>
                </a:solidFill>
                <a:latin typeface="Roboto Bk"/>
                <a:cs typeface="Roboto Bk"/>
              </a:rPr>
              <a:t>to</a:t>
            </a:r>
            <a:r>
              <a:rPr sz="1850" b="1" spc="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10" dirty="0">
                <a:solidFill>
                  <a:srgbClr val="343431"/>
                </a:solidFill>
                <a:latin typeface="Roboto Bk"/>
                <a:cs typeface="Roboto Bk"/>
              </a:rPr>
              <a:t>reactivations</a:t>
            </a:r>
            <a:r>
              <a:rPr sz="1850" b="1" spc="1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25" dirty="0">
                <a:solidFill>
                  <a:srgbClr val="343431"/>
                </a:solidFill>
                <a:latin typeface="Roboto Bk"/>
                <a:cs typeface="Roboto Bk"/>
              </a:rPr>
              <a:t>and</a:t>
            </a:r>
            <a:r>
              <a:rPr sz="1850" b="1" spc="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25" dirty="0">
                <a:solidFill>
                  <a:srgbClr val="343431"/>
                </a:solidFill>
                <a:latin typeface="Roboto Bk"/>
                <a:cs typeface="Roboto Bk"/>
              </a:rPr>
              <a:t>redemptions,</a:t>
            </a:r>
            <a:r>
              <a:rPr sz="1850" b="1" spc="1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10" dirty="0">
                <a:solidFill>
                  <a:srgbClr val="343431"/>
                </a:solidFill>
                <a:latin typeface="Roboto Bk"/>
                <a:cs typeface="Roboto Bk"/>
              </a:rPr>
              <a:t>once</a:t>
            </a:r>
            <a:r>
              <a:rPr sz="1850" b="1" spc="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35" dirty="0">
                <a:solidFill>
                  <a:srgbClr val="343431"/>
                </a:solidFill>
                <a:latin typeface="Roboto Bk"/>
                <a:cs typeface="Roboto Bk"/>
              </a:rPr>
              <a:t>usage </a:t>
            </a:r>
            <a:r>
              <a:rPr sz="1850" b="1" spc="-120" dirty="0">
                <a:solidFill>
                  <a:srgbClr val="343431"/>
                </a:solidFill>
                <a:latin typeface="Roboto Bk"/>
                <a:cs typeface="Roboto Bk"/>
              </a:rPr>
              <a:t>evidence</a:t>
            </a:r>
            <a:r>
              <a:rPr sz="1850" b="1" spc="2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0" dirty="0">
                <a:solidFill>
                  <a:srgbClr val="343431"/>
                </a:solidFill>
                <a:latin typeface="Roboto Bk"/>
                <a:cs typeface="Roboto Bk"/>
              </a:rPr>
              <a:t>exists</a:t>
            </a:r>
            <a:endParaRPr sz="1850">
              <a:latin typeface="Roboto Bk"/>
              <a:cs typeface="Roboto B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49400" y="6590746"/>
            <a:ext cx="4163060" cy="288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spc="-105" dirty="0">
                <a:solidFill>
                  <a:srgbClr val="7B837D"/>
                </a:solidFill>
                <a:latin typeface="Roboto Bk"/>
                <a:cs typeface="Roboto Bk"/>
              </a:rPr>
              <a:t>Pricing</a:t>
            </a:r>
            <a:r>
              <a:rPr sz="1700" b="1" spc="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90" dirty="0">
                <a:solidFill>
                  <a:srgbClr val="7B837D"/>
                </a:solidFill>
                <a:latin typeface="Roboto Bk"/>
                <a:cs typeface="Roboto Bk"/>
              </a:rPr>
              <a:t>is</a:t>
            </a:r>
            <a:r>
              <a:rPr sz="1700" b="1" spc="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90" dirty="0">
                <a:solidFill>
                  <a:srgbClr val="7B837D"/>
                </a:solidFill>
                <a:latin typeface="Roboto Bk"/>
                <a:cs typeface="Roboto Bk"/>
              </a:rPr>
              <a:t>set</a:t>
            </a:r>
            <a:r>
              <a:rPr sz="1700" b="1" spc="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110" dirty="0">
                <a:solidFill>
                  <a:srgbClr val="7B837D"/>
                </a:solidFill>
                <a:latin typeface="Roboto Bk"/>
                <a:cs typeface="Roboto Bk"/>
              </a:rPr>
              <a:t>with</a:t>
            </a:r>
            <a:r>
              <a:rPr sz="1700" b="1" spc="10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120" dirty="0">
                <a:solidFill>
                  <a:srgbClr val="7B837D"/>
                </a:solidFill>
                <a:latin typeface="Roboto Bk"/>
                <a:cs typeface="Roboto Bk"/>
              </a:rPr>
              <a:t>merchants,</a:t>
            </a:r>
            <a:r>
              <a:rPr sz="1700" b="1" spc="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110" dirty="0">
                <a:solidFill>
                  <a:srgbClr val="7B837D"/>
                </a:solidFill>
                <a:latin typeface="Roboto Bk"/>
                <a:cs typeface="Roboto Bk"/>
              </a:rPr>
              <a:t>not</a:t>
            </a:r>
            <a:r>
              <a:rPr sz="1700" b="1" spc="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110" dirty="0">
                <a:solidFill>
                  <a:srgbClr val="7B837D"/>
                </a:solidFill>
                <a:latin typeface="Roboto Bk"/>
                <a:cs typeface="Roboto Bk"/>
              </a:rPr>
              <a:t>invented</a:t>
            </a:r>
            <a:r>
              <a:rPr sz="1700" b="1" spc="10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45" dirty="0">
                <a:solidFill>
                  <a:srgbClr val="7B837D"/>
                </a:solidFill>
                <a:latin typeface="Roboto Bk"/>
                <a:cs typeface="Roboto Bk"/>
              </a:rPr>
              <a:t>here.</a:t>
            </a:r>
            <a:endParaRPr sz="1700">
              <a:latin typeface="Roboto Bk"/>
              <a:cs typeface="Roboto Bk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9163050" y="2432669"/>
            <a:ext cx="8305800" cy="5346700"/>
            <a:chOff x="9163050" y="2432669"/>
            <a:chExt cx="8305800" cy="534670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63050" y="2432669"/>
              <a:ext cx="8305800" cy="534635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486899" y="2623169"/>
              <a:ext cx="7658100" cy="4699000"/>
            </a:xfrm>
            <a:custGeom>
              <a:avLst/>
              <a:gdLst/>
              <a:ahLst/>
              <a:cxnLst/>
              <a:rect l="l" t="t" r="r" b="b"/>
              <a:pathLst>
                <a:path w="7658100" h="4699000">
                  <a:moveTo>
                    <a:pt x="7429510" y="4698652"/>
                  </a:moveTo>
                  <a:lnTo>
                    <a:pt x="228589" y="4698652"/>
                  </a:lnTo>
                  <a:lnTo>
                    <a:pt x="182521" y="4694008"/>
                  </a:lnTo>
                  <a:lnTo>
                    <a:pt x="139612" y="4680688"/>
                  </a:lnTo>
                  <a:lnTo>
                    <a:pt x="100783" y="4659613"/>
                  </a:lnTo>
                  <a:lnTo>
                    <a:pt x="66952" y="4631700"/>
                  </a:lnTo>
                  <a:lnTo>
                    <a:pt x="39039" y="4597869"/>
                  </a:lnTo>
                  <a:lnTo>
                    <a:pt x="17963" y="4559040"/>
                  </a:lnTo>
                  <a:lnTo>
                    <a:pt x="4644" y="4516132"/>
                  </a:lnTo>
                  <a:lnTo>
                    <a:pt x="0" y="4470063"/>
                  </a:lnTo>
                  <a:lnTo>
                    <a:pt x="0" y="228589"/>
                  </a:lnTo>
                  <a:lnTo>
                    <a:pt x="4644" y="182520"/>
                  </a:lnTo>
                  <a:lnTo>
                    <a:pt x="17963" y="139612"/>
                  </a:lnTo>
                  <a:lnTo>
                    <a:pt x="39039" y="100782"/>
                  </a:lnTo>
                  <a:lnTo>
                    <a:pt x="66952" y="66952"/>
                  </a:lnTo>
                  <a:lnTo>
                    <a:pt x="100783" y="39039"/>
                  </a:lnTo>
                  <a:lnTo>
                    <a:pt x="139612" y="17963"/>
                  </a:lnTo>
                  <a:lnTo>
                    <a:pt x="182521" y="4644"/>
                  </a:lnTo>
                  <a:lnTo>
                    <a:pt x="228589" y="0"/>
                  </a:lnTo>
                  <a:lnTo>
                    <a:pt x="7429510" y="0"/>
                  </a:lnTo>
                  <a:lnTo>
                    <a:pt x="7474314" y="4432"/>
                  </a:lnTo>
                  <a:lnTo>
                    <a:pt x="7516987" y="17400"/>
                  </a:lnTo>
                  <a:lnTo>
                    <a:pt x="7556331" y="38405"/>
                  </a:lnTo>
                  <a:lnTo>
                    <a:pt x="7591148" y="66952"/>
                  </a:lnTo>
                  <a:lnTo>
                    <a:pt x="7619695" y="101767"/>
                  </a:lnTo>
                  <a:lnTo>
                    <a:pt x="7640700" y="141112"/>
                  </a:lnTo>
                  <a:lnTo>
                    <a:pt x="7653667" y="183785"/>
                  </a:lnTo>
                  <a:lnTo>
                    <a:pt x="7658099" y="228589"/>
                  </a:lnTo>
                  <a:lnTo>
                    <a:pt x="7658099" y="4470063"/>
                  </a:lnTo>
                  <a:lnTo>
                    <a:pt x="7653455" y="4516132"/>
                  </a:lnTo>
                  <a:lnTo>
                    <a:pt x="7640136" y="4559040"/>
                  </a:lnTo>
                  <a:lnTo>
                    <a:pt x="7619060" y="4597869"/>
                  </a:lnTo>
                  <a:lnTo>
                    <a:pt x="7591147" y="4631700"/>
                  </a:lnTo>
                  <a:lnTo>
                    <a:pt x="7557316" y="4659613"/>
                  </a:lnTo>
                  <a:lnTo>
                    <a:pt x="7518487" y="4680688"/>
                  </a:lnTo>
                  <a:lnTo>
                    <a:pt x="7475579" y="4694008"/>
                  </a:lnTo>
                  <a:lnTo>
                    <a:pt x="7429510" y="46986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726613" y="3023230"/>
            <a:ext cx="5972175" cy="2093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9070">
              <a:lnSpc>
                <a:spcPct val="100000"/>
              </a:lnSpc>
              <a:spcBef>
                <a:spcPts val="100"/>
              </a:spcBef>
            </a:pPr>
            <a:r>
              <a:rPr sz="2550" b="1" spc="-40" dirty="0">
                <a:solidFill>
                  <a:srgbClr val="123D33"/>
                </a:solidFill>
                <a:latin typeface="Tahoma"/>
                <a:cs typeface="Tahoma"/>
              </a:rPr>
              <a:t>Costs</a:t>
            </a:r>
            <a:r>
              <a:rPr sz="2550" b="1" spc="-130" dirty="0">
                <a:solidFill>
                  <a:srgbClr val="123D33"/>
                </a:solidFill>
                <a:latin typeface="Tahoma"/>
                <a:cs typeface="Tahoma"/>
              </a:rPr>
              <a:t> </a:t>
            </a:r>
            <a:r>
              <a:rPr sz="2550" b="1" dirty="0">
                <a:solidFill>
                  <a:srgbClr val="123D33"/>
                </a:solidFill>
                <a:latin typeface="Tahoma"/>
                <a:cs typeface="Tahoma"/>
              </a:rPr>
              <a:t>—</a:t>
            </a:r>
            <a:r>
              <a:rPr sz="2550" b="1" spc="-130" dirty="0">
                <a:solidFill>
                  <a:srgbClr val="123D33"/>
                </a:solidFill>
                <a:latin typeface="Tahoma"/>
                <a:cs typeface="Tahoma"/>
              </a:rPr>
              <a:t> </a:t>
            </a:r>
            <a:r>
              <a:rPr sz="2550" b="1" spc="-25" dirty="0">
                <a:solidFill>
                  <a:srgbClr val="123D33"/>
                </a:solidFill>
                <a:latin typeface="Tahoma"/>
                <a:cs typeface="Tahoma"/>
              </a:rPr>
              <a:t>people,</a:t>
            </a:r>
            <a:r>
              <a:rPr sz="2550" b="1" spc="-130" dirty="0">
                <a:solidFill>
                  <a:srgbClr val="123D33"/>
                </a:solidFill>
                <a:latin typeface="Tahoma"/>
                <a:cs typeface="Tahoma"/>
              </a:rPr>
              <a:t> </a:t>
            </a:r>
            <a:r>
              <a:rPr sz="2550" b="1" dirty="0">
                <a:solidFill>
                  <a:srgbClr val="123D33"/>
                </a:solidFill>
                <a:latin typeface="Tahoma"/>
                <a:cs typeface="Tahoma"/>
              </a:rPr>
              <a:t>not</a:t>
            </a:r>
            <a:r>
              <a:rPr sz="2550" b="1" spc="-130" dirty="0">
                <a:solidFill>
                  <a:srgbClr val="123D33"/>
                </a:solidFill>
                <a:latin typeface="Tahoma"/>
                <a:cs typeface="Tahoma"/>
              </a:rPr>
              <a:t> </a:t>
            </a:r>
            <a:r>
              <a:rPr sz="2550" b="1" spc="-10" dirty="0">
                <a:solidFill>
                  <a:srgbClr val="123D33"/>
                </a:solidFill>
                <a:latin typeface="Tahoma"/>
                <a:cs typeface="Tahoma"/>
              </a:rPr>
              <a:t>servers</a:t>
            </a:r>
            <a:endParaRPr sz="2550">
              <a:latin typeface="Tahoma"/>
              <a:cs typeface="Tahoma"/>
            </a:endParaRPr>
          </a:p>
          <a:p>
            <a:pPr marL="12700" marR="5080">
              <a:lnSpc>
                <a:spcPct val="122300"/>
              </a:lnSpc>
              <a:spcBef>
                <a:spcPts val="2355"/>
              </a:spcBef>
            </a:pPr>
            <a:r>
              <a:rPr sz="1850" b="1" spc="-130" dirty="0">
                <a:solidFill>
                  <a:srgbClr val="343431"/>
                </a:solidFill>
                <a:latin typeface="Roboto Bk"/>
                <a:cs typeface="Roboto Bk"/>
              </a:rPr>
              <a:t>Merchant</a:t>
            </a:r>
            <a:r>
              <a:rPr sz="185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25" dirty="0">
                <a:solidFill>
                  <a:srgbClr val="343431"/>
                </a:solidFill>
                <a:latin typeface="Roboto Bk"/>
                <a:cs typeface="Roboto Bk"/>
              </a:rPr>
              <a:t>onboarding:</a:t>
            </a:r>
            <a:r>
              <a:rPr sz="1850" b="1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05" dirty="0">
                <a:solidFill>
                  <a:srgbClr val="343431"/>
                </a:solidFill>
                <a:latin typeface="Roboto Bk"/>
                <a:cs typeface="Roboto Bk"/>
              </a:rPr>
              <a:t>feet</a:t>
            </a:r>
            <a:r>
              <a:rPr sz="185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20" dirty="0">
                <a:solidFill>
                  <a:srgbClr val="343431"/>
                </a:solidFill>
                <a:latin typeface="Roboto Bk"/>
                <a:cs typeface="Roboto Bk"/>
              </a:rPr>
              <a:t>on</a:t>
            </a:r>
            <a:r>
              <a:rPr sz="1850" b="1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14" dirty="0">
                <a:solidFill>
                  <a:srgbClr val="343431"/>
                </a:solidFill>
                <a:latin typeface="Roboto Bk"/>
                <a:cs typeface="Roboto Bk"/>
              </a:rPr>
              <a:t>the</a:t>
            </a:r>
            <a:r>
              <a:rPr sz="1850" b="1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35" dirty="0">
                <a:solidFill>
                  <a:srgbClr val="343431"/>
                </a:solidFill>
                <a:latin typeface="Roboto Bk"/>
                <a:cs typeface="Roboto Bk"/>
              </a:rPr>
              <a:t>ground,</a:t>
            </a:r>
            <a:r>
              <a:rPr sz="185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14" dirty="0">
                <a:solidFill>
                  <a:srgbClr val="343431"/>
                </a:solidFill>
                <a:latin typeface="Roboto Bk"/>
                <a:cs typeface="Roboto Bk"/>
              </a:rPr>
              <a:t>the</a:t>
            </a:r>
            <a:r>
              <a:rPr sz="1850" b="1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05" dirty="0">
                <a:solidFill>
                  <a:srgbClr val="343431"/>
                </a:solidFill>
                <a:latin typeface="Roboto Bk"/>
                <a:cs typeface="Roboto Bk"/>
              </a:rPr>
              <a:t>largest</a:t>
            </a:r>
            <a:r>
              <a:rPr sz="185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10" dirty="0">
                <a:solidFill>
                  <a:srgbClr val="343431"/>
                </a:solidFill>
                <a:latin typeface="Roboto Bk"/>
                <a:cs typeface="Roboto Bk"/>
              </a:rPr>
              <a:t>line</a:t>
            </a:r>
            <a:r>
              <a:rPr sz="1850" b="1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55" dirty="0">
                <a:solidFill>
                  <a:srgbClr val="343431"/>
                </a:solidFill>
                <a:latin typeface="Roboto Bk"/>
                <a:cs typeface="Roboto Bk"/>
              </a:rPr>
              <a:t>by</a:t>
            </a:r>
            <a:r>
              <a:rPr sz="1850" b="1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25" dirty="0">
                <a:solidFill>
                  <a:srgbClr val="343431"/>
                </a:solidFill>
                <a:latin typeface="Roboto Bk"/>
                <a:cs typeface="Roboto Bk"/>
              </a:rPr>
              <a:t>far </a:t>
            </a:r>
            <a:r>
              <a:rPr sz="1850" b="1" spc="-120" dirty="0">
                <a:solidFill>
                  <a:srgbClr val="343431"/>
                </a:solidFill>
                <a:latin typeface="Roboto Bk"/>
                <a:cs typeface="Roboto Bk"/>
              </a:rPr>
              <a:t>Offer-</a:t>
            </a:r>
            <a:r>
              <a:rPr sz="1850" b="1" spc="-135" dirty="0">
                <a:solidFill>
                  <a:srgbClr val="343431"/>
                </a:solidFill>
                <a:latin typeface="Roboto Bk"/>
                <a:cs typeface="Roboto Bk"/>
              </a:rPr>
              <a:t>data</a:t>
            </a:r>
            <a:r>
              <a:rPr sz="1850" b="1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20" dirty="0">
                <a:solidFill>
                  <a:srgbClr val="343431"/>
                </a:solidFill>
                <a:latin typeface="Roboto Bk"/>
                <a:cs typeface="Roboto Bk"/>
              </a:rPr>
              <a:t>maintenance,</a:t>
            </a:r>
            <a:r>
              <a:rPr sz="1850" b="1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14" dirty="0">
                <a:solidFill>
                  <a:srgbClr val="343431"/>
                </a:solidFill>
                <a:latin typeface="Roboto Bk"/>
                <a:cs typeface="Roboto Bk"/>
              </a:rPr>
              <a:t>daily</a:t>
            </a:r>
            <a:r>
              <a:rPr sz="1850" b="1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250" dirty="0">
                <a:solidFill>
                  <a:srgbClr val="343431"/>
                </a:solidFill>
                <a:latin typeface="Roboto Bk"/>
                <a:cs typeface="Roboto Bk"/>
              </a:rPr>
              <a:t>—</a:t>
            </a:r>
            <a:r>
              <a:rPr sz="1850" b="1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00" dirty="0">
                <a:solidFill>
                  <a:srgbClr val="343431"/>
                </a:solidFill>
                <a:latin typeface="Roboto Bk"/>
                <a:cs typeface="Roboto Bk"/>
              </a:rPr>
              <a:t>offers</a:t>
            </a:r>
            <a:r>
              <a:rPr sz="1850" b="1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10" dirty="0">
                <a:solidFill>
                  <a:srgbClr val="343431"/>
                </a:solidFill>
                <a:latin typeface="Roboto Bk"/>
                <a:cs typeface="Roboto Bk"/>
              </a:rPr>
              <a:t>expire</a:t>
            </a:r>
            <a:r>
              <a:rPr sz="1850" b="1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25" dirty="0">
                <a:solidFill>
                  <a:srgbClr val="343431"/>
                </a:solidFill>
                <a:latin typeface="Roboto Bk"/>
                <a:cs typeface="Roboto Bk"/>
              </a:rPr>
              <a:t>and</a:t>
            </a:r>
            <a:r>
              <a:rPr sz="1850" b="1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25" dirty="0">
                <a:solidFill>
                  <a:srgbClr val="343431"/>
                </a:solidFill>
                <a:latin typeface="Roboto Bk"/>
                <a:cs typeface="Roboto Bk"/>
              </a:rPr>
              <a:t>terms</a:t>
            </a:r>
            <a:r>
              <a:rPr sz="1850" b="1" spc="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65" dirty="0">
                <a:solidFill>
                  <a:srgbClr val="343431"/>
                </a:solidFill>
                <a:latin typeface="Roboto Bk"/>
                <a:cs typeface="Roboto Bk"/>
              </a:rPr>
              <a:t>change </a:t>
            </a:r>
            <a:r>
              <a:rPr sz="1850" b="1" spc="-135" dirty="0">
                <a:solidFill>
                  <a:srgbClr val="343431"/>
                </a:solidFill>
                <a:latin typeface="Roboto Bk"/>
                <a:cs typeface="Roboto Bk"/>
              </a:rPr>
              <a:t>Cloud,</a:t>
            </a:r>
            <a:r>
              <a:rPr sz="1850" b="1" spc="1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35" dirty="0">
                <a:solidFill>
                  <a:srgbClr val="343431"/>
                </a:solidFill>
                <a:latin typeface="Roboto Bk"/>
                <a:cs typeface="Roboto Bk"/>
              </a:rPr>
              <a:t>maps</a:t>
            </a:r>
            <a:r>
              <a:rPr sz="1850" b="1" spc="1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25" dirty="0">
                <a:solidFill>
                  <a:srgbClr val="343431"/>
                </a:solidFill>
                <a:latin typeface="Roboto Bk"/>
                <a:cs typeface="Roboto Bk"/>
              </a:rPr>
              <a:t>and</a:t>
            </a:r>
            <a:r>
              <a:rPr sz="1850" b="1" spc="1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20" dirty="0">
                <a:solidFill>
                  <a:srgbClr val="343431"/>
                </a:solidFill>
                <a:latin typeface="Roboto Bk"/>
                <a:cs typeface="Roboto Bk"/>
              </a:rPr>
              <a:t>notiﬁcation</a:t>
            </a:r>
            <a:r>
              <a:rPr sz="1850" b="1" spc="1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20" dirty="0">
                <a:solidFill>
                  <a:srgbClr val="343431"/>
                </a:solidFill>
                <a:latin typeface="Roboto Bk"/>
                <a:cs typeface="Roboto Bk"/>
              </a:rPr>
              <a:t>infrastructure,</a:t>
            </a:r>
            <a:r>
              <a:rPr sz="1850" b="1" spc="1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14" dirty="0">
                <a:solidFill>
                  <a:srgbClr val="343431"/>
                </a:solidFill>
                <a:latin typeface="Roboto Bk"/>
                <a:cs typeface="Roboto Bk"/>
              </a:rPr>
              <a:t>scaling</a:t>
            </a:r>
            <a:r>
              <a:rPr sz="1850" b="1" spc="1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25" dirty="0">
                <a:solidFill>
                  <a:srgbClr val="343431"/>
                </a:solidFill>
                <a:latin typeface="Roboto Bk"/>
                <a:cs typeface="Roboto Bk"/>
              </a:rPr>
              <a:t>with</a:t>
            </a:r>
            <a:r>
              <a:rPr sz="1850" b="1" spc="1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0" dirty="0">
                <a:solidFill>
                  <a:srgbClr val="343431"/>
                </a:solidFill>
                <a:latin typeface="Roboto Bk"/>
                <a:cs typeface="Roboto Bk"/>
              </a:rPr>
              <a:t>users </a:t>
            </a:r>
            <a:r>
              <a:rPr sz="1850" b="1" spc="-125" dirty="0">
                <a:solidFill>
                  <a:srgbClr val="343431"/>
                </a:solidFill>
                <a:latin typeface="Roboto Bk"/>
                <a:cs typeface="Roboto Bk"/>
              </a:rPr>
              <a:t>Founder</a:t>
            </a:r>
            <a:r>
              <a:rPr sz="1850" b="1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50" dirty="0">
                <a:solidFill>
                  <a:srgbClr val="343431"/>
                </a:solidFill>
                <a:latin typeface="Roboto Bk"/>
                <a:cs typeface="Roboto Bk"/>
              </a:rPr>
              <a:t>runway,</a:t>
            </a:r>
            <a:r>
              <a:rPr sz="1850" b="1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20" dirty="0">
                <a:solidFill>
                  <a:srgbClr val="343431"/>
                </a:solidFill>
                <a:latin typeface="Roboto Bk"/>
                <a:cs typeface="Roboto Bk"/>
              </a:rPr>
              <a:t>support,</a:t>
            </a:r>
            <a:r>
              <a:rPr sz="1850" b="1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10" dirty="0">
                <a:solidFill>
                  <a:srgbClr val="343431"/>
                </a:solidFill>
                <a:latin typeface="Roboto Bk"/>
                <a:cs typeface="Roboto Bk"/>
              </a:rPr>
              <a:t>app</a:t>
            </a:r>
            <a:r>
              <a:rPr sz="1850" b="1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10" dirty="0">
                <a:solidFill>
                  <a:srgbClr val="343431"/>
                </a:solidFill>
                <a:latin typeface="Roboto Bk"/>
                <a:cs typeface="Roboto Bk"/>
              </a:rPr>
              <a:t>store</a:t>
            </a:r>
            <a:r>
              <a:rPr sz="1850" b="1" spc="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05" dirty="0">
                <a:solidFill>
                  <a:srgbClr val="343431"/>
                </a:solidFill>
                <a:latin typeface="Roboto Bk"/>
                <a:cs typeface="Roboto Bk"/>
              </a:rPr>
              <a:t>fees</a:t>
            </a:r>
            <a:r>
              <a:rPr sz="1850" b="1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25" dirty="0">
                <a:solidFill>
                  <a:srgbClr val="343431"/>
                </a:solidFill>
                <a:latin typeface="Roboto Bk"/>
                <a:cs typeface="Roboto Bk"/>
              </a:rPr>
              <a:t>and</a:t>
            </a:r>
            <a:r>
              <a:rPr sz="1850" b="1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0" dirty="0">
                <a:solidFill>
                  <a:srgbClr val="343431"/>
                </a:solidFill>
                <a:latin typeface="Roboto Bk"/>
                <a:cs typeface="Roboto Bk"/>
              </a:rPr>
              <a:t>tooling</a:t>
            </a:r>
            <a:endParaRPr sz="1850">
              <a:latin typeface="Roboto Bk"/>
              <a:cs typeface="Roboto B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893300" y="5923996"/>
            <a:ext cx="4878070" cy="288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spc="-120" dirty="0">
                <a:solidFill>
                  <a:srgbClr val="7B837D"/>
                </a:solidFill>
                <a:latin typeface="Roboto Bk"/>
                <a:cs typeface="Roboto Bk"/>
              </a:rPr>
              <a:t>Minimal</a:t>
            </a:r>
            <a:r>
              <a:rPr sz="1700" b="1" spc="-10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130" dirty="0">
                <a:solidFill>
                  <a:srgbClr val="7B837D"/>
                </a:solidFill>
                <a:latin typeface="Roboto Bk"/>
                <a:cs typeface="Roboto Bk"/>
              </a:rPr>
              <a:t>CAPEX:</a:t>
            </a:r>
            <a:r>
              <a:rPr sz="1700" b="1" spc="-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110" dirty="0">
                <a:solidFill>
                  <a:srgbClr val="7B837D"/>
                </a:solidFill>
                <a:latin typeface="Roboto Bk"/>
                <a:cs typeface="Roboto Bk"/>
              </a:rPr>
              <a:t>no</a:t>
            </a:r>
            <a:r>
              <a:rPr sz="1700" b="1" spc="-10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105" dirty="0">
                <a:solidFill>
                  <a:srgbClr val="7B837D"/>
                </a:solidFill>
                <a:latin typeface="Roboto Bk"/>
                <a:cs typeface="Roboto Bk"/>
              </a:rPr>
              <a:t>hardware,</a:t>
            </a:r>
            <a:r>
              <a:rPr sz="1700" b="1" spc="-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110" dirty="0">
                <a:solidFill>
                  <a:srgbClr val="7B837D"/>
                </a:solidFill>
                <a:latin typeface="Roboto Bk"/>
                <a:cs typeface="Roboto Bk"/>
              </a:rPr>
              <a:t>no</a:t>
            </a:r>
            <a:r>
              <a:rPr sz="1700" b="1" spc="-10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125" dirty="0">
                <a:solidFill>
                  <a:srgbClr val="7B837D"/>
                </a:solidFill>
                <a:latin typeface="Roboto Bk"/>
                <a:cs typeface="Roboto Bk"/>
              </a:rPr>
              <a:t>inventory,</a:t>
            </a:r>
            <a:r>
              <a:rPr sz="1700" b="1" spc="-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110" dirty="0">
                <a:solidFill>
                  <a:srgbClr val="7B837D"/>
                </a:solidFill>
                <a:latin typeface="Roboto Bk"/>
                <a:cs typeface="Roboto Bk"/>
              </a:rPr>
              <a:t>no</a:t>
            </a:r>
            <a:r>
              <a:rPr sz="1700" b="1" spc="-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70" dirty="0">
                <a:solidFill>
                  <a:srgbClr val="7B837D"/>
                </a:solidFill>
                <a:latin typeface="Roboto Bk"/>
                <a:cs typeface="Roboto Bk"/>
              </a:rPr>
              <a:t>premises.</a:t>
            </a:r>
            <a:endParaRPr sz="1700">
              <a:latin typeface="Roboto Bk"/>
              <a:cs typeface="Roboto Bk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810925" y="8953500"/>
            <a:ext cx="876299" cy="876299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89"/>
              </a:lnSpc>
            </a:pPr>
            <a:r>
              <a:rPr spc="-145" dirty="0"/>
              <a:t>FLUSAI</a:t>
            </a:r>
            <a:r>
              <a:rPr dirty="0"/>
              <a:t> </a:t>
            </a:r>
            <a:r>
              <a:rPr spc="-120" dirty="0"/>
              <a:t>·</a:t>
            </a:r>
            <a:r>
              <a:rPr spc="-5" dirty="0"/>
              <a:t> </a:t>
            </a:r>
            <a:r>
              <a:rPr spc="-120" dirty="0"/>
              <a:t>NIC</a:t>
            </a:r>
            <a:r>
              <a:rPr spc="-5" dirty="0"/>
              <a:t> </a:t>
            </a:r>
            <a:r>
              <a:rPr spc="-135" dirty="0"/>
              <a:t>KARACHI</a:t>
            </a:r>
            <a:r>
              <a:rPr spc="5" dirty="0"/>
              <a:t> </a:t>
            </a:r>
            <a:r>
              <a:rPr spc="-95" dirty="0"/>
              <a:t>2026</a:t>
            </a:r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49350" y="925809"/>
            <a:ext cx="217487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310" dirty="0"/>
              <a:t> </a:t>
            </a:r>
            <a:r>
              <a:rPr spc="-25" dirty="0"/>
              <a:t>ask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19150" y="1927844"/>
            <a:ext cx="8305800" cy="5318125"/>
            <a:chOff x="819150" y="1927844"/>
            <a:chExt cx="8305800" cy="5318125"/>
          </a:xfrm>
        </p:grpSpPr>
        <p:sp>
          <p:nvSpPr>
            <p:cNvPr id="4" name="object 4"/>
            <p:cNvSpPr/>
            <p:nvPr/>
          </p:nvSpPr>
          <p:spPr>
            <a:xfrm>
              <a:off x="1142999" y="1927844"/>
              <a:ext cx="876300" cy="85725"/>
            </a:xfrm>
            <a:custGeom>
              <a:avLst/>
              <a:gdLst/>
              <a:ahLst/>
              <a:cxnLst/>
              <a:rect l="l" t="t" r="r" b="b"/>
              <a:pathLst>
                <a:path w="876300" h="85725">
                  <a:moveTo>
                    <a:pt x="876299" y="85724"/>
                  </a:moveTo>
                  <a:lnTo>
                    <a:pt x="0" y="85724"/>
                  </a:lnTo>
                  <a:lnTo>
                    <a:pt x="0" y="0"/>
                  </a:lnTo>
                  <a:lnTo>
                    <a:pt x="876299" y="0"/>
                  </a:lnTo>
                  <a:lnTo>
                    <a:pt x="876299" y="85724"/>
                  </a:lnTo>
                  <a:close/>
                </a:path>
              </a:pathLst>
            </a:custGeom>
            <a:solidFill>
              <a:srgbClr val="E1E3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150" y="2432669"/>
              <a:ext cx="8305800" cy="481295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42999" y="2623169"/>
              <a:ext cx="7658100" cy="4165600"/>
            </a:xfrm>
            <a:custGeom>
              <a:avLst/>
              <a:gdLst/>
              <a:ahLst/>
              <a:cxnLst/>
              <a:rect l="l" t="t" r="r" b="b"/>
              <a:pathLst>
                <a:path w="7658100" h="4165600">
                  <a:moveTo>
                    <a:pt x="7429510" y="4165252"/>
                  </a:moveTo>
                  <a:lnTo>
                    <a:pt x="228589" y="4165252"/>
                  </a:lnTo>
                  <a:lnTo>
                    <a:pt x="182520" y="4160608"/>
                  </a:lnTo>
                  <a:lnTo>
                    <a:pt x="139611" y="4147288"/>
                  </a:lnTo>
                  <a:lnTo>
                    <a:pt x="100782" y="4126213"/>
                  </a:lnTo>
                  <a:lnTo>
                    <a:pt x="66952" y="4098300"/>
                  </a:lnTo>
                  <a:lnTo>
                    <a:pt x="39039" y="4064470"/>
                  </a:lnTo>
                  <a:lnTo>
                    <a:pt x="17963" y="4025640"/>
                  </a:lnTo>
                  <a:lnTo>
                    <a:pt x="4644" y="3982732"/>
                  </a:lnTo>
                  <a:lnTo>
                    <a:pt x="0" y="3936663"/>
                  </a:lnTo>
                  <a:lnTo>
                    <a:pt x="0" y="228589"/>
                  </a:lnTo>
                  <a:lnTo>
                    <a:pt x="4644" y="182520"/>
                  </a:lnTo>
                  <a:lnTo>
                    <a:pt x="17963" y="139612"/>
                  </a:lnTo>
                  <a:lnTo>
                    <a:pt x="39039" y="100782"/>
                  </a:lnTo>
                  <a:lnTo>
                    <a:pt x="66952" y="66952"/>
                  </a:lnTo>
                  <a:lnTo>
                    <a:pt x="100782" y="39039"/>
                  </a:lnTo>
                  <a:lnTo>
                    <a:pt x="139611" y="17963"/>
                  </a:lnTo>
                  <a:lnTo>
                    <a:pt x="182520" y="4644"/>
                  </a:lnTo>
                  <a:lnTo>
                    <a:pt x="228589" y="0"/>
                  </a:lnTo>
                  <a:lnTo>
                    <a:pt x="7429510" y="0"/>
                  </a:lnTo>
                  <a:lnTo>
                    <a:pt x="7474314" y="4432"/>
                  </a:lnTo>
                  <a:lnTo>
                    <a:pt x="7516988" y="17400"/>
                  </a:lnTo>
                  <a:lnTo>
                    <a:pt x="7556332" y="38405"/>
                  </a:lnTo>
                  <a:lnTo>
                    <a:pt x="7591147" y="66952"/>
                  </a:lnTo>
                  <a:lnTo>
                    <a:pt x="7619694" y="101767"/>
                  </a:lnTo>
                  <a:lnTo>
                    <a:pt x="7640699" y="141111"/>
                  </a:lnTo>
                  <a:lnTo>
                    <a:pt x="7653667" y="183785"/>
                  </a:lnTo>
                  <a:lnTo>
                    <a:pt x="7658099" y="228589"/>
                  </a:lnTo>
                  <a:lnTo>
                    <a:pt x="7658099" y="3936663"/>
                  </a:lnTo>
                  <a:lnTo>
                    <a:pt x="7653455" y="3982732"/>
                  </a:lnTo>
                  <a:lnTo>
                    <a:pt x="7640136" y="4025640"/>
                  </a:lnTo>
                  <a:lnTo>
                    <a:pt x="7619060" y="4064470"/>
                  </a:lnTo>
                  <a:lnTo>
                    <a:pt x="7591147" y="4098300"/>
                  </a:lnTo>
                  <a:lnTo>
                    <a:pt x="7557317" y="4126213"/>
                  </a:lnTo>
                  <a:lnTo>
                    <a:pt x="7518488" y="4147288"/>
                  </a:lnTo>
                  <a:lnTo>
                    <a:pt x="7475579" y="4160608"/>
                  </a:lnTo>
                  <a:lnTo>
                    <a:pt x="7429510" y="41652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382712" y="3023230"/>
            <a:ext cx="5415280" cy="2093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9070">
              <a:lnSpc>
                <a:spcPct val="100000"/>
              </a:lnSpc>
              <a:spcBef>
                <a:spcPts val="100"/>
              </a:spcBef>
            </a:pPr>
            <a:r>
              <a:rPr sz="2550" b="1" spc="-20" dirty="0">
                <a:solidFill>
                  <a:srgbClr val="123D33"/>
                </a:solidFill>
                <a:latin typeface="Tahoma"/>
                <a:cs typeface="Tahoma"/>
              </a:rPr>
              <a:t>Use</a:t>
            </a:r>
            <a:r>
              <a:rPr sz="2550" b="1" spc="-100" dirty="0">
                <a:solidFill>
                  <a:srgbClr val="123D33"/>
                </a:solidFill>
                <a:latin typeface="Tahoma"/>
                <a:cs typeface="Tahoma"/>
              </a:rPr>
              <a:t> </a:t>
            </a:r>
            <a:r>
              <a:rPr sz="2550" b="1" spc="75" dirty="0">
                <a:solidFill>
                  <a:srgbClr val="123D33"/>
                </a:solidFill>
                <a:latin typeface="Tahoma"/>
                <a:cs typeface="Tahoma"/>
              </a:rPr>
              <a:t>of</a:t>
            </a:r>
            <a:r>
              <a:rPr sz="2550" b="1" spc="-100" dirty="0">
                <a:solidFill>
                  <a:srgbClr val="123D33"/>
                </a:solidFill>
                <a:latin typeface="Tahoma"/>
                <a:cs typeface="Tahoma"/>
              </a:rPr>
              <a:t> </a:t>
            </a:r>
            <a:r>
              <a:rPr sz="2550" b="1" spc="-10" dirty="0">
                <a:solidFill>
                  <a:srgbClr val="123D33"/>
                </a:solidFill>
                <a:latin typeface="Tahoma"/>
                <a:cs typeface="Tahoma"/>
              </a:rPr>
              <a:t>funds</a:t>
            </a:r>
            <a:endParaRPr sz="2550">
              <a:latin typeface="Tahoma"/>
              <a:cs typeface="Tahoma"/>
            </a:endParaRPr>
          </a:p>
          <a:p>
            <a:pPr marL="12700" marR="700405">
              <a:lnSpc>
                <a:spcPct val="122300"/>
              </a:lnSpc>
              <a:spcBef>
                <a:spcPts val="2355"/>
              </a:spcBef>
            </a:pPr>
            <a:r>
              <a:rPr sz="1850" b="1" spc="-140" dirty="0">
                <a:solidFill>
                  <a:srgbClr val="343431"/>
                </a:solidFill>
                <a:latin typeface="Roboto Bk"/>
                <a:cs typeface="Roboto Bk"/>
              </a:rPr>
              <a:t>Sign</a:t>
            </a:r>
            <a:r>
              <a:rPr sz="1850" b="1" spc="-1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25" dirty="0">
                <a:solidFill>
                  <a:srgbClr val="343431"/>
                </a:solidFill>
                <a:latin typeface="Roboto Bk"/>
                <a:cs typeface="Roboto Bk"/>
              </a:rPr>
              <a:t>and</a:t>
            </a:r>
            <a:r>
              <a:rPr sz="185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20" dirty="0">
                <a:solidFill>
                  <a:srgbClr val="343431"/>
                </a:solidFill>
                <a:latin typeface="Roboto Bk"/>
                <a:cs typeface="Roboto Bk"/>
              </a:rPr>
              <a:t>verify</a:t>
            </a:r>
            <a:r>
              <a:rPr sz="185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14" dirty="0">
                <a:solidFill>
                  <a:srgbClr val="343431"/>
                </a:solidFill>
                <a:latin typeface="Roboto Bk"/>
                <a:cs typeface="Roboto Bk"/>
              </a:rPr>
              <a:t>the</a:t>
            </a:r>
            <a:r>
              <a:rPr sz="185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50" dirty="0">
                <a:solidFill>
                  <a:srgbClr val="343431"/>
                </a:solidFill>
                <a:latin typeface="Roboto Bk"/>
                <a:cs typeface="Roboto Bk"/>
              </a:rPr>
              <a:t>ﬁrst</a:t>
            </a:r>
            <a:r>
              <a:rPr sz="1850" b="1" spc="-1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60" dirty="0">
                <a:solidFill>
                  <a:srgbClr val="343431"/>
                </a:solidFill>
                <a:latin typeface="Roboto Bk"/>
                <a:cs typeface="Roboto Bk"/>
              </a:rPr>
              <a:t>50</a:t>
            </a:r>
            <a:r>
              <a:rPr sz="185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20" dirty="0">
                <a:solidFill>
                  <a:srgbClr val="343431"/>
                </a:solidFill>
                <a:latin typeface="Roboto Bk"/>
                <a:cs typeface="Roboto Bk"/>
              </a:rPr>
              <a:t>merchants</a:t>
            </a:r>
            <a:r>
              <a:rPr sz="185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14" dirty="0">
                <a:solidFill>
                  <a:srgbClr val="343431"/>
                </a:solidFill>
                <a:latin typeface="Roboto Bk"/>
                <a:cs typeface="Roboto Bk"/>
              </a:rPr>
              <a:t>in</a:t>
            </a:r>
            <a:r>
              <a:rPr sz="185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0" dirty="0">
                <a:solidFill>
                  <a:srgbClr val="343431"/>
                </a:solidFill>
                <a:latin typeface="Roboto Bk"/>
                <a:cs typeface="Roboto Bk"/>
              </a:rPr>
              <a:t>Karachi </a:t>
            </a:r>
            <a:r>
              <a:rPr sz="1850" b="1" spc="-110" dirty="0">
                <a:solidFill>
                  <a:srgbClr val="343431"/>
                </a:solidFill>
                <a:latin typeface="Roboto Bk"/>
                <a:cs typeface="Roboto Bk"/>
              </a:rPr>
              <a:t>Acquire</a:t>
            </a:r>
            <a:r>
              <a:rPr sz="185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14" dirty="0">
                <a:solidFill>
                  <a:srgbClr val="343431"/>
                </a:solidFill>
                <a:latin typeface="Roboto Bk"/>
                <a:cs typeface="Roboto Bk"/>
              </a:rPr>
              <a:t>the</a:t>
            </a:r>
            <a:r>
              <a:rPr sz="185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50" dirty="0">
                <a:solidFill>
                  <a:srgbClr val="343431"/>
                </a:solidFill>
                <a:latin typeface="Roboto Bk"/>
                <a:cs typeface="Roboto Bk"/>
              </a:rPr>
              <a:t>ﬁrst</a:t>
            </a:r>
            <a:r>
              <a:rPr sz="185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10" dirty="0">
                <a:solidFill>
                  <a:srgbClr val="343431"/>
                </a:solidFill>
                <a:latin typeface="Roboto Bk"/>
                <a:cs typeface="Roboto Bk"/>
              </a:rPr>
              <a:t>user</a:t>
            </a:r>
            <a:r>
              <a:rPr sz="185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05" dirty="0">
                <a:solidFill>
                  <a:srgbClr val="343431"/>
                </a:solidFill>
                <a:latin typeface="Roboto Bk"/>
                <a:cs typeface="Roboto Bk"/>
              </a:rPr>
              <a:t>cohort</a:t>
            </a:r>
            <a:r>
              <a:rPr sz="185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14" dirty="0">
                <a:solidFill>
                  <a:srgbClr val="343431"/>
                </a:solidFill>
                <a:latin typeface="Roboto Bk"/>
                <a:cs typeface="Roboto Bk"/>
              </a:rPr>
              <a:t>in</a:t>
            </a:r>
            <a:r>
              <a:rPr sz="185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14" dirty="0">
                <a:solidFill>
                  <a:srgbClr val="343431"/>
                </a:solidFill>
                <a:latin typeface="Roboto Bk"/>
                <a:cs typeface="Roboto Bk"/>
              </a:rPr>
              <a:t>the</a:t>
            </a:r>
            <a:r>
              <a:rPr sz="185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25" dirty="0">
                <a:solidFill>
                  <a:srgbClr val="343431"/>
                </a:solidFill>
                <a:latin typeface="Roboto Bk"/>
                <a:cs typeface="Roboto Bk"/>
              </a:rPr>
              <a:t>dining</a:t>
            </a:r>
            <a:r>
              <a:rPr sz="185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80" dirty="0">
                <a:solidFill>
                  <a:srgbClr val="343431"/>
                </a:solidFill>
                <a:latin typeface="Roboto Bk"/>
                <a:cs typeface="Roboto Bk"/>
              </a:rPr>
              <a:t>category</a:t>
            </a:r>
            <a:endParaRPr sz="1850">
              <a:latin typeface="Roboto Bk"/>
              <a:cs typeface="Roboto Bk"/>
            </a:endParaRPr>
          </a:p>
          <a:p>
            <a:pPr marL="12700" marR="5080">
              <a:lnSpc>
                <a:spcPct val="122300"/>
              </a:lnSpc>
            </a:pPr>
            <a:r>
              <a:rPr sz="1850" b="1" spc="-140" dirty="0">
                <a:solidFill>
                  <a:srgbClr val="343431"/>
                </a:solidFill>
                <a:latin typeface="Roboto Bk"/>
                <a:cs typeface="Roboto Bk"/>
              </a:rPr>
              <a:t>Backend,</a:t>
            </a:r>
            <a:r>
              <a:rPr sz="1850" b="1" spc="2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20" dirty="0">
                <a:solidFill>
                  <a:srgbClr val="343431"/>
                </a:solidFill>
                <a:latin typeface="Roboto Bk"/>
                <a:cs typeface="Roboto Bk"/>
              </a:rPr>
              <a:t>savings</a:t>
            </a:r>
            <a:r>
              <a:rPr sz="1850" b="1" spc="2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40" dirty="0">
                <a:solidFill>
                  <a:srgbClr val="343431"/>
                </a:solidFill>
                <a:latin typeface="Roboto Bk"/>
                <a:cs typeface="Roboto Bk"/>
              </a:rPr>
              <a:t>conﬁrmation</a:t>
            </a:r>
            <a:r>
              <a:rPr sz="1850" b="1" spc="2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25" dirty="0">
                <a:solidFill>
                  <a:srgbClr val="343431"/>
                </a:solidFill>
                <a:latin typeface="Roboto Bk"/>
                <a:cs typeface="Roboto Bk"/>
              </a:rPr>
              <a:t>and</a:t>
            </a:r>
            <a:r>
              <a:rPr sz="1850" b="1" spc="2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14" dirty="0">
                <a:solidFill>
                  <a:srgbClr val="343431"/>
                </a:solidFill>
                <a:latin typeface="Roboto Bk"/>
                <a:cs typeface="Roboto Bk"/>
              </a:rPr>
              <a:t>the</a:t>
            </a:r>
            <a:r>
              <a:rPr sz="1850" b="1" spc="2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10" dirty="0">
                <a:solidFill>
                  <a:srgbClr val="343431"/>
                </a:solidFill>
                <a:latin typeface="Roboto Bk"/>
                <a:cs typeface="Roboto Bk"/>
              </a:rPr>
              <a:t>offer-</a:t>
            </a:r>
            <a:r>
              <a:rPr sz="1850" b="1" spc="-135" dirty="0">
                <a:solidFill>
                  <a:srgbClr val="343431"/>
                </a:solidFill>
                <a:latin typeface="Roboto Bk"/>
                <a:cs typeface="Roboto Bk"/>
              </a:rPr>
              <a:t>data</a:t>
            </a:r>
            <a:r>
              <a:rPr sz="1850" b="1" spc="2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75" dirty="0">
                <a:solidFill>
                  <a:srgbClr val="343431"/>
                </a:solidFill>
                <a:latin typeface="Roboto Bk"/>
                <a:cs typeface="Roboto Bk"/>
              </a:rPr>
              <a:t>pipeline </a:t>
            </a:r>
            <a:r>
              <a:rPr sz="1850" b="1" spc="-125" dirty="0">
                <a:solidFill>
                  <a:srgbClr val="343431"/>
                </a:solidFill>
                <a:latin typeface="Roboto Bk"/>
                <a:cs typeface="Roboto Bk"/>
              </a:rPr>
              <a:t>Founder</a:t>
            </a:r>
            <a:r>
              <a:rPr sz="185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10" dirty="0">
                <a:solidFill>
                  <a:srgbClr val="343431"/>
                </a:solidFill>
                <a:latin typeface="Roboto Bk"/>
                <a:cs typeface="Roboto Bk"/>
              </a:rPr>
              <a:t>costs</a:t>
            </a:r>
            <a:r>
              <a:rPr sz="185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30" dirty="0">
                <a:solidFill>
                  <a:srgbClr val="343431"/>
                </a:solidFill>
                <a:latin typeface="Roboto Bk"/>
                <a:cs typeface="Roboto Bk"/>
              </a:rPr>
              <a:t>through</a:t>
            </a:r>
            <a:r>
              <a:rPr sz="1850" b="1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14" dirty="0">
                <a:solidFill>
                  <a:srgbClr val="343431"/>
                </a:solidFill>
                <a:latin typeface="Roboto Bk"/>
                <a:cs typeface="Roboto Bk"/>
              </a:rPr>
              <a:t>to</a:t>
            </a:r>
            <a:r>
              <a:rPr sz="185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50" dirty="0">
                <a:solidFill>
                  <a:srgbClr val="343431"/>
                </a:solidFill>
                <a:latin typeface="Roboto Bk"/>
                <a:cs typeface="Roboto Bk"/>
              </a:rPr>
              <a:t>ﬁrst</a:t>
            </a:r>
            <a:r>
              <a:rPr sz="1850" b="1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0" dirty="0">
                <a:solidFill>
                  <a:srgbClr val="343431"/>
                </a:solidFill>
                <a:latin typeface="Roboto Bk"/>
                <a:cs typeface="Roboto Bk"/>
              </a:rPr>
              <a:t>revenue</a:t>
            </a:r>
            <a:endParaRPr sz="1850">
              <a:latin typeface="Roboto Bk"/>
              <a:cs typeface="Roboto B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49400" y="5923996"/>
            <a:ext cx="4495800" cy="288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spc="-90" dirty="0">
                <a:solidFill>
                  <a:srgbClr val="7B837D"/>
                </a:solidFill>
                <a:latin typeface="Roboto Bk"/>
                <a:cs typeface="Roboto Bk"/>
              </a:rPr>
              <a:t>The</a:t>
            </a:r>
            <a:r>
              <a:rPr sz="1700" b="1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140" dirty="0">
                <a:solidFill>
                  <a:srgbClr val="7B837D"/>
                </a:solidFill>
                <a:latin typeface="Roboto Bk"/>
                <a:cs typeface="Roboto Bk"/>
              </a:rPr>
              <a:t>ﬁgure</a:t>
            </a:r>
            <a:r>
              <a:rPr sz="1700" b="1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90" dirty="0">
                <a:solidFill>
                  <a:srgbClr val="7B837D"/>
                </a:solidFill>
                <a:latin typeface="Roboto Bk"/>
                <a:cs typeface="Roboto Bk"/>
              </a:rPr>
              <a:t>is</a:t>
            </a:r>
            <a:r>
              <a:rPr sz="1700" b="1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105" dirty="0">
                <a:solidFill>
                  <a:srgbClr val="7B837D"/>
                </a:solidFill>
                <a:latin typeface="Roboto Bk"/>
                <a:cs typeface="Roboto Bk"/>
              </a:rPr>
              <a:t>being</a:t>
            </a:r>
            <a:r>
              <a:rPr sz="1700" b="1" spc="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110" dirty="0">
                <a:solidFill>
                  <a:srgbClr val="7B837D"/>
                </a:solidFill>
                <a:latin typeface="Roboto Bk"/>
                <a:cs typeface="Roboto Bk"/>
              </a:rPr>
              <a:t>sized</a:t>
            </a:r>
            <a:r>
              <a:rPr sz="1700" b="1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100" dirty="0">
                <a:solidFill>
                  <a:srgbClr val="7B837D"/>
                </a:solidFill>
                <a:latin typeface="Roboto Bk"/>
                <a:cs typeface="Roboto Bk"/>
              </a:rPr>
              <a:t>against</a:t>
            </a:r>
            <a:r>
              <a:rPr sz="1700" b="1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150" dirty="0">
                <a:solidFill>
                  <a:srgbClr val="7B837D"/>
                </a:solidFill>
                <a:latin typeface="Roboto Bk"/>
                <a:cs typeface="Roboto Bk"/>
              </a:rPr>
              <a:t>18</a:t>
            </a:r>
            <a:r>
              <a:rPr sz="1700" b="1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125" dirty="0">
                <a:solidFill>
                  <a:srgbClr val="7B837D"/>
                </a:solidFill>
                <a:latin typeface="Roboto Bk"/>
                <a:cs typeface="Roboto Bk"/>
              </a:rPr>
              <a:t>months</a:t>
            </a:r>
            <a:r>
              <a:rPr sz="1700" b="1" spc="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90" dirty="0">
                <a:solidFill>
                  <a:srgbClr val="7B837D"/>
                </a:solidFill>
                <a:latin typeface="Roboto Bk"/>
                <a:cs typeface="Roboto Bk"/>
              </a:rPr>
              <a:t>of</a:t>
            </a:r>
            <a:r>
              <a:rPr sz="1700" b="1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45" dirty="0">
                <a:solidFill>
                  <a:srgbClr val="7B837D"/>
                </a:solidFill>
                <a:latin typeface="Roboto Bk"/>
                <a:cs typeface="Roboto Bk"/>
              </a:rPr>
              <a:t>burn.</a:t>
            </a:r>
            <a:endParaRPr sz="1700">
              <a:latin typeface="Roboto Bk"/>
              <a:cs typeface="Roboto Bk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9163050" y="2432669"/>
            <a:ext cx="8305800" cy="4813300"/>
            <a:chOff x="9163050" y="2432669"/>
            <a:chExt cx="8305800" cy="481330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63050" y="2432669"/>
              <a:ext cx="8305800" cy="481295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486899" y="2623169"/>
              <a:ext cx="7658100" cy="4165600"/>
            </a:xfrm>
            <a:custGeom>
              <a:avLst/>
              <a:gdLst/>
              <a:ahLst/>
              <a:cxnLst/>
              <a:rect l="l" t="t" r="r" b="b"/>
              <a:pathLst>
                <a:path w="7658100" h="4165600">
                  <a:moveTo>
                    <a:pt x="7429510" y="4165252"/>
                  </a:moveTo>
                  <a:lnTo>
                    <a:pt x="228588" y="4165252"/>
                  </a:lnTo>
                  <a:lnTo>
                    <a:pt x="182520" y="4160608"/>
                  </a:lnTo>
                  <a:lnTo>
                    <a:pt x="139611" y="4147288"/>
                  </a:lnTo>
                  <a:lnTo>
                    <a:pt x="100782" y="4126213"/>
                  </a:lnTo>
                  <a:lnTo>
                    <a:pt x="66952" y="4098300"/>
                  </a:lnTo>
                  <a:lnTo>
                    <a:pt x="39039" y="4064470"/>
                  </a:lnTo>
                  <a:lnTo>
                    <a:pt x="17963" y="4025640"/>
                  </a:lnTo>
                  <a:lnTo>
                    <a:pt x="4644" y="3982732"/>
                  </a:lnTo>
                  <a:lnTo>
                    <a:pt x="0" y="3936663"/>
                  </a:lnTo>
                  <a:lnTo>
                    <a:pt x="0" y="228589"/>
                  </a:lnTo>
                  <a:lnTo>
                    <a:pt x="4644" y="182520"/>
                  </a:lnTo>
                  <a:lnTo>
                    <a:pt x="17963" y="139612"/>
                  </a:lnTo>
                  <a:lnTo>
                    <a:pt x="39039" y="100782"/>
                  </a:lnTo>
                  <a:lnTo>
                    <a:pt x="66952" y="66952"/>
                  </a:lnTo>
                  <a:lnTo>
                    <a:pt x="100782" y="39039"/>
                  </a:lnTo>
                  <a:lnTo>
                    <a:pt x="139611" y="17963"/>
                  </a:lnTo>
                  <a:lnTo>
                    <a:pt x="182520" y="4644"/>
                  </a:lnTo>
                  <a:lnTo>
                    <a:pt x="228588" y="0"/>
                  </a:lnTo>
                  <a:lnTo>
                    <a:pt x="7429510" y="0"/>
                  </a:lnTo>
                  <a:lnTo>
                    <a:pt x="7474314" y="4432"/>
                  </a:lnTo>
                  <a:lnTo>
                    <a:pt x="7516988" y="17400"/>
                  </a:lnTo>
                  <a:lnTo>
                    <a:pt x="7556332" y="38405"/>
                  </a:lnTo>
                  <a:lnTo>
                    <a:pt x="7591148" y="66952"/>
                  </a:lnTo>
                  <a:lnTo>
                    <a:pt x="7619695" y="101767"/>
                  </a:lnTo>
                  <a:lnTo>
                    <a:pt x="7640700" y="141111"/>
                  </a:lnTo>
                  <a:lnTo>
                    <a:pt x="7653667" y="183785"/>
                  </a:lnTo>
                  <a:lnTo>
                    <a:pt x="7658099" y="228589"/>
                  </a:lnTo>
                  <a:lnTo>
                    <a:pt x="7658099" y="3936663"/>
                  </a:lnTo>
                  <a:lnTo>
                    <a:pt x="7653455" y="3982732"/>
                  </a:lnTo>
                  <a:lnTo>
                    <a:pt x="7640136" y="4025640"/>
                  </a:lnTo>
                  <a:lnTo>
                    <a:pt x="7619060" y="4064470"/>
                  </a:lnTo>
                  <a:lnTo>
                    <a:pt x="7591147" y="4098300"/>
                  </a:lnTo>
                  <a:lnTo>
                    <a:pt x="7557317" y="4126213"/>
                  </a:lnTo>
                  <a:lnTo>
                    <a:pt x="7518488" y="4147288"/>
                  </a:lnTo>
                  <a:lnTo>
                    <a:pt x="7475579" y="4160608"/>
                  </a:lnTo>
                  <a:lnTo>
                    <a:pt x="7429510" y="41652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726613" y="3023230"/>
            <a:ext cx="6845934" cy="3337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9070">
              <a:lnSpc>
                <a:spcPct val="100000"/>
              </a:lnSpc>
              <a:spcBef>
                <a:spcPts val="100"/>
              </a:spcBef>
            </a:pPr>
            <a:r>
              <a:rPr sz="2550" b="1" spc="-25" dirty="0">
                <a:solidFill>
                  <a:srgbClr val="123D33"/>
                </a:solidFill>
                <a:latin typeface="Tahoma"/>
                <a:cs typeface="Tahoma"/>
              </a:rPr>
              <a:t>Beyond</a:t>
            </a:r>
            <a:r>
              <a:rPr sz="2550" b="1" spc="-130" dirty="0">
                <a:solidFill>
                  <a:srgbClr val="123D33"/>
                </a:solidFill>
                <a:latin typeface="Tahoma"/>
                <a:cs typeface="Tahoma"/>
              </a:rPr>
              <a:t> </a:t>
            </a:r>
            <a:r>
              <a:rPr sz="2550" b="1" spc="-10" dirty="0">
                <a:solidFill>
                  <a:srgbClr val="123D33"/>
                </a:solidFill>
                <a:latin typeface="Tahoma"/>
                <a:cs typeface="Tahoma"/>
              </a:rPr>
              <a:t>capital</a:t>
            </a:r>
            <a:endParaRPr sz="2550">
              <a:latin typeface="Tahoma"/>
              <a:cs typeface="Tahoma"/>
            </a:endParaRPr>
          </a:p>
          <a:p>
            <a:pPr marL="12700" marR="3839210">
              <a:lnSpc>
                <a:spcPct val="122300"/>
              </a:lnSpc>
              <a:spcBef>
                <a:spcPts val="2355"/>
              </a:spcBef>
            </a:pPr>
            <a:r>
              <a:rPr sz="1850" b="1" spc="-130" dirty="0">
                <a:solidFill>
                  <a:srgbClr val="343431"/>
                </a:solidFill>
                <a:latin typeface="Roboto Bk"/>
                <a:cs typeface="Roboto Bk"/>
              </a:rPr>
              <a:t>Merchant</a:t>
            </a:r>
            <a:r>
              <a:rPr sz="1850" b="1" spc="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25" dirty="0">
                <a:solidFill>
                  <a:srgbClr val="343431"/>
                </a:solidFill>
                <a:latin typeface="Roboto Bk"/>
                <a:cs typeface="Roboto Bk"/>
              </a:rPr>
              <a:t>network</a:t>
            </a:r>
            <a:r>
              <a:rPr sz="1850" b="1" spc="10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00" dirty="0">
                <a:solidFill>
                  <a:srgbClr val="343431"/>
                </a:solidFill>
                <a:latin typeface="Roboto Bk"/>
                <a:cs typeface="Roboto Bk"/>
              </a:rPr>
              <a:t>introductions </a:t>
            </a:r>
            <a:r>
              <a:rPr sz="1850" b="1" spc="-150" dirty="0">
                <a:solidFill>
                  <a:srgbClr val="343431"/>
                </a:solidFill>
                <a:latin typeface="Roboto Bk"/>
                <a:cs typeface="Roboto Bk"/>
              </a:rPr>
              <a:t>Bank</a:t>
            </a:r>
            <a:r>
              <a:rPr sz="185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25" dirty="0">
                <a:solidFill>
                  <a:srgbClr val="343431"/>
                </a:solidFill>
                <a:latin typeface="Roboto Bk"/>
                <a:cs typeface="Roboto Bk"/>
              </a:rPr>
              <a:t>and</a:t>
            </a:r>
            <a:r>
              <a:rPr sz="1850" b="1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45" dirty="0">
                <a:solidFill>
                  <a:srgbClr val="343431"/>
                </a:solidFill>
                <a:latin typeface="Roboto Bk"/>
                <a:cs typeface="Roboto Bk"/>
              </a:rPr>
              <a:t>ﬁntech</a:t>
            </a:r>
            <a:r>
              <a:rPr sz="185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0" dirty="0">
                <a:solidFill>
                  <a:srgbClr val="343431"/>
                </a:solidFill>
                <a:latin typeface="Roboto Bk"/>
                <a:cs typeface="Roboto Bk"/>
              </a:rPr>
              <a:t>access</a:t>
            </a:r>
            <a:endParaRPr sz="1850">
              <a:latin typeface="Roboto Bk"/>
              <a:cs typeface="Roboto Bk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850" b="1" spc="-120" dirty="0">
                <a:solidFill>
                  <a:srgbClr val="343431"/>
                </a:solidFill>
                <a:latin typeface="Roboto Bk"/>
                <a:cs typeface="Roboto Bk"/>
              </a:rPr>
              <a:t>Mentorship</a:t>
            </a:r>
            <a:r>
              <a:rPr sz="185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20" dirty="0">
                <a:solidFill>
                  <a:srgbClr val="343431"/>
                </a:solidFill>
                <a:latin typeface="Roboto Bk"/>
                <a:cs typeface="Roboto Bk"/>
              </a:rPr>
              <a:t>on</a:t>
            </a:r>
            <a:r>
              <a:rPr sz="185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10" dirty="0">
                <a:solidFill>
                  <a:srgbClr val="343431"/>
                </a:solidFill>
                <a:latin typeface="Roboto Bk"/>
                <a:cs typeface="Roboto Bk"/>
              </a:rPr>
              <a:t>partnership</a:t>
            </a:r>
            <a:r>
              <a:rPr sz="185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14" dirty="0">
                <a:solidFill>
                  <a:srgbClr val="343431"/>
                </a:solidFill>
                <a:latin typeface="Roboto Bk"/>
                <a:cs typeface="Roboto Bk"/>
              </a:rPr>
              <a:t>structuring</a:t>
            </a:r>
            <a:r>
              <a:rPr sz="185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25" dirty="0">
                <a:solidFill>
                  <a:srgbClr val="343431"/>
                </a:solidFill>
                <a:latin typeface="Roboto Bk"/>
                <a:cs typeface="Roboto Bk"/>
              </a:rPr>
              <a:t>and</a:t>
            </a:r>
            <a:r>
              <a:rPr sz="1850" b="1" spc="-5" dirty="0">
                <a:solidFill>
                  <a:srgbClr val="343431"/>
                </a:solidFill>
                <a:latin typeface="Roboto Bk"/>
                <a:cs typeface="Roboto Bk"/>
              </a:rPr>
              <a:t> </a:t>
            </a:r>
            <a:r>
              <a:rPr sz="1850" b="1" spc="-10" dirty="0">
                <a:solidFill>
                  <a:srgbClr val="343431"/>
                </a:solidFill>
                <a:latin typeface="Roboto Bk"/>
                <a:cs typeface="Roboto Bk"/>
              </a:rPr>
              <a:t>pricing</a:t>
            </a:r>
            <a:endParaRPr sz="1850">
              <a:latin typeface="Roboto Bk"/>
              <a:cs typeface="Roboto Bk"/>
            </a:endParaRPr>
          </a:p>
          <a:p>
            <a:pPr>
              <a:lnSpc>
                <a:spcPct val="100000"/>
              </a:lnSpc>
            </a:pPr>
            <a:endParaRPr sz="1850">
              <a:latin typeface="Roboto Bk"/>
              <a:cs typeface="Roboto Bk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850">
              <a:latin typeface="Roboto Bk"/>
              <a:cs typeface="Roboto Bk"/>
            </a:endParaRPr>
          </a:p>
          <a:p>
            <a:pPr marL="179070" marR="5080">
              <a:lnSpc>
                <a:spcPct val="129700"/>
              </a:lnSpc>
            </a:pPr>
            <a:r>
              <a:rPr sz="1700" b="1" spc="-170" dirty="0">
                <a:solidFill>
                  <a:srgbClr val="7B837D"/>
                </a:solidFill>
                <a:latin typeface="Roboto Bk"/>
                <a:cs typeface="Roboto Bk"/>
              </a:rPr>
              <a:t>We</a:t>
            </a:r>
            <a:r>
              <a:rPr sz="1700" b="1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100" dirty="0">
                <a:solidFill>
                  <a:srgbClr val="7B837D"/>
                </a:solidFill>
                <a:latin typeface="Roboto Bk"/>
                <a:cs typeface="Roboto Bk"/>
              </a:rPr>
              <a:t>can</a:t>
            </a:r>
            <a:r>
              <a:rPr sz="1700" b="1" spc="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100" dirty="0">
                <a:solidFill>
                  <a:srgbClr val="7B837D"/>
                </a:solidFill>
                <a:latin typeface="Roboto Bk"/>
                <a:cs typeface="Roboto Bk"/>
              </a:rPr>
              <a:t>build</a:t>
            </a:r>
            <a:r>
              <a:rPr sz="1700" b="1" spc="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110" dirty="0">
                <a:solidFill>
                  <a:srgbClr val="7B837D"/>
                </a:solidFill>
                <a:latin typeface="Roboto Bk"/>
                <a:cs typeface="Roboto Bk"/>
              </a:rPr>
              <a:t>the</a:t>
            </a:r>
            <a:r>
              <a:rPr sz="1700" b="1" spc="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105" dirty="0">
                <a:solidFill>
                  <a:srgbClr val="7B837D"/>
                </a:solidFill>
                <a:latin typeface="Roboto Bk"/>
                <a:cs typeface="Roboto Bk"/>
              </a:rPr>
              <a:t>product.</a:t>
            </a:r>
            <a:r>
              <a:rPr sz="1700" b="1" spc="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170" dirty="0">
                <a:solidFill>
                  <a:srgbClr val="7B837D"/>
                </a:solidFill>
                <a:latin typeface="Roboto Bk"/>
                <a:cs typeface="Roboto Bk"/>
              </a:rPr>
              <a:t>We</a:t>
            </a:r>
            <a:r>
              <a:rPr sz="1700" b="1" spc="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125" dirty="0">
                <a:solidFill>
                  <a:srgbClr val="7B837D"/>
                </a:solidFill>
                <a:latin typeface="Roboto Bk"/>
                <a:cs typeface="Roboto Bk"/>
              </a:rPr>
              <a:t>can’t</a:t>
            </a:r>
            <a:r>
              <a:rPr sz="1700" b="1" spc="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105" dirty="0">
                <a:solidFill>
                  <a:srgbClr val="7B837D"/>
                </a:solidFill>
                <a:latin typeface="Roboto Bk"/>
                <a:cs typeface="Roboto Bk"/>
              </a:rPr>
              <a:t>introduce</a:t>
            </a:r>
            <a:r>
              <a:rPr sz="1700" b="1" spc="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100" dirty="0">
                <a:solidFill>
                  <a:srgbClr val="7B837D"/>
                </a:solidFill>
                <a:latin typeface="Roboto Bk"/>
                <a:cs typeface="Roboto Bk"/>
              </a:rPr>
              <a:t>ourselves</a:t>
            </a:r>
            <a:r>
              <a:rPr sz="1700" b="1" spc="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105" dirty="0">
                <a:solidFill>
                  <a:srgbClr val="7B837D"/>
                </a:solidFill>
                <a:latin typeface="Roboto Bk"/>
                <a:cs typeface="Roboto Bk"/>
              </a:rPr>
              <a:t>to</a:t>
            </a:r>
            <a:r>
              <a:rPr sz="1700" b="1" spc="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155" dirty="0">
                <a:solidFill>
                  <a:srgbClr val="7B837D"/>
                </a:solidFill>
                <a:latin typeface="Roboto Bk"/>
                <a:cs typeface="Roboto Bk"/>
              </a:rPr>
              <a:t>ﬁfty</a:t>
            </a:r>
            <a:r>
              <a:rPr sz="1700" b="1" spc="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114" dirty="0">
                <a:solidFill>
                  <a:srgbClr val="7B837D"/>
                </a:solidFill>
                <a:latin typeface="Roboto Bk"/>
                <a:cs typeface="Roboto Bk"/>
              </a:rPr>
              <a:t>merchants</a:t>
            </a:r>
            <a:r>
              <a:rPr sz="1700" b="1" spc="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25" dirty="0">
                <a:solidFill>
                  <a:srgbClr val="7B837D"/>
                </a:solidFill>
                <a:latin typeface="Roboto Bk"/>
                <a:cs typeface="Roboto Bk"/>
              </a:rPr>
              <a:t>and </a:t>
            </a:r>
            <a:r>
              <a:rPr sz="1700" b="1" spc="-105" dirty="0">
                <a:solidFill>
                  <a:srgbClr val="7B837D"/>
                </a:solidFill>
                <a:latin typeface="Roboto Bk"/>
                <a:cs typeface="Roboto Bk"/>
              </a:rPr>
              <a:t>three</a:t>
            </a:r>
            <a:r>
              <a:rPr sz="1700" b="1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114" dirty="0">
                <a:solidFill>
                  <a:srgbClr val="7B837D"/>
                </a:solidFill>
                <a:latin typeface="Roboto Bk"/>
                <a:cs typeface="Roboto Bk"/>
              </a:rPr>
              <a:t>banks.</a:t>
            </a:r>
            <a:r>
              <a:rPr sz="1700" b="1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130" dirty="0">
                <a:solidFill>
                  <a:srgbClr val="7B837D"/>
                </a:solidFill>
                <a:latin typeface="Roboto Bk"/>
                <a:cs typeface="Roboto Bk"/>
              </a:rPr>
              <a:t>On</a:t>
            </a:r>
            <a:r>
              <a:rPr sz="1700" b="1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105" dirty="0">
                <a:solidFill>
                  <a:srgbClr val="7B837D"/>
                </a:solidFill>
                <a:latin typeface="Roboto Bk"/>
                <a:cs typeface="Roboto Bk"/>
              </a:rPr>
              <a:t>exit:</a:t>
            </a:r>
            <a:r>
              <a:rPr sz="1700" b="1" spc="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105" dirty="0">
                <a:solidFill>
                  <a:srgbClr val="7B837D"/>
                </a:solidFill>
                <a:latin typeface="Roboto Bk"/>
                <a:cs typeface="Roboto Bk"/>
              </a:rPr>
              <a:t>acquisition</a:t>
            </a:r>
            <a:r>
              <a:rPr sz="1700" b="1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145" dirty="0">
                <a:solidFill>
                  <a:srgbClr val="7B837D"/>
                </a:solidFill>
                <a:latin typeface="Roboto Bk"/>
                <a:cs typeface="Roboto Bk"/>
              </a:rPr>
              <a:t>by</a:t>
            </a:r>
            <a:r>
              <a:rPr sz="1700" b="1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90" dirty="0">
                <a:solidFill>
                  <a:srgbClr val="7B837D"/>
                </a:solidFill>
                <a:latin typeface="Roboto Bk"/>
                <a:cs typeface="Roboto Bk"/>
              </a:rPr>
              <a:t>a</a:t>
            </a:r>
            <a:r>
              <a:rPr sz="1700" b="1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130" dirty="0">
                <a:solidFill>
                  <a:srgbClr val="7B837D"/>
                </a:solidFill>
                <a:latin typeface="Roboto Bk"/>
                <a:cs typeface="Roboto Bk"/>
              </a:rPr>
              <a:t>bank,</a:t>
            </a:r>
            <a:r>
              <a:rPr sz="1700" b="1" spc="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90" dirty="0">
                <a:solidFill>
                  <a:srgbClr val="7B837D"/>
                </a:solidFill>
                <a:latin typeface="Roboto Bk"/>
                <a:cs typeface="Roboto Bk"/>
              </a:rPr>
              <a:t>a</a:t>
            </a:r>
            <a:r>
              <a:rPr sz="1700" b="1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130" dirty="0">
                <a:solidFill>
                  <a:srgbClr val="7B837D"/>
                </a:solidFill>
                <a:latin typeface="Roboto Bk"/>
                <a:cs typeface="Roboto Bk"/>
              </a:rPr>
              <a:t>payment</a:t>
            </a:r>
            <a:r>
              <a:rPr sz="1700" b="1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114" dirty="0">
                <a:solidFill>
                  <a:srgbClr val="7B837D"/>
                </a:solidFill>
                <a:latin typeface="Roboto Bk"/>
                <a:cs typeface="Roboto Bk"/>
              </a:rPr>
              <a:t>network</a:t>
            </a:r>
            <a:r>
              <a:rPr sz="1700" b="1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90" dirty="0">
                <a:solidFill>
                  <a:srgbClr val="7B837D"/>
                </a:solidFill>
                <a:latin typeface="Roboto Bk"/>
                <a:cs typeface="Roboto Bk"/>
              </a:rPr>
              <a:t>or</a:t>
            </a:r>
            <a:r>
              <a:rPr sz="1700" b="1" spc="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90" dirty="0">
                <a:solidFill>
                  <a:srgbClr val="7B837D"/>
                </a:solidFill>
                <a:latin typeface="Roboto Bk"/>
                <a:cs typeface="Roboto Bk"/>
              </a:rPr>
              <a:t>a</a:t>
            </a:r>
            <a:r>
              <a:rPr sz="1700" b="1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10" dirty="0">
                <a:solidFill>
                  <a:srgbClr val="7B837D"/>
                </a:solidFill>
                <a:latin typeface="Roboto Bk"/>
                <a:cs typeface="Roboto Bk"/>
              </a:rPr>
              <a:t>regional </a:t>
            </a:r>
            <a:r>
              <a:rPr sz="1700" b="1" spc="-135" dirty="0">
                <a:solidFill>
                  <a:srgbClr val="7B837D"/>
                </a:solidFill>
                <a:latin typeface="Roboto Bk"/>
                <a:cs typeface="Roboto Bk"/>
              </a:rPr>
              <a:t>ﬁntech</a:t>
            </a:r>
            <a:r>
              <a:rPr sz="1700" b="1" spc="2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114" dirty="0">
                <a:solidFill>
                  <a:srgbClr val="7B837D"/>
                </a:solidFill>
                <a:latin typeface="Roboto Bk"/>
                <a:cs typeface="Roboto Bk"/>
              </a:rPr>
              <a:t>wanting</a:t>
            </a:r>
            <a:r>
              <a:rPr sz="1700" b="1" spc="2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125" dirty="0">
                <a:solidFill>
                  <a:srgbClr val="7B837D"/>
                </a:solidFill>
                <a:latin typeface="Roboto Bk"/>
                <a:cs typeface="Roboto Bk"/>
              </a:rPr>
              <a:t>card-</a:t>
            </a:r>
            <a:r>
              <a:rPr sz="1700" b="1" spc="-130" dirty="0">
                <a:solidFill>
                  <a:srgbClr val="7B837D"/>
                </a:solidFill>
                <a:latin typeface="Roboto Bk"/>
                <a:cs typeface="Roboto Bk"/>
              </a:rPr>
              <a:t>linked</a:t>
            </a:r>
            <a:r>
              <a:rPr sz="1700" b="1" spc="2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95" dirty="0">
                <a:solidFill>
                  <a:srgbClr val="7B837D"/>
                </a:solidFill>
                <a:latin typeface="Roboto Bk"/>
                <a:cs typeface="Roboto Bk"/>
              </a:rPr>
              <a:t>offer</a:t>
            </a:r>
            <a:r>
              <a:rPr sz="1700" b="1" spc="2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700" b="1" spc="-25" dirty="0">
                <a:solidFill>
                  <a:srgbClr val="7B837D"/>
                </a:solidFill>
                <a:latin typeface="Roboto Bk"/>
                <a:cs typeface="Roboto Bk"/>
              </a:rPr>
              <a:t>infrastructure.</a:t>
            </a:r>
            <a:endParaRPr sz="1700">
              <a:latin typeface="Roboto Bk"/>
              <a:cs typeface="Roboto Bk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810925" y="8953500"/>
            <a:ext cx="876299" cy="876299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89"/>
              </a:lnSpc>
            </a:pPr>
            <a:r>
              <a:rPr spc="-145" dirty="0"/>
              <a:t>FLUSAI</a:t>
            </a:r>
            <a:r>
              <a:rPr dirty="0"/>
              <a:t> </a:t>
            </a:r>
            <a:r>
              <a:rPr spc="-120" dirty="0"/>
              <a:t>·</a:t>
            </a:r>
            <a:r>
              <a:rPr spc="-5" dirty="0"/>
              <a:t> </a:t>
            </a:r>
            <a:r>
              <a:rPr spc="-120" dirty="0"/>
              <a:t>NIC</a:t>
            </a:r>
            <a:r>
              <a:rPr spc="-5" dirty="0"/>
              <a:t> </a:t>
            </a:r>
            <a:r>
              <a:rPr spc="-135" dirty="0"/>
              <a:t>KARACHI</a:t>
            </a:r>
            <a:r>
              <a:rPr spc="5" dirty="0"/>
              <a:t> </a:t>
            </a:r>
            <a:r>
              <a:rPr spc="-95" dirty="0"/>
              <a:t>2026</a:t>
            </a:r>
          </a:p>
        </p:txBody>
      </p: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9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10286999"/>
                </a:lnTo>
                <a:close/>
              </a:path>
            </a:pathLst>
          </a:custGeom>
          <a:solidFill>
            <a:srgbClr val="FC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001750" y="0"/>
            <a:ext cx="4286250" cy="3905250"/>
          </a:xfrm>
          <a:custGeom>
            <a:avLst/>
            <a:gdLst/>
            <a:ahLst/>
            <a:cxnLst/>
            <a:rect l="l" t="t" r="r" b="b"/>
            <a:pathLst>
              <a:path w="4286250" h="3905250">
                <a:moveTo>
                  <a:pt x="3047999" y="3905249"/>
                </a:moveTo>
                <a:lnTo>
                  <a:pt x="2999530" y="3904872"/>
                </a:lnTo>
                <a:lnTo>
                  <a:pt x="2951243" y="3903743"/>
                </a:lnTo>
                <a:lnTo>
                  <a:pt x="2903144" y="3901868"/>
                </a:lnTo>
                <a:lnTo>
                  <a:pt x="2855239" y="3899253"/>
                </a:lnTo>
                <a:lnTo>
                  <a:pt x="2807533" y="3895903"/>
                </a:lnTo>
                <a:lnTo>
                  <a:pt x="2760031" y="3891824"/>
                </a:lnTo>
                <a:lnTo>
                  <a:pt x="2712740" y="3887022"/>
                </a:lnTo>
                <a:lnTo>
                  <a:pt x="2665665" y="3881501"/>
                </a:lnTo>
                <a:lnTo>
                  <a:pt x="2618811" y="3875268"/>
                </a:lnTo>
                <a:lnTo>
                  <a:pt x="2572184" y="3868329"/>
                </a:lnTo>
                <a:lnTo>
                  <a:pt x="2525790" y="3860688"/>
                </a:lnTo>
                <a:lnTo>
                  <a:pt x="2479634" y="3852351"/>
                </a:lnTo>
                <a:lnTo>
                  <a:pt x="2433721" y="3843325"/>
                </a:lnTo>
                <a:lnTo>
                  <a:pt x="2388058" y="3833614"/>
                </a:lnTo>
                <a:lnTo>
                  <a:pt x="2342650" y="3823224"/>
                </a:lnTo>
                <a:lnTo>
                  <a:pt x="2297502" y="3812161"/>
                </a:lnTo>
                <a:lnTo>
                  <a:pt x="2252621" y="3800430"/>
                </a:lnTo>
                <a:lnTo>
                  <a:pt x="2208011" y="3788037"/>
                </a:lnTo>
                <a:lnTo>
                  <a:pt x="2163678" y="3774987"/>
                </a:lnTo>
                <a:lnTo>
                  <a:pt x="2119628" y="3761286"/>
                </a:lnTo>
                <a:lnTo>
                  <a:pt x="2075867" y="3746940"/>
                </a:lnTo>
                <a:lnTo>
                  <a:pt x="2032399" y="3731954"/>
                </a:lnTo>
                <a:lnTo>
                  <a:pt x="1989231" y="3716333"/>
                </a:lnTo>
                <a:lnTo>
                  <a:pt x="1946368" y="3700084"/>
                </a:lnTo>
                <a:lnTo>
                  <a:pt x="1903816" y="3683212"/>
                </a:lnTo>
                <a:lnTo>
                  <a:pt x="1861580" y="3665723"/>
                </a:lnTo>
                <a:lnTo>
                  <a:pt x="1819666" y="3647621"/>
                </a:lnTo>
                <a:lnTo>
                  <a:pt x="1778080" y="3628913"/>
                </a:lnTo>
                <a:lnTo>
                  <a:pt x="1736826" y="3609604"/>
                </a:lnTo>
                <a:lnTo>
                  <a:pt x="1695911" y="3589700"/>
                </a:lnTo>
                <a:lnTo>
                  <a:pt x="1655340" y="3569206"/>
                </a:lnTo>
                <a:lnTo>
                  <a:pt x="1615119" y="3548128"/>
                </a:lnTo>
                <a:lnTo>
                  <a:pt x="1575254" y="3526472"/>
                </a:lnTo>
                <a:lnTo>
                  <a:pt x="1535749" y="3504243"/>
                </a:lnTo>
                <a:lnTo>
                  <a:pt x="1496610" y="3481447"/>
                </a:lnTo>
                <a:lnTo>
                  <a:pt x="1457844" y="3458088"/>
                </a:lnTo>
                <a:lnTo>
                  <a:pt x="1419456" y="3434174"/>
                </a:lnTo>
                <a:lnTo>
                  <a:pt x="1381450" y="3409709"/>
                </a:lnTo>
                <a:lnTo>
                  <a:pt x="1343834" y="3384699"/>
                </a:lnTo>
                <a:lnTo>
                  <a:pt x="1306611" y="3359149"/>
                </a:lnTo>
                <a:lnTo>
                  <a:pt x="1269789" y="3333066"/>
                </a:lnTo>
                <a:lnTo>
                  <a:pt x="1233373" y="3306455"/>
                </a:lnTo>
                <a:lnTo>
                  <a:pt x="1197367" y="3279320"/>
                </a:lnTo>
                <a:lnTo>
                  <a:pt x="1161778" y="3251669"/>
                </a:lnTo>
                <a:lnTo>
                  <a:pt x="1126612" y="3223506"/>
                </a:lnTo>
                <a:lnTo>
                  <a:pt x="1091873" y="3194837"/>
                </a:lnTo>
                <a:lnTo>
                  <a:pt x="1057568" y="3165668"/>
                </a:lnTo>
                <a:lnTo>
                  <a:pt x="1023701" y="3136004"/>
                </a:lnTo>
                <a:lnTo>
                  <a:pt x="990280" y="3105850"/>
                </a:lnTo>
                <a:lnTo>
                  <a:pt x="957308" y="3075213"/>
                </a:lnTo>
                <a:lnTo>
                  <a:pt x="924792" y="3044098"/>
                </a:lnTo>
                <a:lnTo>
                  <a:pt x="892738" y="3012511"/>
                </a:lnTo>
                <a:lnTo>
                  <a:pt x="861150" y="2980456"/>
                </a:lnTo>
                <a:lnTo>
                  <a:pt x="830035" y="2947941"/>
                </a:lnTo>
                <a:lnTo>
                  <a:pt x="799399" y="2914969"/>
                </a:lnTo>
                <a:lnTo>
                  <a:pt x="769245" y="2881548"/>
                </a:lnTo>
                <a:lnTo>
                  <a:pt x="739581" y="2847681"/>
                </a:lnTo>
                <a:lnTo>
                  <a:pt x="710412" y="2813376"/>
                </a:lnTo>
                <a:lnTo>
                  <a:pt x="681743" y="2778637"/>
                </a:lnTo>
                <a:lnTo>
                  <a:pt x="653580" y="2743471"/>
                </a:lnTo>
                <a:lnTo>
                  <a:pt x="625929" y="2707882"/>
                </a:lnTo>
                <a:lnTo>
                  <a:pt x="598794" y="2671876"/>
                </a:lnTo>
                <a:lnTo>
                  <a:pt x="572183" y="2635460"/>
                </a:lnTo>
                <a:lnTo>
                  <a:pt x="546099" y="2598637"/>
                </a:lnTo>
                <a:lnTo>
                  <a:pt x="520550" y="2561415"/>
                </a:lnTo>
                <a:lnTo>
                  <a:pt x="495540" y="2523799"/>
                </a:lnTo>
                <a:lnTo>
                  <a:pt x="471075" y="2485793"/>
                </a:lnTo>
                <a:lnTo>
                  <a:pt x="447161" y="2447405"/>
                </a:lnTo>
                <a:lnTo>
                  <a:pt x="423802" y="2408638"/>
                </a:lnTo>
                <a:lnTo>
                  <a:pt x="401006" y="2369500"/>
                </a:lnTo>
                <a:lnTo>
                  <a:pt x="378777" y="2329995"/>
                </a:lnTo>
                <a:lnTo>
                  <a:pt x="357120" y="2290130"/>
                </a:lnTo>
                <a:lnTo>
                  <a:pt x="336043" y="2249909"/>
                </a:lnTo>
                <a:lnTo>
                  <a:pt x="315549" y="2209338"/>
                </a:lnTo>
                <a:lnTo>
                  <a:pt x="295645" y="2168423"/>
                </a:lnTo>
                <a:lnTo>
                  <a:pt x="276336" y="2127169"/>
                </a:lnTo>
                <a:lnTo>
                  <a:pt x="257628" y="2085583"/>
                </a:lnTo>
                <a:lnTo>
                  <a:pt x="239526" y="2043669"/>
                </a:lnTo>
                <a:lnTo>
                  <a:pt x="222037" y="2001433"/>
                </a:lnTo>
                <a:lnTo>
                  <a:pt x="205165" y="1958881"/>
                </a:lnTo>
                <a:lnTo>
                  <a:pt x="188916" y="1916018"/>
                </a:lnTo>
                <a:lnTo>
                  <a:pt x="173295" y="1872850"/>
                </a:lnTo>
                <a:lnTo>
                  <a:pt x="158309" y="1829382"/>
                </a:lnTo>
                <a:lnTo>
                  <a:pt x="143963" y="1785621"/>
                </a:lnTo>
                <a:lnTo>
                  <a:pt x="130262" y="1741571"/>
                </a:lnTo>
                <a:lnTo>
                  <a:pt x="117212" y="1697238"/>
                </a:lnTo>
                <a:lnTo>
                  <a:pt x="104819" y="1652628"/>
                </a:lnTo>
                <a:lnTo>
                  <a:pt x="93088" y="1607747"/>
                </a:lnTo>
                <a:lnTo>
                  <a:pt x="82025" y="1562599"/>
                </a:lnTo>
                <a:lnTo>
                  <a:pt x="71635" y="1517191"/>
                </a:lnTo>
                <a:lnTo>
                  <a:pt x="61924" y="1471528"/>
                </a:lnTo>
                <a:lnTo>
                  <a:pt x="52897" y="1425615"/>
                </a:lnTo>
                <a:lnTo>
                  <a:pt x="44561" y="1379459"/>
                </a:lnTo>
                <a:lnTo>
                  <a:pt x="36920" y="1333065"/>
                </a:lnTo>
                <a:lnTo>
                  <a:pt x="29981" y="1286438"/>
                </a:lnTo>
                <a:lnTo>
                  <a:pt x="23748" y="1239584"/>
                </a:lnTo>
                <a:lnTo>
                  <a:pt x="18227" y="1192509"/>
                </a:lnTo>
                <a:lnTo>
                  <a:pt x="13425" y="1145218"/>
                </a:lnTo>
                <a:lnTo>
                  <a:pt x="9346" y="1097716"/>
                </a:lnTo>
                <a:lnTo>
                  <a:pt x="5996" y="1050010"/>
                </a:lnTo>
                <a:lnTo>
                  <a:pt x="3381" y="1002104"/>
                </a:lnTo>
                <a:lnTo>
                  <a:pt x="1506" y="954006"/>
                </a:lnTo>
                <a:lnTo>
                  <a:pt x="377" y="905719"/>
                </a:lnTo>
                <a:lnTo>
                  <a:pt x="0" y="857249"/>
                </a:lnTo>
                <a:lnTo>
                  <a:pt x="377" y="808780"/>
                </a:lnTo>
                <a:lnTo>
                  <a:pt x="1506" y="760493"/>
                </a:lnTo>
                <a:lnTo>
                  <a:pt x="3381" y="712395"/>
                </a:lnTo>
                <a:lnTo>
                  <a:pt x="5996" y="664489"/>
                </a:lnTo>
                <a:lnTo>
                  <a:pt x="9346" y="616783"/>
                </a:lnTo>
                <a:lnTo>
                  <a:pt x="13425" y="569281"/>
                </a:lnTo>
                <a:lnTo>
                  <a:pt x="18227" y="521990"/>
                </a:lnTo>
                <a:lnTo>
                  <a:pt x="23748" y="474915"/>
                </a:lnTo>
                <a:lnTo>
                  <a:pt x="29981" y="428061"/>
                </a:lnTo>
                <a:lnTo>
                  <a:pt x="36920" y="381434"/>
                </a:lnTo>
                <a:lnTo>
                  <a:pt x="44561" y="335040"/>
                </a:lnTo>
                <a:lnTo>
                  <a:pt x="52897" y="288884"/>
                </a:lnTo>
                <a:lnTo>
                  <a:pt x="61924" y="242971"/>
                </a:lnTo>
                <a:lnTo>
                  <a:pt x="71635" y="197308"/>
                </a:lnTo>
                <a:lnTo>
                  <a:pt x="82025" y="151900"/>
                </a:lnTo>
                <a:lnTo>
                  <a:pt x="93088" y="106752"/>
                </a:lnTo>
                <a:lnTo>
                  <a:pt x="104819" y="61871"/>
                </a:lnTo>
                <a:lnTo>
                  <a:pt x="117212" y="17261"/>
                </a:lnTo>
                <a:lnTo>
                  <a:pt x="122293" y="0"/>
                </a:lnTo>
                <a:lnTo>
                  <a:pt x="4286250" y="0"/>
                </a:lnTo>
                <a:lnTo>
                  <a:pt x="4286250" y="3643160"/>
                </a:lnTo>
                <a:lnTo>
                  <a:pt x="4276333" y="3647621"/>
                </a:lnTo>
                <a:lnTo>
                  <a:pt x="4234419" y="3665723"/>
                </a:lnTo>
                <a:lnTo>
                  <a:pt x="4192183" y="3683212"/>
                </a:lnTo>
                <a:lnTo>
                  <a:pt x="4149631" y="3700084"/>
                </a:lnTo>
                <a:lnTo>
                  <a:pt x="4106768" y="3716333"/>
                </a:lnTo>
                <a:lnTo>
                  <a:pt x="4063600" y="3731954"/>
                </a:lnTo>
                <a:lnTo>
                  <a:pt x="4020132" y="3746940"/>
                </a:lnTo>
                <a:lnTo>
                  <a:pt x="3976371" y="3761286"/>
                </a:lnTo>
                <a:lnTo>
                  <a:pt x="3932321" y="3774987"/>
                </a:lnTo>
                <a:lnTo>
                  <a:pt x="3887988" y="3788037"/>
                </a:lnTo>
                <a:lnTo>
                  <a:pt x="3843378" y="3800430"/>
                </a:lnTo>
                <a:lnTo>
                  <a:pt x="3798497" y="3812161"/>
                </a:lnTo>
                <a:lnTo>
                  <a:pt x="3753349" y="3823224"/>
                </a:lnTo>
                <a:lnTo>
                  <a:pt x="3707941" y="3833614"/>
                </a:lnTo>
                <a:lnTo>
                  <a:pt x="3662278" y="3843325"/>
                </a:lnTo>
                <a:lnTo>
                  <a:pt x="3616365" y="3852351"/>
                </a:lnTo>
                <a:lnTo>
                  <a:pt x="3570209" y="3860688"/>
                </a:lnTo>
                <a:lnTo>
                  <a:pt x="3523815" y="3868329"/>
                </a:lnTo>
                <a:lnTo>
                  <a:pt x="3477188" y="3875268"/>
                </a:lnTo>
                <a:lnTo>
                  <a:pt x="3430334" y="3881501"/>
                </a:lnTo>
                <a:lnTo>
                  <a:pt x="3383259" y="3887022"/>
                </a:lnTo>
                <a:lnTo>
                  <a:pt x="3335968" y="3891824"/>
                </a:lnTo>
                <a:lnTo>
                  <a:pt x="3288466" y="3895903"/>
                </a:lnTo>
                <a:lnTo>
                  <a:pt x="3240760" y="3899253"/>
                </a:lnTo>
                <a:lnTo>
                  <a:pt x="3192854" y="3901868"/>
                </a:lnTo>
                <a:lnTo>
                  <a:pt x="3144756" y="3903743"/>
                </a:lnTo>
                <a:lnTo>
                  <a:pt x="3096469" y="3904872"/>
                </a:lnTo>
                <a:lnTo>
                  <a:pt x="3047999" y="3905249"/>
                </a:lnTo>
                <a:close/>
              </a:path>
            </a:pathLst>
          </a:custGeom>
          <a:solidFill>
            <a:srgbClr val="188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527883" y="8286750"/>
            <a:ext cx="2760345" cy="2000250"/>
          </a:xfrm>
          <a:custGeom>
            <a:avLst/>
            <a:gdLst/>
            <a:ahLst/>
            <a:cxnLst/>
            <a:rect l="l" t="t" r="r" b="b"/>
            <a:pathLst>
              <a:path w="2760344" h="2000250">
                <a:moveTo>
                  <a:pt x="2760116" y="2000250"/>
                </a:moveTo>
                <a:lnTo>
                  <a:pt x="0" y="2000250"/>
                </a:lnTo>
                <a:lnTo>
                  <a:pt x="22" y="1999579"/>
                </a:lnTo>
                <a:lnTo>
                  <a:pt x="2700" y="1952029"/>
                </a:lnTo>
                <a:lnTo>
                  <a:pt x="6429" y="1904766"/>
                </a:lnTo>
                <a:lnTo>
                  <a:pt x="11198" y="1857804"/>
                </a:lnTo>
                <a:lnTo>
                  <a:pt x="16995" y="1811153"/>
                </a:lnTo>
                <a:lnTo>
                  <a:pt x="23809" y="1764824"/>
                </a:lnTo>
                <a:lnTo>
                  <a:pt x="31627" y="1718831"/>
                </a:lnTo>
                <a:lnTo>
                  <a:pt x="40439" y="1673183"/>
                </a:lnTo>
                <a:lnTo>
                  <a:pt x="50233" y="1627893"/>
                </a:lnTo>
                <a:lnTo>
                  <a:pt x="60996" y="1582973"/>
                </a:lnTo>
                <a:lnTo>
                  <a:pt x="72719" y="1538433"/>
                </a:lnTo>
                <a:lnTo>
                  <a:pt x="85389" y="1494285"/>
                </a:lnTo>
                <a:lnTo>
                  <a:pt x="98994" y="1450541"/>
                </a:lnTo>
                <a:lnTo>
                  <a:pt x="113524" y="1407213"/>
                </a:lnTo>
                <a:lnTo>
                  <a:pt x="128966" y="1364312"/>
                </a:lnTo>
                <a:lnTo>
                  <a:pt x="145308" y="1321849"/>
                </a:lnTo>
                <a:lnTo>
                  <a:pt x="162541" y="1279836"/>
                </a:lnTo>
                <a:lnTo>
                  <a:pt x="180651" y="1238285"/>
                </a:lnTo>
                <a:lnTo>
                  <a:pt x="199627" y="1197208"/>
                </a:lnTo>
                <a:lnTo>
                  <a:pt x="219458" y="1156615"/>
                </a:lnTo>
                <a:lnTo>
                  <a:pt x="240132" y="1116518"/>
                </a:lnTo>
                <a:lnTo>
                  <a:pt x="261637" y="1076930"/>
                </a:lnTo>
                <a:lnTo>
                  <a:pt x="283963" y="1037861"/>
                </a:lnTo>
                <a:lnTo>
                  <a:pt x="307097" y="999322"/>
                </a:lnTo>
                <a:lnTo>
                  <a:pt x="331028" y="961327"/>
                </a:lnTo>
                <a:lnTo>
                  <a:pt x="355744" y="923886"/>
                </a:lnTo>
                <a:lnTo>
                  <a:pt x="381234" y="887010"/>
                </a:lnTo>
                <a:lnTo>
                  <a:pt x="407487" y="850712"/>
                </a:lnTo>
                <a:lnTo>
                  <a:pt x="434490" y="815002"/>
                </a:lnTo>
                <a:lnTo>
                  <a:pt x="462232" y="779893"/>
                </a:lnTo>
                <a:lnTo>
                  <a:pt x="490701" y="745396"/>
                </a:lnTo>
                <a:lnTo>
                  <a:pt x="519887" y="711522"/>
                </a:lnTo>
                <a:lnTo>
                  <a:pt x="549777" y="678283"/>
                </a:lnTo>
                <a:lnTo>
                  <a:pt x="580360" y="645691"/>
                </a:lnTo>
                <a:lnTo>
                  <a:pt x="611624" y="613757"/>
                </a:lnTo>
                <a:lnTo>
                  <a:pt x="643557" y="582493"/>
                </a:lnTo>
                <a:lnTo>
                  <a:pt x="676150" y="551910"/>
                </a:lnTo>
                <a:lnTo>
                  <a:pt x="709388" y="522020"/>
                </a:lnTo>
                <a:lnTo>
                  <a:pt x="743262" y="492835"/>
                </a:lnTo>
                <a:lnTo>
                  <a:pt x="777759" y="464365"/>
                </a:lnTo>
                <a:lnTo>
                  <a:pt x="812868" y="436623"/>
                </a:lnTo>
                <a:lnTo>
                  <a:pt x="848578" y="409620"/>
                </a:lnTo>
                <a:lnTo>
                  <a:pt x="884876" y="383368"/>
                </a:lnTo>
                <a:lnTo>
                  <a:pt x="921752" y="357878"/>
                </a:lnTo>
                <a:lnTo>
                  <a:pt x="959193" y="333162"/>
                </a:lnTo>
                <a:lnTo>
                  <a:pt x="997189" y="309231"/>
                </a:lnTo>
                <a:lnTo>
                  <a:pt x="1035727" y="286097"/>
                </a:lnTo>
                <a:lnTo>
                  <a:pt x="1074796" y="263771"/>
                </a:lnTo>
                <a:lnTo>
                  <a:pt x="1114385" y="242265"/>
                </a:lnTo>
                <a:lnTo>
                  <a:pt x="1154481" y="221591"/>
                </a:lnTo>
                <a:lnTo>
                  <a:pt x="1195074" y="201761"/>
                </a:lnTo>
                <a:lnTo>
                  <a:pt x="1236152" y="182784"/>
                </a:lnTo>
                <a:lnTo>
                  <a:pt x="1277703" y="164674"/>
                </a:lnTo>
                <a:lnTo>
                  <a:pt x="1319715" y="147442"/>
                </a:lnTo>
                <a:lnTo>
                  <a:pt x="1362178" y="131099"/>
                </a:lnTo>
                <a:lnTo>
                  <a:pt x="1405079" y="115657"/>
                </a:lnTo>
                <a:lnTo>
                  <a:pt x="1448408" y="101128"/>
                </a:lnTo>
                <a:lnTo>
                  <a:pt x="1492151" y="87523"/>
                </a:lnTo>
                <a:lnTo>
                  <a:pt x="1536299" y="74853"/>
                </a:lnTo>
                <a:lnTo>
                  <a:pt x="1580839" y="63130"/>
                </a:lnTo>
                <a:lnTo>
                  <a:pt x="1625760" y="52366"/>
                </a:lnTo>
                <a:lnTo>
                  <a:pt x="1671050" y="42573"/>
                </a:lnTo>
                <a:lnTo>
                  <a:pt x="1716697" y="33761"/>
                </a:lnTo>
                <a:lnTo>
                  <a:pt x="1762691" y="25942"/>
                </a:lnTo>
                <a:lnTo>
                  <a:pt x="1809019" y="19129"/>
                </a:lnTo>
                <a:lnTo>
                  <a:pt x="1855670" y="13332"/>
                </a:lnTo>
                <a:lnTo>
                  <a:pt x="1902633" y="8563"/>
                </a:lnTo>
                <a:lnTo>
                  <a:pt x="1949895" y="4834"/>
                </a:lnTo>
                <a:lnTo>
                  <a:pt x="1997446" y="2156"/>
                </a:lnTo>
                <a:lnTo>
                  <a:pt x="2045273" y="541"/>
                </a:lnTo>
                <a:lnTo>
                  <a:pt x="2093366" y="0"/>
                </a:lnTo>
                <a:lnTo>
                  <a:pt x="2138349" y="541"/>
                </a:lnTo>
                <a:lnTo>
                  <a:pt x="2141999" y="541"/>
                </a:lnTo>
                <a:lnTo>
                  <a:pt x="2194136" y="2421"/>
                </a:lnTo>
                <a:lnTo>
                  <a:pt x="2244285" y="5437"/>
                </a:lnTo>
                <a:lnTo>
                  <a:pt x="2294249" y="9644"/>
                </a:lnTo>
                <a:lnTo>
                  <a:pt x="2344009" y="15035"/>
                </a:lnTo>
                <a:lnTo>
                  <a:pt x="2393546" y="21603"/>
                </a:lnTo>
                <a:lnTo>
                  <a:pt x="2442840" y="29338"/>
                </a:lnTo>
                <a:lnTo>
                  <a:pt x="2491872" y="38232"/>
                </a:lnTo>
                <a:lnTo>
                  <a:pt x="2540622" y="48278"/>
                </a:lnTo>
                <a:lnTo>
                  <a:pt x="2589070" y="59468"/>
                </a:lnTo>
                <a:lnTo>
                  <a:pt x="2637197" y="71792"/>
                </a:lnTo>
                <a:lnTo>
                  <a:pt x="2684983" y="85244"/>
                </a:lnTo>
                <a:lnTo>
                  <a:pt x="2732409" y="99815"/>
                </a:lnTo>
                <a:lnTo>
                  <a:pt x="2760116" y="109051"/>
                </a:lnTo>
                <a:lnTo>
                  <a:pt x="2760116" y="2000250"/>
                </a:lnTo>
                <a:close/>
              </a:path>
            </a:pathLst>
          </a:custGeom>
          <a:solidFill>
            <a:srgbClr val="123D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706100" y="180975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199" y="914399"/>
                </a:moveTo>
                <a:lnTo>
                  <a:pt x="410453" y="912039"/>
                </a:lnTo>
                <a:lnTo>
                  <a:pt x="365058" y="905111"/>
                </a:lnTo>
                <a:lnTo>
                  <a:pt x="321242" y="893845"/>
                </a:lnTo>
                <a:lnTo>
                  <a:pt x="279236" y="878470"/>
                </a:lnTo>
                <a:lnTo>
                  <a:pt x="239271" y="859218"/>
                </a:lnTo>
                <a:lnTo>
                  <a:pt x="201574" y="836317"/>
                </a:lnTo>
                <a:lnTo>
                  <a:pt x="166378" y="809997"/>
                </a:lnTo>
                <a:lnTo>
                  <a:pt x="133910" y="780489"/>
                </a:lnTo>
                <a:lnTo>
                  <a:pt x="104402" y="748021"/>
                </a:lnTo>
                <a:lnTo>
                  <a:pt x="78082" y="712824"/>
                </a:lnTo>
                <a:lnTo>
                  <a:pt x="55181" y="675128"/>
                </a:lnTo>
                <a:lnTo>
                  <a:pt x="35928" y="635162"/>
                </a:lnTo>
                <a:lnTo>
                  <a:pt x="20554" y="593157"/>
                </a:lnTo>
                <a:lnTo>
                  <a:pt x="9288" y="549341"/>
                </a:lnTo>
                <a:lnTo>
                  <a:pt x="2360" y="503946"/>
                </a:lnTo>
                <a:lnTo>
                  <a:pt x="0" y="457199"/>
                </a:lnTo>
                <a:lnTo>
                  <a:pt x="2360" y="410453"/>
                </a:lnTo>
                <a:lnTo>
                  <a:pt x="9288" y="365058"/>
                </a:lnTo>
                <a:lnTo>
                  <a:pt x="20554" y="321242"/>
                </a:lnTo>
                <a:lnTo>
                  <a:pt x="35928" y="279237"/>
                </a:lnTo>
                <a:lnTo>
                  <a:pt x="55181" y="239271"/>
                </a:lnTo>
                <a:lnTo>
                  <a:pt x="78082" y="201575"/>
                </a:lnTo>
                <a:lnTo>
                  <a:pt x="104402" y="166378"/>
                </a:lnTo>
                <a:lnTo>
                  <a:pt x="133910" y="133910"/>
                </a:lnTo>
                <a:lnTo>
                  <a:pt x="166378" y="104402"/>
                </a:lnTo>
                <a:lnTo>
                  <a:pt x="201574" y="78082"/>
                </a:lnTo>
                <a:lnTo>
                  <a:pt x="239271" y="55181"/>
                </a:lnTo>
                <a:lnTo>
                  <a:pt x="279236" y="35929"/>
                </a:lnTo>
                <a:lnTo>
                  <a:pt x="321242" y="20554"/>
                </a:lnTo>
                <a:lnTo>
                  <a:pt x="365058" y="9288"/>
                </a:lnTo>
                <a:lnTo>
                  <a:pt x="410453" y="2360"/>
                </a:lnTo>
                <a:lnTo>
                  <a:pt x="457199" y="0"/>
                </a:lnTo>
                <a:lnTo>
                  <a:pt x="508788" y="2918"/>
                </a:lnTo>
                <a:lnTo>
                  <a:pt x="559321" y="11549"/>
                </a:lnTo>
                <a:lnTo>
                  <a:pt x="608351" y="25708"/>
                </a:lnTo>
                <a:lnTo>
                  <a:pt x="655430" y="45208"/>
                </a:lnTo>
                <a:lnTo>
                  <a:pt x="700111" y="69866"/>
                </a:lnTo>
                <a:lnTo>
                  <a:pt x="741946" y="99495"/>
                </a:lnTo>
                <a:lnTo>
                  <a:pt x="780488" y="133910"/>
                </a:lnTo>
                <a:lnTo>
                  <a:pt x="814904" y="172452"/>
                </a:lnTo>
                <a:lnTo>
                  <a:pt x="844533" y="214288"/>
                </a:lnTo>
                <a:lnTo>
                  <a:pt x="869190" y="258969"/>
                </a:lnTo>
                <a:lnTo>
                  <a:pt x="888691" y="306048"/>
                </a:lnTo>
                <a:lnTo>
                  <a:pt x="902850" y="355078"/>
                </a:lnTo>
                <a:lnTo>
                  <a:pt x="911481" y="405611"/>
                </a:lnTo>
                <a:lnTo>
                  <a:pt x="914399" y="457199"/>
                </a:lnTo>
                <a:lnTo>
                  <a:pt x="912039" y="503946"/>
                </a:lnTo>
                <a:lnTo>
                  <a:pt x="905111" y="549341"/>
                </a:lnTo>
                <a:lnTo>
                  <a:pt x="893845" y="593157"/>
                </a:lnTo>
                <a:lnTo>
                  <a:pt x="878471" y="635162"/>
                </a:lnTo>
                <a:lnTo>
                  <a:pt x="859218" y="675128"/>
                </a:lnTo>
                <a:lnTo>
                  <a:pt x="836317" y="712824"/>
                </a:lnTo>
                <a:lnTo>
                  <a:pt x="809997" y="748021"/>
                </a:lnTo>
                <a:lnTo>
                  <a:pt x="780489" y="780489"/>
                </a:lnTo>
                <a:lnTo>
                  <a:pt x="748021" y="809997"/>
                </a:lnTo>
                <a:lnTo>
                  <a:pt x="712825" y="836317"/>
                </a:lnTo>
                <a:lnTo>
                  <a:pt x="675128" y="859218"/>
                </a:lnTo>
                <a:lnTo>
                  <a:pt x="635163" y="878470"/>
                </a:lnTo>
                <a:lnTo>
                  <a:pt x="593157" y="893845"/>
                </a:lnTo>
                <a:lnTo>
                  <a:pt x="549341" y="905111"/>
                </a:lnTo>
                <a:lnTo>
                  <a:pt x="503946" y="912039"/>
                </a:lnTo>
                <a:lnTo>
                  <a:pt x="457199" y="914399"/>
                </a:lnTo>
                <a:close/>
              </a:path>
            </a:pathLst>
          </a:custGeom>
          <a:solidFill>
            <a:srgbClr val="10686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3000" y="1333500"/>
            <a:ext cx="2000249" cy="2089918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149350" y="3362844"/>
            <a:ext cx="6410325" cy="153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900" spc="-85" dirty="0"/>
              <a:t>Thank</a:t>
            </a:r>
            <a:r>
              <a:rPr sz="9900" spc="-625" dirty="0"/>
              <a:t> </a:t>
            </a:r>
            <a:r>
              <a:rPr sz="9900" spc="-110" dirty="0"/>
              <a:t>you</a:t>
            </a:r>
            <a:endParaRPr sz="9900"/>
          </a:p>
        </p:txBody>
      </p:sp>
      <p:sp>
        <p:nvSpPr>
          <p:cNvPr id="8" name="object 8"/>
          <p:cNvSpPr/>
          <p:nvPr/>
        </p:nvSpPr>
        <p:spPr>
          <a:xfrm>
            <a:off x="1143000" y="5197004"/>
            <a:ext cx="876300" cy="85725"/>
          </a:xfrm>
          <a:custGeom>
            <a:avLst/>
            <a:gdLst/>
            <a:ahLst/>
            <a:cxnLst/>
            <a:rect l="l" t="t" r="r" b="b"/>
            <a:pathLst>
              <a:path w="876300" h="85725">
                <a:moveTo>
                  <a:pt x="876299" y="85724"/>
                </a:moveTo>
                <a:lnTo>
                  <a:pt x="0" y="85724"/>
                </a:lnTo>
                <a:lnTo>
                  <a:pt x="0" y="0"/>
                </a:lnTo>
                <a:lnTo>
                  <a:pt x="876299" y="0"/>
                </a:lnTo>
                <a:lnTo>
                  <a:pt x="876299" y="85724"/>
                </a:lnTo>
                <a:close/>
              </a:path>
            </a:pathLst>
          </a:custGeom>
          <a:solidFill>
            <a:srgbClr val="E1E3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9350" y="5562446"/>
            <a:ext cx="8561705" cy="1036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2800"/>
              </a:lnSpc>
              <a:spcBef>
                <a:spcPts val="100"/>
              </a:spcBef>
            </a:pPr>
            <a:r>
              <a:rPr sz="2700" b="1" spc="-245" dirty="0">
                <a:solidFill>
                  <a:srgbClr val="106861"/>
                </a:solidFill>
                <a:latin typeface="Roboto Bk"/>
                <a:cs typeface="Roboto Bk"/>
              </a:rPr>
              <a:t>Rs</a:t>
            </a:r>
            <a:r>
              <a:rPr sz="2700" b="1" spc="-25" dirty="0">
                <a:solidFill>
                  <a:srgbClr val="106861"/>
                </a:solidFill>
                <a:latin typeface="Roboto Bk"/>
                <a:cs typeface="Roboto Bk"/>
              </a:rPr>
              <a:t> </a:t>
            </a:r>
            <a:r>
              <a:rPr sz="2700" b="1" spc="-250" dirty="0">
                <a:solidFill>
                  <a:srgbClr val="106861"/>
                </a:solidFill>
                <a:latin typeface="Roboto Bk"/>
                <a:cs typeface="Roboto Bk"/>
              </a:rPr>
              <a:t>1,930</a:t>
            </a:r>
            <a:r>
              <a:rPr sz="2700" b="1" spc="-30" dirty="0">
                <a:solidFill>
                  <a:srgbClr val="106861"/>
                </a:solidFill>
                <a:latin typeface="Roboto Bk"/>
                <a:cs typeface="Roboto Bk"/>
              </a:rPr>
              <a:t> </a:t>
            </a:r>
            <a:r>
              <a:rPr sz="2700" b="1" spc="-190" dirty="0">
                <a:solidFill>
                  <a:srgbClr val="106861"/>
                </a:solidFill>
                <a:latin typeface="Roboto Bk"/>
                <a:cs typeface="Roboto Bk"/>
              </a:rPr>
              <a:t>saved</a:t>
            </a:r>
            <a:r>
              <a:rPr sz="2700" b="1" spc="-20" dirty="0">
                <a:solidFill>
                  <a:srgbClr val="106861"/>
                </a:solidFill>
                <a:latin typeface="Roboto Bk"/>
                <a:cs typeface="Roboto Bk"/>
              </a:rPr>
              <a:t> </a:t>
            </a:r>
            <a:r>
              <a:rPr sz="2700" b="1" spc="-165" dirty="0">
                <a:solidFill>
                  <a:srgbClr val="106861"/>
                </a:solidFill>
                <a:latin typeface="Roboto Bk"/>
                <a:cs typeface="Roboto Bk"/>
              </a:rPr>
              <a:t>across</a:t>
            </a:r>
            <a:r>
              <a:rPr sz="2700" b="1" spc="-25" dirty="0">
                <a:solidFill>
                  <a:srgbClr val="106861"/>
                </a:solidFill>
                <a:latin typeface="Roboto Bk"/>
                <a:cs typeface="Roboto Bk"/>
              </a:rPr>
              <a:t> </a:t>
            </a:r>
            <a:r>
              <a:rPr sz="2700" b="1" spc="-180" dirty="0">
                <a:solidFill>
                  <a:srgbClr val="106861"/>
                </a:solidFill>
                <a:latin typeface="Roboto Bk"/>
                <a:cs typeface="Roboto Bk"/>
              </a:rPr>
              <a:t>three</a:t>
            </a:r>
            <a:r>
              <a:rPr sz="2700" b="1" spc="-30" dirty="0">
                <a:solidFill>
                  <a:srgbClr val="106861"/>
                </a:solidFill>
                <a:latin typeface="Roboto Bk"/>
                <a:cs typeface="Roboto Bk"/>
              </a:rPr>
              <a:t> </a:t>
            </a:r>
            <a:r>
              <a:rPr sz="2700" b="1" spc="-185" dirty="0">
                <a:solidFill>
                  <a:srgbClr val="106861"/>
                </a:solidFill>
                <a:latin typeface="Roboto Bk"/>
                <a:cs typeface="Roboto Bk"/>
              </a:rPr>
              <a:t>purchases</a:t>
            </a:r>
            <a:r>
              <a:rPr sz="2700" b="1" spc="-20" dirty="0">
                <a:solidFill>
                  <a:srgbClr val="106861"/>
                </a:solidFill>
                <a:latin typeface="Roboto Bk"/>
                <a:cs typeface="Roboto Bk"/>
              </a:rPr>
              <a:t> </a:t>
            </a:r>
            <a:r>
              <a:rPr sz="2700" b="1" spc="-400" dirty="0">
                <a:solidFill>
                  <a:srgbClr val="106861"/>
                </a:solidFill>
                <a:latin typeface="Roboto Bk"/>
                <a:cs typeface="Roboto Bk"/>
              </a:rPr>
              <a:t>—</a:t>
            </a:r>
            <a:r>
              <a:rPr sz="2700" b="1" spc="-25" dirty="0">
                <a:solidFill>
                  <a:srgbClr val="106861"/>
                </a:solidFill>
                <a:latin typeface="Roboto Bk"/>
                <a:cs typeface="Roboto Bk"/>
              </a:rPr>
              <a:t> </a:t>
            </a:r>
            <a:r>
              <a:rPr sz="2700" b="1" spc="-190" dirty="0">
                <a:solidFill>
                  <a:srgbClr val="106861"/>
                </a:solidFill>
                <a:latin typeface="Roboto Bk"/>
                <a:cs typeface="Roboto Bk"/>
              </a:rPr>
              <a:t>on</a:t>
            </a:r>
            <a:r>
              <a:rPr sz="2700" b="1" spc="-30" dirty="0">
                <a:solidFill>
                  <a:srgbClr val="106861"/>
                </a:solidFill>
                <a:latin typeface="Roboto Bk"/>
                <a:cs typeface="Roboto Bk"/>
              </a:rPr>
              <a:t> </a:t>
            </a:r>
            <a:r>
              <a:rPr sz="2700" b="1" spc="-190" dirty="0">
                <a:solidFill>
                  <a:srgbClr val="106861"/>
                </a:solidFill>
                <a:latin typeface="Roboto Bk"/>
                <a:cs typeface="Roboto Bk"/>
              </a:rPr>
              <a:t>spending</a:t>
            </a:r>
            <a:r>
              <a:rPr sz="2700" b="1" spc="-20" dirty="0">
                <a:solidFill>
                  <a:srgbClr val="106861"/>
                </a:solidFill>
                <a:latin typeface="Roboto Bk"/>
                <a:cs typeface="Roboto Bk"/>
              </a:rPr>
              <a:t> </a:t>
            </a:r>
            <a:r>
              <a:rPr sz="2700" b="1" spc="-180" dirty="0">
                <a:solidFill>
                  <a:srgbClr val="106861"/>
                </a:solidFill>
                <a:latin typeface="Roboto Bk"/>
                <a:cs typeface="Roboto Bk"/>
              </a:rPr>
              <a:t>that</a:t>
            </a:r>
            <a:r>
              <a:rPr sz="2700" b="1" spc="-30" dirty="0">
                <a:solidFill>
                  <a:srgbClr val="106861"/>
                </a:solidFill>
                <a:latin typeface="Roboto Bk"/>
                <a:cs typeface="Roboto Bk"/>
              </a:rPr>
              <a:t> </a:t>
            </a:r>
            <a:r>
              <a:rPr sz="2700" b="1" spc="-45" dirty="0">
                <a:solidFill>
                  <a:srgbClr val="106861"/>
                </a:solidFill>
                <a:latin typeface="Roboto Bk"/>
                <a:cs typeface="Roboto Bk"/>
              </a:rPr>
              <a:t>was </a:t>
            </a:r>
            <a:r>
              <a:rPr sz="2700" b="1" spc="-180" dirty="0">
                <a:solidFill>
                  <a:srgbClr val="106861"/>
                </a:solidFill>
                <a:latin typeface="Roboto Bk"/>
                <a:cs typeface="Roboto Bk"/>
              </a:rPr>
              <a:t>already</a:t>
            </a:r>
            <a:r>
              <a:rPr sz="2700" b="1" spc="-10" dirty="0">
                <a:solidFill>
                  <a:srgbClr val="106861"/>
                </a:solidFill>
                <a:latin typeface="Roboto Bk"/>
                <a:cs typeface="Roboto Bk"/>
              </a:rPr>
              <a:t> </a:t>
            </a:r>
            <a:r>
              <a:rPr sz="2700" b="1" spc="-80" dirty="0">
                <a:solidFill>
                  <a:srgbClr val="106861"/>
                </a:solidFill>
                <a:latin typeface="Roboto Bk"/>
                <a:cs typeface="Roboto Bk"/>
              </a:rPr>
              <a:t>happening.</a:t>
            </a:r>
            <a:endParaRPr sz="2700">
              <a:latin typeface="Roboto Bk"/>
              <a:cs typeface="Roboto B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9350" y="9098344"/>
            <a:ext cx="34836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spc="-155" dirty="0">
                <a:solidFill>
                  <a:srgbClr val="7B837D"/>
                </a:solidFill>
                <a:latin typeface="Roboto Bk"/>
                <a:cs typeface="Roboto Bk"/>
              </a:rPr>
              <a:t>TEAM</a:t>
            </a:r>
            <a:r>
              <a:rPr sz="1800" b="1" spc="-140" dirty="0">
                <a:solidFill>
                  <a:srgbClr val="7B837D"/>
                </a:solidFill>
                <a:latin typeface="Roboto Bk"/>
                <a:cs typeface="Roboto Bk"/>
              </a:rPr>
              <a:t>·</a:t>
            </a:r>
            <a:r>
              <a:rPr sz="1800" b="1" spc="-10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800" b="1" spc="-175" dirty="0">
                <a:solidFill>
                  <a:srgbClr val="7B837D"/>
                </a:solidFill>
                <a:latin typeface="Roboto Bk"/>
                <a:cs typeface="Roboto Bk"/>
              </a:rPr>
              <a:t>FLUSAI,</a:t>
            </a:r>
            <a:r>
              <a:rPr sz="1800" b="1" spc="-15" dirty="0">
                <a:solidFill>
                  <a:srgbClr val="7B837D"/>
                </a:solidFill>
                <a:latin typeface="Roboto Bk"/>
                <a:cs typeface="Roboto Bk"/>
              </a:rPr>
              <a:t> </a:t>
            </a:r>
            <a:r>
              <a:rPr sz="1800" b="1" spc="-120" dirty="0">
                <a:solidFill>
                  <a:srgbClr val="7B837D"/>
                </a:solidFill>
                <a:latin typeface="Roboto Bk"/>
                <a:cs typeface="Roboto Bk"/>
              </a:rPr>
              <a:t>KARACHI</a:t>
            </a:r>
            <a:endParaRPr sz="1800" dirty="0">
              <a:latin typeface="Roboto Bk"/>
              <a:cs typeface="Roboto Bk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3000" y="7181850"/>
            <a:ext cx="1428749" cy="1428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1471</Words>
  <Application>Microsoft Office PowerPoint</Application>
  <PresentationFormat>Custom</PresentationFormat>
  <Paragraphs>161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Microsoft Sans Serif</vt:lpstr>
      <vt:lpstr>Roboto Bk</vt:lpstr>
      <vt:lpstr>Roboto Cn</vt:lpstr>
      <vt:lpstr>Tahoma</vt:lpstr>
      <vt:lpstr>Times New Roman</vt:lpstr>
      <vt:lpstr>Office Theme</vt:lpstr>
      <vt:lpstr>Every card in your wallet, every offer near you — matched before you pay.</vt:lpstr>
      <vt:lpstr>Vision</vt:lpstr>
      <vt:lpstr>At the counter, nobody knows which card saves money</vt:lpstr>
      <vt:lpstr>An app that holds every card you own and tells you which one to tap</vt:lpstr>
      <vt:lpstr>The build, today</vt:lpstr>
      <vt:lpstr>Progress to date</vt:lpstr>
      <vt:lpstr>Tech stack and roadmap</vt:lpstr>
      <vt:lpstr>Customer segments</vt:lpstr>
      <vt:lpstr>Market sizing</vt:lpstr>
      <vt:lpstr>“FlusAI is the only app that knows every card in your wallet and every offer near you at the same time.”</vt:lpstr>
      <vt:lpstr>Competitors and alternatives</vt:lpstr>
      <vt:lpstr>Channels — merchants ffirst</vt:lpstr>
      <vt:lpstr>Revenue streams and cost structure</vt:lpstr>
      <vt:lpstr>The ask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NIC FLUSAI</dc:title>
  <dc:creator>Zubair Ahmed Kaim Khani</dc:creator>
  <cp:lastModifiedBy>Zubair Ahmed Kaim Khani</cp:lastModifiedBy>
  <cp:revision>1</cp:revision>
  <dcterms:created xsi:type="dcterms:W3CDTF">2026-09-03T16:43:30Z</dcterms:created>
  <dcterms:modified xsi:type="dcterms:W3CDTF">2026-09-03T16:52:06Z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2026-09-03T00:00:00Z</vt:filetime>
  </property>
  <property fmtid="{D5CDD505-2E9C-101B-9397-08002B2CF9AE}" pid="4" name="Creator">
    <vt:lpwstr>Google</vt:lpwstr>
  </property>
  <property fmtid="{D5CDD505-2E9C-101B-9397-08002B2CF9AE}" pid="5" name="LastSaved">
    <vt:filetime>2026-09-03T00:00:00Z</vt:filetime>
  </property>
</Properties>
</file>